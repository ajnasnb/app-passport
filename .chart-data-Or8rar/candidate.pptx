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eaf02e18ba4a19" /><Relationship Type="http://schemas.openxmlformats.org/officeDocument/2006/relationships/extended-properties" Target="/docProps/app.xml" Id="R8a3aefba1389452c" /><Relationship Type="http://schemas.openxmlformats.org/officeDocument/2006/relationships/officeDocument" Target="/ppt/presentation.xml" Id="Rc8e8adbc4810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d95bf4d8e4899"/>
  </p:sldMasterIdLst>
  <p:notesMasterIdLst>
    <p:notesMasterId xmlns:r="http://schemas.openxmlformats.org/officeDocument/2006/relationships" r:id="Rf6aca427258e4610"/>
  </p:notesMasterIdLst>
  <p:sldIdLst>
    <p:sldId xmlns:r="http://schemas.openxmlformats.org/officeDocument/2006/relationships" id="256" r:id="R214e014f587a4935"/>
    <p:sldId xmlns:r="http://schemas.openxmlformats.org/officeDocument/2006/relationships" id="257" r:id="R40e6e72e0fc44603"/>
    <p:sldId xmlns:r="http://schemas.openxmlformats.org/officeDocument/2006/relationships" id="258" r:id="R68a98a881a134cb8"/>
    <p:sldId xmlns:r="http://schemas.openxmlformats.org/officeDocument/2006/relationships" id="259" r:id="Rb9d68b9b95264917"/>
    <p:sldId xmlns:r="http://schemas.openxmlformats.org/officeDocument/2006/relationships" id="260" r:id="R3e5f01ee05a34115"/>
    <p:sldId xmlns:r="http://schemas.openxmlformats.org/officeDocument/2006/relationships" id="261" r:id="Rcf215db37a184b69"/>
    <p:sldId xmlns:r="http://schemas.openxmlformats.org/officeDocument/2006/relationships" id="262" r:id="R9bf4c64d3b844a47"/>
    <p:sldId xmlns:r="http://schemas.openxmlformats.org/officeDocument/2006/relationships" id="263" r:id="R0746aa87f4b544a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3fc5b4c4042fe" /><Relationship Type="http://schemas.openxmlformats.org/officeDocument/2006/relationships/slideMaster" Target="/ppt/slideMasters/slideMaster1.xml" Id="Rb0ed95bf4d8e4899" /><Relationship Type="http://schemas.openxmlformats.org/officeDocument/2006/relationships/notesMaster" Target="/ppt/notesMasters/notesMaster1.xml" Id="Rf6aca427258e4610" /><Relationship Type="http://schemas.openxmlformats.org/officeDocument/2006/relationships/presProps" Target="/ppt/presProps.xml" Id="Rca5bb67bb35340a7" /><Relationship Type="http://schemas.openxmlformats.org/officeDocument/2006/relationships/tableStyles" Target="/ppt/tableStyles.xml" Id="Rc7c404cc0a5a4534" /><Relationship Type="http://schemas.openxmlformats.org/officeDocument/2006/relationships/slide" Target="/ppt/slides/slide1.xml" Id="R214e014f587a4935" /><Relationship Type="http://schemas.openxmlformats.org/officeDocument/2006/relationships/slide" Target="/ppt/slides/slide2.xml" Id="R40e6e72e0fc44603" /><Relationship Type="http://schemas.openxmlformats.org/officeDocument/2006/relationships/slide" Target="/ppt/slides/slide3.xml" Id="R68a98a881a134cb8" /><Relationship Type="http://schemas.openxmlformats.org/officeDocument/2006/relationships/slide" Target="/ppt/slides/slide4.xml" Id="Rb9d68b9b95264917" /><Relationship Type="http://schemas.openxmlformats.org/officeDocument/2006/relationships/slide" Target="/ppt/slides/slide5.xml" Id="R3e5f01ee05a34115" /><Relationship Type="http://schemas.openxmlformats.org/officeDocument/2006/relationships/slide" Target="/ppt/slides/slide6.xml" Id="Rcf215db37a184b69" /><Relationship Type="http://schemas.openxmlformats.org/officeDocument/2006/relationships/slide" Target="/ppt/slides/slide7.xml" Id="R9bf4c64d3b844a47" /><Relationship Type="http://schemas.openxmlformats.org/officeDocument/2006/relationships/slide" Target="/ppt/slides/slide8.xml" Id="R0746aa87f4b544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0ad3f26d6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8fbe8ef9684d8b" /><Relationship Type="http://schemas.openxmlformats.org/officeDocument/2006/relationships/notesMaster" Target="/ppt/notesMasters/notesMaster1.xml" Id="Ra8ff9ea0926e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8c0b40ff64be8" /><Relationship Type="http://schemas.openxmlformats.org/officeDocument/2006/relationships/notesMaster" Target="/ppt/notesMasters/notesMaster1.xml" Id="R42846cf3039242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589e74d654bd4" /><Relationship Type="http://schemas.openxmlformats.org/officeDocument/2006/relationships/notesMaster" Target="/ppt/notesMasters/notesMaster1.xml" Id="R151dcccdb31649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9bb6e1d874937" /><Relationship Type="http://schemas.openxmlformats.org/officeDocument/2006/relationships/notesMaster" Target="/ppt/notesMasters/notesMaster1.xml" Id="R0d03ce38fb9a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452c7ee3d5426d" /><Relationship Type="http://schemas.openxmlformats.org/officeDocument/2006/relationships/notesMaster" Target="/ppt/notesMasters/notesMaster1.xml" Id="Rdddf20c16c8f4a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a50429bd684305" /><Relationship Type="http://schemas.openxmlformats.org/officeDocument/2006/relationships/notesMaster" Target="/ppt/notesMasters/notesMaster1.xml" Id="R72c1f833c8d44a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733d7eadb44de" /><Relationship Type="http://schemas.openxmlformats.org/officeDocument/2006/relationships/notesMaster" Target="/ppt/notesMasters/notesMaster1.xml" Id="Rc6ece8a28fe6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64e0ebc6824570" /><Relationship Type="http://schemas.openxmlformats.org/officeDocument/2006/relationships/notesMaster" Target="/ppt/notesMasters/notesMaster1.xml" Id="Rb5889a792da3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AI-generated conceptual artwork. This is an illustration, not a photograph or customer evidence. AI Passport combines new MIT graph/admission integration with a disclosed Apache-2.0 Qarinah baseline. Source: https://github.com/AjnasNB/app-passport/blob/main/PREEXISTING.md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conceptual data diagram matching the implemented node and edge contract. Source: https://github.com/AjnasNB/app-passport/blob/main/ARCHITECTURE.md. A signed identity establishes authorship and byte bindings, not truth or universal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multilayer architecture. All inference first checks the current graph, actual public source digests, packet identity and live accepted context/runtime reviews. Deterministic tools run before hosted inference. Model output is validated; generated guards pass six cases. Full architecture: https://passport.ajnasnb.com/architecture.html and https://github.com/AjnasNB/app-passport/blob/main/ARCHITECTURE.md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AI-generated India learning illustration; no users or adoption are claimed. Actual products: India number tutor and UPI Safety Quest at https://passport.ajnasnb.com. Learning summary sources: https://www.npci.org.in/fraud-awareness and https://www.npci.org.in/what-we-do/upi/faqs. Exact arithmetic and game scoring are deterministic; AI explanations can be wrong.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 stores indexed entities, creator metadata and expiry; graph traversal is implemented by the SDK. It is not a native Cypher database. Different consumers can choose accepted reviewers over the same public evidence. A conventional database is sufficient for a single operator; Arkiv matters for independently readable shared authorship and current review/withdrawal state. Docs: https://docs.arkiv.network/json-rpc/querying-data/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public website screenshot from a real coding run. The hosted model generated a constrained guard; six deterministic boundary cases passed. Live evaluation receipt: https://passport.ajnasnb.com/data/ai-evaluation.json. No arbitrary generated JavaScript is executed. Hosted weights are not attested.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chart, units are JSON characters, measured from one actual successful coding run. Full Qarinah packet length and compact selected-memory length are recorded in https://passport.ajnasnb.com/data/ai-evaluation.json. This is a payload size comparison, not an exact token benchmark or proof of improved model accuracy. Values are literal snapshot evidence, not a formula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project-run results. Ten pinned artifacts and ten MCP controlled calls are disclosed in https://passport.ajnasnb.com/data/protocol-evaluation.json. Live AI suite: https://passport.ajnasnb.com/data/ai-evaluation.json. Signed graph counts: https://passport.ajnasnb.com/data/ai-chain-evidence.json. Source and licenses: https://github.com/AjnasNB/app-passport. All wallets are project-controlled demo roles. No universal security, independent reviewer organization, paid adoption, computation proof or perpetual availability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c56f4556048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ec3e99149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2da97177a4a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435ce38f740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f731d87f042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07639d43444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3727D4-F466-453A-883D-6D684F6C2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06647F-5ADC-44EF-80CD-697BDAAF73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EC67D3-2D4A-4612-A5C7-AE0760B1D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1A304-AC48-44F4-B14A-5C0CF2A10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ECB475-FB15-4117-B7DD-844BA14CF9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134086-D321-4266-9575-8E962D343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8AD955-2E4D-4C9C-A5FB-B5AE25545C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F30C76-55B3-4856-AF79-A1379640B2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B18554-D199-4752-A271-75B29B5AE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0B49E4-B3B7-44F7-8E32-1311FD1202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a472a488c4893" /><Relationship Type="http://schemas.openxmlformats.org/officeDocument/2006/relationships/slideLayout" Target="/ppt/slideLayouts/slideLayout1.xml" Id="R1875da4fc6c645cf" /><Relationship Type="http://schemas.openxmlformats.org/officeDocument/2006/relationships/slideLayout" Target="/ppt/slideLayouts/slideLayout2.xml" Id="R0185b936e161426f" /><Relationship Type="http://schemas.openxmlformats.org/officeDocument/2006/relationships/slideLayout" Target="/ppt/slideLayouts/slideLayout3.xml" Id="R3bd1cc9924d64315" /><Relationship Type="http://schemas.openxmlformats.org/officeDocument/2006/relationships/slideLayout" Target="/ppt/slideLayouts/slideLayout4.xml" Id="R6598476e54564052" /><Relationship Type="http://schemas.openxmlformats.org/officeDocument/2006/relationships/slideLayout" Target="/ppt/slideLayouts/slideLayout5.xml" Id="R58d426c79753444b" /><Relationship Type="http://schemas.openxmlformats.org/officeDocument/2006/relationships/slideLayout" Target="/ppt/slideLayouts/slideLayout6.xml" Id="Rf18e031915e649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5da4fc6c645cf"/>
    <p:sldLayoutId xmlns:r="http://schemas.openxmlformats.org/officeDocument/2006/relationships" id="2147483650" r:id="R0185b936e161426f"/>
    <p:sldLayoutId xmlns:r="http://schemas.openxmlformats.org/officeDocument/2006/relationships" id="2147483651" r:id="R3bd1cc9924d64315"/>
    <p:sldLayoutId xmlns:r="http://schemas.openxmlformats.org/officeDocument/2006/relationships" id="2147483652" r:id="R6598476e54564052"/>
    <p:sldLayoutId xmlns:r="http://schemas.openxmlformats.org/officeDocument/2006/relationships" id="2147483653" r:id="R58d426c79753444b"/>
    <p:sldLayoutId xmlns:r="http://schemas.openxmlformats.org/officeDocument/2006/relationships" id="2147483654" r:id="Rf18e031915e649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9905baa6d4e8f" /><Relationship Type="http://schemas.openxmlformats.org/officeDocument/2006/relationships/image" Target="/ppt/media/image.png" Id="R66c6d47e7f114420" /><Relationship Type="http://schemas.openxmlformats.org/officeDocument/2006/relationships/notesSlide" Target="/ppt/notesSlides/notesSlide1.xml" Id="R9229dfdde9264c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4432601914ed5" /><Relationship Type="http://schemas.openxmlformats.org/officeDocument/2006/relationships/image" Target="/ppt/media/image2.png" Id="R6eaeed7c02094362" /><Relationship Type="http://schemas.openxmlformats.org/officeDocument/2006/relationships/notesSlide" Target="/ppt/notesSlides/notesSlide2.xml" Id="R9dc650096684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62ec0865d420a" /><Relationship Type="http://schemas.openxmlformats.org/officeDocument/2006/relationships/image" Target="/ppt/media/image3.png" Id="R0fe00004b9ff4bf7" /><Relationship Type="http://schemas.openxmlformats.org/officeDocument/2006/relationships/notesSlide" Target="/ppt/notesSlides/notesSlide3.xml" Id="R917e89a9ae624f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ace629fd0422c" /><Relationship Type="http://schemas.openxmlformats.org/officeDocument/2006/relationships/image" Target="/ppt/media/image4.png" Id="Rfd1faeeab4004565" /><Relationship Type="http://schemas.openxmlformats.org/officeDocument/2006/relationships/notesSlide" Target="/ppt/notesSlides/notesSlide4.xml" Id="R685a097e3fa0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5e01246e44ab7" /><Relationship Type="http://schemas.openxmlformats.org/officeDocument/2006/relationships/image" Target="/ppt/media/image5.png" Id="R2c9a12dd3e5c48c7" /><Relationship Type="http://schemas.openxmlformats.org/officeDocument/2006/relationships/notesSlide" Target="/ppt/notesSlides/notesSlide5.xml" Id="Rfc14d02523a142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db3d3ecb743ba" /><Relationship Type="http://schemas.openxmlformats.org/officeDocument/2006/relationships/image" Target="/ppt/media/image6.png" Id="R207f6df7d2954656" /><Relationship Type="http://schemas.openxmlformats.org/officeDocument/2006/relationships/image" Target="/ppt/media/image7.png" Id="R2578e15a228a4da5" /><Relationship Type="http://schemas.openxmlformats.org/officeDocument/2006/relationships/notesSlide" Target="/ppt/notesSlides/notesSlide6.xml" Id="Rc6cb382a4f88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2c280d8b247ca" /><Relationship Type="http://schemas.openxmlformats.org/officeDocument/2006/relationships/chart" Target="/ppt/slides/charts/chart1.xml" Id="R346cb3065bcc4252" /><Relationship Type="http://schemas.openxmlformats.org/officeDocument/2006/relationships/image" Target="/ppt/media/image8.png" Id="R73f199d6c35b4306" /><Relationship Type="http://schemas.openxmlformats.org/officeDocument/2006/relationships/notesSlide" Target="/ppt/notesSlides/notesSlide7.xml" Id="Rf609b4d27cf5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5498a4d164935" /><Relationship Type="http://schemas.openxmlformats.org/officeDocument/2006/relationships/image" Target="/ppt/media/image9.png" Id="Ra0727546de3d4dd8" /><Relationship Type="http://schemas.openxmlformats.org/officeDocument/2006/relationships/notesSlide" Target="/ppt/notesSlides/notesSlide8.xml" Id="R4e39d122d4c643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>
                <a:solidFill>
                  <a:srgbClr val="182825"/>
                </a:solidFill>
                <a:latin typeface="Arial"/>
                <a:ea typeface="Arial"/>
                <a:cs typeface="Arial"/>
              </a:rPr>
              <a:t>Memory payload (characters)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>
              <a:solidFill>
                <a:srgbClr val="182825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Characters</c:v>
          </c:tx>
          <c:spPr>
            <a:solidFill xmlns:a="http://schemas.openxmlformats.org/drawingml/2006/main">
              <a:srgbClr val="225B4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Full packet</c:v>
                </c:pt>
                <c:pt idx="1">
                  <c:v>Selected memory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10096</c:v>
                </c:pt>
                <c:pt idx="1">
                  <c:v>1371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18282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A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DD0B3-C141-4D99-9847-8CBEC627EC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6d47e7f11442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7FB30-FFA4-4114-A961-00DBCBC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FFFFFF"/>
                </a:solidFill>
              </a:defRPr>
            </a:pPr>
            <a:r>
              <a:rPr sz="7500" b="1">
                <a:solidFill>
                  <a:srgbClr val="FFFFFF"/>
                </a:solidFill>
              </a:rPr>
              <a:t>AI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F8634-FCF9-444D-8A1B-2AD7AE2F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Run AI.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Trace its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4FFEF-39DF-4CF8-A1D6-46D3445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8175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EEBDF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EEBDF"/>
                </a:solidFill>
              </a:defRPr>
            </a:pPr>
            <a:r>
              <a:rPr sz="2550" b="0">
                <a:solidFill>
                  <a:srgbClr val="DEEBDF"/>
                </a:solidFill>
              </a:rPr>
              <a:t>Qarinah  +  Arkiv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CEF98-075B-43BF-BC68-CDC0CE08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EEBD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EEBDF"/>
                </a:solidFill>
              </a:defRPr>
            </a:pPr>
            <a:r>
              <a:rPr sz="1800" b="0">
                <a:solidFill>
                  <a:srgbClr val="DEEBDF"/>
                </a:solidFill>
              </a:rPr>
              <a:t>AI Passport  ·  Built by Ajnas 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3493A-2FE9-419B-98BC-362D487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EEBD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EEBDF"/>
                </a:solidFill>
              </a:defRPr>
            </a:pPr>
            <a:r>
              <a:rPr sz="1800" b="0">
                <a:solidFill>
                  <a:srgbClr val="DEEBDF"/>
                </a:solidFill>
              </a:rPr>
              <a:t>passport.ajnasnb.com</a:t>
            </a:r>
          </a:p>
        </p:txBody>
      </p:sp>
    </p:spTree>
    <p:extLst>
      <p:ext uri="{BB962C8B-B14F-4D97-AF65-F5344CB8AC3E}">
        <p14:creationId xmlns:p14="http://schemas.microsoft.com/office/powerpoint/2010/main" val="726775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B766-F53B-43F0-B48B-F6CB6E98D22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53625" y="5238750"/>
            <a:ext cx="0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06136-DB3D-43CF-8283-AE26D65A63B0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3571875" y="2619375"/>
            <a:ext cx="9525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302A1-211A-4C3F-B3DF-4B8DEC3E222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096125" y="2905125"/>
            <a:ext cx="595312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243A5-9637-458E-8BD4-80F21DCE758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096125" y="4667250"/>
            <a:ext cx="166687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BA9B4-4DEB-441D-937A-E6A2DACBD82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96125" y="3381375"/>
            <a:ext cx="1666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F6E65-133D-46B5-B576-050448134C04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286125" y="4667250"/>
            <a:ext cx="1238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53517-D3AE-4E07-A192-493337ED4A7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3286125" y="3381375"/>
            <a:ext cx="12382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91BF2-1DC2-4DF9-A9B2-EDE54968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</a:defRPr>
            </a:pPr>
            <a:r>
              <a:rPr sz="5100" b="1">
                <a:solidFill>
                  <a:srgbClr val="182825"/>
                </a:solidFill>
              </a:rPr>
              <a:t>Connected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3C193-50FB-4EF7-B504-EBF0C2B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CEE2-DC2C-4012-9888-61D0259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BDD6A-1012-4DD5-976F-5A2B5323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150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6E9BF-BCF8-4197-A054-0A0F6A5B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68CE0-301D-4E6C-A58B-E62A2C81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381250"/>
            <a:ext cx="3333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Original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51D50-A36B-40B9-8EC2-4F8138CB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Current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B8FAA-5F77-444E-B770-4BB7804C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6200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63814-CBC2-4DC0-A015-FC8F90D8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</a:defRPr>
            </a:pPr>
            <a:r>
              <a:rPr sz="2250" b="0">
                <a:solidFill>
                  <a:srgbClr val="596B66"/>
                </a:solidFill>
              </a:rPr>
              <a:t>Exact bytes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C400A-71C5-4B14-9960-E09B0B5A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</a:defRPr>
            </a:pPr>
            <a:r>
              <a:rPr sz="2250" b="0">
                <a:solidFill>
                  <a:srgbClr val="596B66"/>
                </a:solidFill>
              </a:rPr>
              <a:t>Accepted authors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32E7D-84C2-4C72-8380-1160E3F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962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25B4B"/>
                </a:solidFill>
              </a:defRPr>
            </a:pPr>
            <a:r>
              <a:rPr sz="2850" b="1">
                <a:solidFill>
                  <a:srgbClr val="225B4B"/>
                </a:solidFill>
              </a:rPr>
              <a:t>Traceable inputs, useful 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2B581-A661-48E4-98B0-A50ECA7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F59A4-981F-4144-831A-D315B49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0ECB5-C455-46F6-A2A9-B73FFB1B6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ed7c02094362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8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D9681-DAC3-43E1-8D10-BF75FCF5B83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248150" y="6643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C18EC-1B32-4644-9B92-89EE1363D62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486775" y="6643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F9E6F-D3A8-446E-9AFC-DA93C7B9263A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2725400" y="6643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9EAE4-7ABB-4848-A07D-133C74A4A35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5297150" y="409575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41546-7BA3-4C4F-AD93-55F1D427457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2725400" y="35004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83E3F-6CB3-4A28-B448-307306AD5C9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486775" y="35004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7339-0E21-4E48-B9B7-EC1EBAA7FCA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248150" y="35004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1C749-DAF6-41F6-B0EE-8B91B157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</a:defRPr>
            </a:pPr>
            <a:r>
              <a:rPr sz="5100" b="1">
                <a:solidFill>
                  <a:srgbClr val="182825"/>
                </a:solidFill>
              </a:rPr>
              <a:t>The execution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4362-C446-45FD-95FC-19CF84A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Select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D43D8-AC95-43CC-99EE-54E497D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Read Arkiv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B5689-5C37-4BBC-A0F3-0647004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Verify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90F89-73AC-4162-92F2-8B1D09D6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Admit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76EB3-D312-4F2D-85A3-B962A35E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Run scoped 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8F8F4-85DB-4D2B-A764-BBCB1B51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Select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84646-1A2C-4E7B-B957-39322D84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Run real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592D6-D50A-4879-BEA7-8BFE690C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Validate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7CBB1-DF1A-454B-86E1-F1BFF4B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B66"/>
                </a:solidFill>
              </a:defRPr>
            </a:pPr>
            <a:r>
              <a:rPr sz="2400" b="0">
                <a:solidFill>
                  <a:srgbClr val="596B66"/>
                </a:solidFill>
              </a:rPr>
              <a:t>Public / synthetic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74242-3422-43B4-B9F0-A93BA6B8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533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</a:defRPr>
            </a:pPr>
            <a:r>
              <a:rPr sz="3300" b="1">
                <a:solidFill>
                  <a:srgbClr val="225B4B"/>
                </a:solidFill>
              </a:rPr>
              <a:t>Rejected evidence → no model 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851FB-A1E1-462B-88A7-E73AB15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4A2ED-6B55-421A-83D0-6E4C0FB8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30572-07E5-4FF1-AAB0-47F4CF8FB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00004b9ff4bf7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036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AEB48-24BB-47F3-B308-8F5437E10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faeeab4004565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13CBA-7239-49DD-A1E5-13D2E9F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182825"/>
                </a:solidFill>
              </a:defRPr>
            </a:pPr>
            <a:r>
              <a:rPr sz="6300" b="1">
                <a:solidFill>
                  <a:srgbClr val="182825"/>
                </a:solidFill>
              </a:rPr>
              <a:t>Made useful</a:t>
            </a:r>
          </a:p>
          <a:p xmlns:a="http://schemas.openxmlformats.org/drawingml/2006/main">
            <a:pPr>
              <a:defRPr sz="6300" b="1">
                <a:solidFill>
                  <a:srgbClr val="182825"/>
                </a:solidFill>
              </a:defRPr>
            </a:pPr>
            <a:r>
              <a:rPr sz="6300" b="1">
                <a:solidFill>
                  <a:srgbClr val="182825"/>
                </a:solidFill>
              </a:rPr>
              <a:t>in India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B5340-8FDD-44E4-B88B-66048AD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5B4B"/>
                </a:solidFill>
              </a:defRPr>
            </a:pPr>
            <a:r>
              <a:rPr sz="3150" b="1">
                <a:solidFill>
                  <a:srgbClr val="225B4B"/>
                </a:solidFill>
              </a:rPr>
              <a:t>Lakh &amp; crore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D0463-2111-4C61-906C-1C32A650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5B4B"/>
                </a:solidFill>
              </a:defRPr>
            </a:pPr>
            <a:r>
              <a:rPr sz="3150" b="1">
                <a:solidFill>
                  <a:srgbClr val="225B4B"/>
                </a:solidFill>
              </a:rPr>
              <a:t>UPI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948E0-6459-46FF-B22E-FF4191C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5B4B"/>
                </a:solidFill>
              </a:defRPr>
            </a:pPr>
            <a:r>
              <a:rPr sz="3150" b="1">
                <a:solidFill>
                  <a:srgbClr val="225B4B"/>
                </a:solidFill>
              </a:rPr>
              <a:t>English &amp; Hindi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6470E-28E5-46F0-872E-FAB51CB8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77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</a:defRPr>
            </a:pPr>
            <a:r>
              <a:rPr sz="2250" b="0">
                <a:solidFill>
                  <a:srgbClr val="596B66"/>
                </a:solidFill>
              </a:rPr>
              <a:t>Learning tools · No wallet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8D71F-EEAD-47F2-9A8D-F5C43CA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86419-155E-4478-BD58-3FF37BA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</p:spTree>
    <p:extLst>
      <p:ext uri="{BB962C8B-B14F-4D97-AF65-F5344CB8AC3E}">
        <p14:creationId xmlns:p14="http://schemas.microsoft.com/office/powerpoint/2010/main" val="1896873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70C27-BD89-4BBB-859E-93AB175A7EE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572750" y="4953000"/>
            <a:ext cx="323850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922EA-6C1B-44E6-8018-75DC080F852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572750" y="3190875"/>
            <a:ext cx="32385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2E537-EC42-42DE-A94A-BF310BEC933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905250" y="4953000"/>
            <a:ext cx="257175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99A30-2D99-4F61-BD70-3A7ADEEEBA54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476625"/>
            <a:ext cx="25717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EEBA5-B08C-40C8-8837-BDAD4ED1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</a:defRPr>
            </a:pPr>
            <a:r>
              <a:rPr sz="5100" b="1">
                <a:solidFill>
                  <a:srgbClr val="182825"/>
                </a:solidFill>
              </a:rPr>
              <a:t>Why Arkiv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78D53-B889-4EED-9DB8-0EB8538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Producer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B360E-958F-4D2A-83F5-6C81BC4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38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Reviewer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3B1B7-019F-42F4-95D5-8D66C35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095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Signed evidence</a:t>
            </a:r>
          </a:p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on Arkiv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31DAB-78CB-4D98-982D-AA83AC40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667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9A494-6599-4BF5-A17A-E2A9680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477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SDK / 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4427A-259C-4B1E-984E-08606D03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</a:defRPr>
            </a:pPr>
            <a:r>
              <a:rPr sz="3300" b="1">
                <a:solidFill>
                  <a:srgbClr val="225B4B"/>
                </a:solidFill>
              </a:rPr>
              <a:t>Shared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2B618-BBFC-40EB-BB31-55C51FB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953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</a:defRPr>
            </a:pPr>
            <a:r>
              <a:rPr sz="3300" b="1">
                <a:solidFill>
                  <a:srgbClr val="225B4B"/>
                </a:solidFill>
              </a:rPr>
              <a:t>Accepted authors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93E01-FAA4-474E-A73D-8D957FA0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858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</a:defRPr>
            </a:pPr>
            <a:r>
              <a:rPr sz="3300" b="1">
                <a:solidFill>
                  <a:srgbClr val="225B4B"/>
                </a:solidFill>
              </a:rPr>
              <a:t>Current 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915F9-9250-46D4-A9BC-1B62AAD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FBA87-82C9-4505-AFAB-6E84792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2E0F5-2CBF-4BCA-A767-228CCDEC74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a12dd3e5c48c7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73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02E98-9348-41D6-BA17-78861B94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</a:defRPr>
            </a:pPr>
            <a:r>
              <a:rPr sz="5100" b="1">
                <a:solidFill>
                  <a:srgbClr val="182825"/>
                </a:solidFill>
              </a:rPr>
              <a:t>A working coding handoff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9BE44-DEB9-4793-B11D-16CC109E3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f6df7d2954656"/>
          <a:stretch xmlns:a="http://schemas.openxmlformats.org/drawingml/2006/main"/>
        </p:blipFill>
        <p:spPr>
          <a:xfrm xmlns:a="http://schemas.openxmlformats.org/drawingml/2006/main">
            <a:off x="5712403" y="1952625"/>
            <a:ext cx="6863194" cy="6524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75934-FF35-4B21-AD6B-1F11351C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058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5B4B"/>
                </a:solidFill>
              </a:defRPr>
            </a:pPr>
            <a:r>
              <a:rPr sz="2700" b="1">
                <a:solidFill>
                  <a:srgbClr val="225B4B"/>
                </a:solidFill>
              </a:rPr>
              <a:t>Real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2DD5F-E2C1-44EC-BE83-E19D5A3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058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5B4B"/>
                </a:solidFill>
              </a:defRPr>
            </a:pPr>
            <a:r>
              <a:rPr sz="2700" b="1">
                <a:solidFill>
                  <a:srgbClr val="225B4B"/>
                </a:solidFill>
              </a:rPr>
              <a:t>Six boundary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02C34-33AD-43E7-B6BD-D56BE617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7058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5B4B"/>
                </a:solidFill>
              </a:defRPr>
            </a:pPr>
            <a:r>
              <a:rPr sz="2700" b="1">
                <a:solidFill>
                  <a:srgbClr val="225B4B"/>
                </a:solidFill>
              </a:rPr>
              <a:t>Original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88062-8204-4F69-8B2C-2C338BF2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8F8F8-F077-421A-9024-D4B3A78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AD0D5-1545-42BF-9DFE-C4FAAD1E3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8e15a228a4da5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54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03D9B-4D82-4875-863A-08171D0A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</a:defRPr>
            </a:pPr>
            <a:r>
              <a:rPr sz="5100" b="1">
                <a:solidFill>
                  <a:srgbClr val="182825"/>
                </a:solidFill>
              </a:rPr>
              <a:t>Selected memory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5D54A3DF-10E8-4D34-88CD-AB8A16F4376C}"/>
              </a:ext>
            </a:extLst>
          </p:cNvPr>
          <p:cNvGraphicFramePr/>
          <p:nvPr/>
        </p:nvGraphicFramePr>
        <p:xfrm>
          <a:off xmlns:a="http://schemas.openxmlformats.org/drawingml/2006/main" x="952500" y="2524125"/>
          <a:ext xmlns:a="http://schemas.openxmlformats.org/drawingml/2006/main" cx="10668000" cy="571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6cb3065bcc425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95724-9B81-47DD-8197-47EAC38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0480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</a:defRPr>
            </a:pPr>
            <a:r>
              <a:rPr sz="6750" b="1">
                <a:solidFill>
                  <a:srgbClr val="225B4B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DFDA5-7FAB-4A4B-AA41-FF8F377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171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B66"/>
                </a:solidFill>
              </a:defRPr>
            </a:pPr>
            <a:r>
              <a:rPr sz="2400" b="0">
                <a:solidFill>
                  <a:srgbClr val="596B66"/>
                </a:solidFill>
              </a:rPr>
              <a:t>selected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D2049-757C-4EA0-B94E-94F7849E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286500"/>
            <a:ext cx="4238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</a:defRPr>
            </a:pPr>
            <a:r>
              <a:rPr sz="2250" b="0">
                <a:solidFill>
                  <a:srgbClr val="596B66"/>
                </a:solidFill>
              </a:rPr>
              <a:t>Approximate tokens</a:t>
            </a:r>
          </a:p>
          <a:p xmlns:a="http://schemas.openxmlformats.org/drawingml/2006/main">
            <a:pPr>
              <a:defRPr sz="2250" b="0">
                <a:solidFill>
                  <a:srgbClr val="596B66"/>
                </a:solidFill>
              </a:defRPr>
            </a:pPr>
            <a:r>
              <a:rPr sz="2250" b="0">
                <a:solidFill>
                  <a:srgbClr val="596B66"/>
                </a:solidFill>
              </a:rPr>
              <a:t>are labelled estimates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AF3ED-1FC5-4B9B-97F5-4DDDF740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5C9EB-2FAB-4DD1-AB9D-FC43C224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0529E-869D-4F5B-98DD-1A274A284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199d6c35b4306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45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922F6-17C0-4C88-9915-90E0BE9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</a:defRPr>
            </a:pPr>
            <a:r>
              <a:rPr sz="5100" b="1">
                <a:solidFill>
                  <a:srgbClr val="182825"/>
                </a:solidFill>
              </a:rPr>
              <a:t>Reproduce the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4D437-9D41-4044-945D-9995C0A1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</a:defRPr>
            </a:pPr>
            <a:r>
              <a:rPr sz="6750" b="1">
                <a:solidFill>
                  <a:srgbClr val="225B4B"/>
                </a:solidFill>
              </a:rPr>
              <a:t>10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ACBE-C7FA-46B9-AD98-4BF148EC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</a:defRPr>
            </a:pPr>
            <a:r>
              <a:rPr sz="2550" b="0">
                <a:solidFill>
                  <a:srgbClr val="596B66"/>
                </a:solidFill>
              </a:rPr>
              <a:t>Real tool calls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A4216-3F8C-4672-B3F4-F9D3501B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</a:defRPr>
            </a:pPr>
            <a:r>
              <a:rPr sz="6750" b="1">
                <a:solidFill>
                  <a:srgbClr val="225B4B"/>
                </a:solidFill>
              </a:rPr>
              <a:t>8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2F573-6073-426C-AFCE-116F957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</a:defRPr>
            </a:pPr>
            <a:r>
              <a:rPr sz="2550" b="0">
                <a:solidFill>
                  <a:srgbClr val="596B66"/>
                </a:solidFill>
              </a:rPr>
              <a:t>Live AI &amp; gate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84189-D226-434D-B31E-A218FD9D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</a:defRPr>
            </a:pPr>
            <a:r>
              <a:rPr sz="6750" b="1">
                <a:solidFill>
                  <a:srgbClr val="225B4B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D36B9-96B6-4E60-95EE-3B4FB58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</a:defRPr>
            </a:pPr>
            <a:r>
              <a:rPr sz="2550" b="0">
                <a:solidFill>
                  <a:srgbClr val="596B66"/>
                </a:solidFill>
              </a:rPr>
              <a:t>Graph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0DB4D-13AE-4D67-A35C-A366C9C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</a:defRPr>
            </a:pPr>
            <a:r>
              <a:rPr sz="6750" b="1">
                <a:solidFill>
                  <a:srgbClr val="225B4B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8F9B2-E9CA-43A9-8938-70F3FAB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</a:defRPr>
            </a:pPr>
            <a:r>
              <a:rPr sz="2550" b="0">
                <a:solidFill>
                  <a:srgbClr val="596B66"/>
                </a:solidFill>
              </a:rPr>
              <a:t>Graph 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5E730-A1A1-4062-AEBF-6D04260E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1647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82825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82825"/>
                </a:solidFill>
              </a:defRPr>
            </a:pPr>
            <a:r>
              <a:rPr sz="4350" b="1">
                <a:solidFill>
                  <a:srgbClr val="182825"/>
                </a:solidFill>
              </a:rPr>
              <a:t>Try it. Inspect it. Read it independently.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50CAA-6F6B-403D-B81D-3EECABF8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1571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25B4B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25B4B"/>
                </a:solidFill>
              </a:defRPr>
            </a:pPr>
            <a:r>
              <a:rPr sz="4800" b="1">
                <a:solidFill>
                  <a:srgbClr val="225B4B"/>
                </a:solidFill>
              </a:rPr>
              <a:t>passport.ajnasnb.com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1C4F5-9416-4576-9CA3-1BDCB79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AI Passport  ·  Built by Ajnas 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8070F-EBC5-4A72-A647-1269AD7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</a:defRPr>
            </a:pPr>
            <a:r>
              <a:rPr sz="1800" b="0">
                <a:solidFill>
                  <a:srgbClr val="596B66"/>
                </a:solidFill>
              </a:rPr>
              <a:t>passport.ajnasnb.com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AEA0F-6729-45E8-9DFE-CA31EF2CD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27546de3d4dd8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95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2026-10-13T14:54:07.8040000Z</dcterms:created>
  <dcterms:modified xsi:type="dcterms:W3CDTF">2026-10-13T14:54:07.8040000Z</dcterms:modified>
</coreProperties>
</file>