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47b8f24699c43c9" /><Relationship Type="http://schemas.openxmlformats.org/officeDocument/2006/relationships/extended-properties" Target="/docProps/app.xml" Id="Re892fc4771d1446a" /><Relationship Type="http://schemas.openxmlformats.org/officeDocument/2006/relationships/officeDocument" Target="/ppt/presentation.xml" Id="R89ff5679f8f04aee" /></Relationships>
</file>

<file path=ppt/presentation.xml><?xml version="1.0" encoding="utf-8"?>
<p:presentation xmlns:p="http://schemas.openxmlformats.org/presentationml/2006/main">
  <p:sldMasterIdLst>
    <p:sldMasterId xmlns:r="http://schemas.openxmlformats.org/officeDocument/2006/relationships" id="2147483648" r:id="Rb06fe572573740f5"/>
  </p:sldMasterIdLst>
  <p:notesMasterIdLst>
    <p:notesMasterId xmlns:r="http://schemas.openxmlformats.org/officeDocument/2006/relationships" r:id="R3be6ec15f8b34f4d"/>
  </p:notesMasterIdLst>
  <p:sldIdLst>
    <p:sldId xmlns:r="http://schemas.openxmlformats.org/officeDocument/2006/relationships" id="256" r:id="R2435f9b33cea4b08"/>
    <p:sldId xmlns:r="http://schemas.openxmlformats.org/officeDocument/2006/relationships" id="257" r:id="Rbde3f1f7f1734ba7"/>
    <p:sldId xmlns:r="http://schemas.openxmlformats.org/officeDocument/2006/relationships" id="258" r:id="R89e3e7c9f4c84e36"/>
    <p:sldId xmlns:r="http://schemas.openxmlformats.org/officeDocument/2006/relationships" id="259" r:id="R82ea44c395b84ac8"/>
    <p:sldId xmlns:r="http://schemas.openxmlformats.org/officeDocument/2006/relationships" id="260" r:id="Ra79cd9272b3d43d0"/>
    <p:sldId xmlns:r="http://schemas.openxmlformats.org/officeDocument/2006/relationships" id="261" r:id="Rd0234d57e3de4166"/>
    <p:sldId xmlns:r="http://schemas.openxmlformats.org/officeDocument/2006/relationships" id="262" r:id="R5336b43723234d0e"/>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c36207147314d45" /><Relationship Type="http://schemas.openxmlformats.org/officeDocument/2006/relationships/slideMaster" Target="/ppt/slideMasters/slideMaster1.xml" Id="Rb06fe572573740f5" /><Relationship Type="http://schemas.openxmlformats.org/officeDocument/2006/relationships/notesMaster" Target="/ppt/notesMasters/notesMaster1.xml" Id="R3be6ec15f8b34f4d" /><Relationship Type="http://schemas.openxmlformats.org/officeDocument/2006/relationships/presProps" Target="/ppt/presProps.xml" Id="R81d328392e914f59" /><Relationship Type="http://schemas.openxmlformats.org/officeDocument/2006/relationships/tableStyles" Target="/ppt/tableStyles.xml" Id="Ra64a9ec53220476b" /><Relationship Type="http://schemas.openxmlformats.org/officeDocument/2006/relationships/slide" Target="/ppt/slides/slide1.xml" Id="R2435f9b33cea4b08" /><Relationship Type="http://schemas.openxmlformats.org/officeDocument/2006/relationships/slide" Target="/ppt/slides/slide2.xml" Id="Rbde3f1f7f1734ba7" /><Relationship Type="http://schemas.openxmlformats.org/officeDocument/2006/relationships/slide" Target="/ppt/slides/slide3.xml" Id="R89e3e7c9f4c84e36" /><Relationship Type="http://schemas.openxmlformats.org/officeDocument/2006/relationships/slide" Target="/ppt/slides/slide4.xml" Id="R82ea44c395b84ac8" /><Relationship Type="http://schemas.openxmlformats.org/officeDocument/2006/relationships/slide" Target="/ppt/slides/slide5.xml" Id="Ra79cd9272b3d43d0" /><Relationship Type="http://schemas.openxmlformats.org/officeDocument/2006/relationships/slide" Target="/ppt/slides/slide6.xml" Id="Rd0234d57e3de4166" /><Relationship Type="http://schemas.openxmlformats.org/officeDocument/2006/relationships/slide" Target="/ppt/slides/slide7.xml" Id="R5336b43723234d0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904a142b15b4b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916cb2071fd44c6" /><Relationship Type="http://schemas.openxmlformats.org/officeDocument/2006/relationships/notesMaster" Target="/ppt/notesMasters/notesMaster1.xml" Id="Rb2a728eec75b48e6" /></Relationships>
</file>

<file path=ppt/notesSlides/_rels/notesSlide2.xml.rels>&#65279;<?xml version="1.0" encoding="utf-8"?><Relationships xmlns="http://schemas.openxmlformats.org/package/2006/relationships"><Relationship Type="http://schemas.openxmlformats.org/officeDocument/2006/relationships/slide" Target="/ppt/slides/slide2.xml" Id="R1f09de75ffec4e7d" /><Relationship Type="http://schemas.openxmlformats.org/officeDocument/2006/relationships/notesMaster" Target="/ppt/notesMasters/notesMaster1.xml" Id="Rce122a63479f4641" /></Relationships>
</file>

<file path=ppt/notesSlides/_rels/notesSlide3.xml.rels>&#65279;<?xml version="1.0" encoding="utf-8"?><Relationships xmlns="http://schemas.openxmlformats.org/package/2006/relationships"><Relationship Type="http://schemas.openxmlformats.org/officeDocument/2006/relationships/slide" Target="/ppt/slides/slide3.xml" Id="R3fe520095cfb4b37" /><Relationship Type="http://schemas.openxmlformats.org/officeDocument/2006/relationships/notesMaster" Target="/ppt/notesMasters/notesMaster1.xml" Id="Re618d16552944193" /></Relationships>
</file>

<file path=ppt/notesSlides/_rels/notesSlide4.xml.rels>&#65279;<?xml version="1.0" encoding="utf-8"?><Relationships xmlns="http://schemas.openxmlformats.org/package/2006/relationships"><Relationship Type="http://schemas.openxmlformats.org/officeDocument/2006/relationships/slide" Target="/ppt/slides/slide4.xml" Id="R93a61dbe4bae40dd" /><Relationship Type="http://schemas.openxmlformats.org/officeDocument/2006/relationships/notesMaster" Target="/ppt/notesMasters/notesMaster1.xml" Id="Re483123d2f344746" /></Relationships>
</file>

<file path=ppt/notesSlides/_rels/notesSlide5.xml.rels>&#65279;<?xml version="1.0" encoding="utf-8"?><Relationships xmlns="http://schemas.openxmlformats.org/package/2006/relationships"><Relationship Type="http://schemas.openxmlformats.org/officeDocument/2006/relationships/slide" Target="/ppt/slides/slide5.xml" Id="R5ef5f893e7a44139" /><Relationship Type="http://schemas.openxmlformats.org/officeDocument/2006/relationships/notesMaster" Target="/ppt/notesMasters/notesMaster1.xml" Id="R48456763de444e72" /></Relationships>
</file>

<file path=ppt/notesSlides/_rels/notesSlide6.xml.rels>&#65279;<?xml version="1.0" encoding="utf-8"?><Relationships xmlns="http://schemas.openxmlformats.org/package/2006/relationships"><Relationship Type="http://schemas.openxmlformats.org/officeDocument/2006/relationships/slide" Target="/ppt/slides/slide6.xml" Id="Ra48104c7bc6841c9" /><Relationship Type="http://schemas.openxmlformats.org/officeDocument/2006/relationships/notesMaster" Target="/ppt/notesMasters/notesMaster1.xml" Id="R1b87cae897c84060" /></Relationships>
</file>

<file path=ppt/notesSlides/_rels/notesSlide7.xml.rels>&#65279;<?xml version="1.0" encoding="utf-8"?><Relationships xmlns="http://schemas.openxmlformats.org/package/2006/relationships"><Relationship Type="http://schemas.openxmlformats.org/officeDocument/2006/relationships/slide" Target="/ppt/slides/slide7.xml" Id="Re83b8b598a7f4492" /><Relationship Type="http://schemas.openxmlformats.org/officeDocument/2006/relationships/notesMaster" Target="/ppt/notesMasters/notesMaster1.xml" Id="R61275574cad046f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generated conceptual artwork. Arkiv Graph is an MIT TypeScript graph SDK built on Arkiv entities. AI Passport is the existing working reference app, with Qarinah selection and review admission. Source and boundaries: https://github.com/AjnasNB/arkiv-graph/blob/main/ARKIV_GRAPH.md. This is a project contribution, not an official Arkiv product or adoption announcement.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Illustration of a complete manifest and a missing connected member, not measured deployment topology. A digest identifies content. One signed manifest commits to every node/edge digest in the selected revision. The SDK verifies signatures, accepted issuer/chain creator agreement, unique keys, exact membership and the reconstructed root. Missing members reject the graph. Limits and threat boundaries: https://github.com/AjnasNB/arkiv-graph/blob/main/packages/arkiv-graph/README.md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Editable three-layer architecture. Arkiv Graph generic module: packages/arkiv-graph. Application adapter: packages/sdk/src/graph.ts. It preserves the historical AI Passport namespace/signing domain/root. Generic namespace arkiv-graph-v1 accepts domain-specific node and relation names. Arkiv supplies typed indexes, creator metadata, expiry and transactions; the SDK performs graph assembly and traversal. Arkiv docs: https://docs.arkiv.network/json-rpc/querying-data/. Implementation: https://github.com/AjnasNB/arkiv-graph/blob/main/ARKIV_GRAPH.md. Illustration is conceptual, not actual hardware.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device illustration, not customers. The independently installed package and real stdio MCP consumer read directly through the public Tiramisu RPC without the website backend, API key or wallet. New evaluation: https://arkivgraph.ajnasnb.com/data/graph-infrastructure-evaluation.json. Arkiv indexes and public RPC: https://docs.arkiv.network/json-rpc/querying-data/. Conventional databases work for single-operator apps. Arkiv matters for public attributable records and independently readable interchange. RPC availability and discovery of other revisions remain provider-dependent.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conceptual India learning illustration, not actual customers. Three real reference tasks run on the public website: source-driven coding guard with six deterministic tests, exact paise and Indian number grouping in English/Hindi, and a three-round UPI Safety Quest with optional real AI coach. Runtime model: Cloudflare Meta Llama 3.2 3B. AI Passport checks current evidence before inference. Public/synthetic contexts only. NPCI sources: https://www.npci.org.in/fraud-awareness and https://www.npci.org.in/what-we-do/upi/faqs. Evaluation: https://arkivgraph.ajnasnb.com/data/ai-evaluation.json. All users and devices in the illustration are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conceptual testing sculpture. Actual project-run evidence: 198/198 local unit, API, generic-domain, graph, source-binding, media range and mock-inference orchestration cases in https://arkivgraph.ajnasnb.com/data/security-evaluation.json. Eight actual SDK/MCP cases through the freshly installed tarballs at https://arkivgraph.ajnasnb.com/data/graph-infrastructure-evaluation.json. The generic graph has 7 nodes/8 edges/16 entities; AI reference graph has 27 nodes/43 edges/71 entities. Eight live AI/admission cases were evaluated separately at https://arkivgraph.ajnasnb.com/data/ai-evaluation.json, four allowed actual hosted calls and four blocked. These are demo evidence, not independent audit, customer adoption or a scale benchmark. Both publishers are project-controlled.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reviewed Arkiv Graph0.3.0 release is public on npm: npm install @ajnasnb/arkiv-graph@0.3.0. Exact registry byte integrity: /data/npm-release.json. No external adoption is claimed. Download reader configuration https://arkivgraph.ajnasnb.com/data/arkiv-graph-reader.json and inspect accepted issuer/root before using it. CLI verify, trace and mcp run independently. Setup: https://github.com/AjnasNB/arkiv-graph/blob/main/ARKIV_GRAPH.md. Source: https://github.com/AjnasNB/arkiv-graph. Proposal for Arkiv ecosystem use: a reusable protocol and package that reduces custom graph and manifest code. No official adoption or native Cypher engine is claimed. Bounds: 200 nodes/500 edges/eight pages/depth eight. Explicit pinned revisions, expiring records and reader-chosen policy. Ajnas NB is builder, MIT graph/application code and disclosed Apache-2.0 Qarinah reuse.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2549faf7075425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ea6473d86c24d3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3268753da2d467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e4b6bbf82a0453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75b5e17c461434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ad1e2aedefb45a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8DB17A1-7EF4-41B0-AE3E-8D37F7A27EF0}"/>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37924BE-A7F6-4306-89F1-DAA42C970F28}"/>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951954D-C922-4678-912D-69B140953FFD}"/>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F90BBD6-107D-4B89-BC2E-E7B3CE8C9945}"/>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2C2D8A9-8ABC-4534-97F7-395C279C6784}"/>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92727C2-CDB8-4479-BBE9-3E74D76A79B6}"/>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CE7FEE7-007A-44EA-BB9E-D3FD37CF9001}"/>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EE769D1-BA7D-482A-A1EF-51C6CC737E4C}"/>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A884593-BCB4-4884-8A1F-BB12E85C37AE}"/>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5A1237D-4008-49D1-B8D7-5AE7ECC08E04}"/>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71be4f027a1414b" /><Relationship Type="http://schemas.openxmlformats.org/officeDocument/2006/relationships/slideLayout" Target="/ppt/slideLayouts/slideLayout1.xml" Id="Rf55cd5d09e4441f1" /><Relationship Type="http://schemas.openxmlformats.org/officeDocument/2006/relationships/slideLayout" Target="/ppt/slideLayouts/slideLayout2.xml" Id="R3cc6d7b06d00428e" /><Relationship Type="http://schemas.openxmlformats.org/officeDocument/2006/relationships/slideLayout" Target="/ppt/slideLayouts/slideLayout3.xml" Id="R2f3cc017aaca440f" /><Relationship Type="http://schemas.openxmlformats.org/officeDocument/2006/relationships/slideLayout" Target="/ppt/slideLayouts/slideLayout4.xml" Id="R00c3b434c1974fcb" /><Relationship Type="http://schemas.openxmlformats.org/officeDocument/2006/relationships/slideLayout" Target="/ppt/slideLayouts/slideLayout5.xml" Id="Rda3ce4b283534233" /><Relationship Type="http://schemas.openxmlformats.org/officeDocument/2006/relationships/slideLayout" Target="/ppt/slideLayouts/slideLayout6.xml" Id="Rc4f6f3008ee2477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55cd5d09e4441f1"/>
    <p:sldLayoutId xmlns:r="http://schemas.openxmlformats.org/officeDocument/2006/relationships" id="2147483650" r:id="R3cc6d7b06d00428e"/>
    <p:sldLayoutId xmlns:r="http://schemas.openxmlformats.org/officeDocument/2006/relationships" id="2147483651" r:id="R2f3cc017aaca440f"/>
    <p:sldLayoutId xmlns:r="http://schemas.openxmlformats.org/officeDocument/2006/relationships" id="2147483652" r:id="R00c3b434c1974fcb"/>
    <p:sldLayoutId xmlns:r="http://schemas.openxmlformats.org/officeDocument/2006/relationships" id="2147483653" r:id="Rda3ce4b283534233"/>
    <p:sldLayoutId xmlns:r="http://schemas.openxmlformats.org/officeDocument/2006/relationships" id="2147483654" r:id="Rc4f6f3008ee2477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48dae20430948b9" /><Relationship Type="http://schemas.openxmlformats.org/officeDocument/2006/relationships/image" Target="/ppt/media/image.png" Id="Ra03a9c45323645ce" /><Relationship Type="http://schemas.openxmlformats.org/officeDocument/2006/relationships/notesSlide" Target="/ppt/notesSlides/notesSlide1.xml" Id="R0e764aed151a4ad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1536752247b4c8b" /><Relationship Type="http://schemas.openxmlformats.org/officeDocument/2006/relationships/image" Target="/ppt/media/image2.png" Id="Re3034ea3d36c4596" /><Relationship Type="http://schemas.openxmlformats.org/officeDocument/2006/relationships/notesSlide" Target="/ppt/notesSlides/notesSlide2.xml" Id="Rd665b0a519e944b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9c231e5a51a44aa" /><Relationship Type="http://schemas.openxmlformats.org/officeDocument/2006/relationships/image" Target="/ppt/media/image3.png" Id="R16212917306d4fe0" /><Relationship Type="http://schemas.openxmlformats.org/officeDocument/2006/relationships/notesSlide" Target="/ppt/notesSlides/notesSlide3.xml" Id="R930fc7d00031446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cca1992aac14dd0" /><Relationship Type="http://schemas.openxmlformats.org/officeDocument/2006/relationships/image" Target="/ppt/media/image4.png" Id="R6e0dbb873a9044e0" /><Relationship Type="http://schemas.openxmlformats.org/officeDocument/2006/relationships/notesSlide" Target="/ppt/notesSlides/notesSlide4.xml" Id="R1bbf32d170fe42c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adb5236d32a4e1a" /><Relationship Type="http://schemas.openxmlformats.org/officeDocument/2006/relationships/image" Target="/ppt/media/image5.png" Id="R461262f75b564d4f" /><Relationship Type="http://schemas.openxmlformats.org/officeDocument/2006/relationships/notesSlide" Target="/ppt/notesSlides/notesSlide5.xml" Id="R5f0bfaf07c16438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420ab2fb9344132" /><Relationship Type="http://schemas.openxmlformats.org/officeDocument/2006/relationships/image" Target="/ppt/media/image6.png" Id="Re471d950241442d4" /><Relationship Type="http://schemas.openxmlformats.org/officeDocument/2006/relationships/notesSlide" Target="/ppt/notesSlides/notesSlide6.xml" Id="R235e68c541ec466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6ee80c376364738" /><Relationship Type="http://schemas.openxmlformats.org/officeDocument/2006/relationships/image" Target="/ppt/media/image7.png" Id="R8a61cd7c04d04348" /><Relationship Type="http://schemas.openxmlformats.org/officeDocument/2006/relationships/notesSlide" Target="/ppt/notesSlides/notesSlide7.xml" Id="R5c05758494fd4c1e" /></Relationships>
</file>

<file path=ppt/slides/slide1.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11A06225-2410-4843-90E9-ADACEC639905}"/>
              </a:ext>
            </a:extLst>
          </p:cNvPr>
          <p:cNvPicPr>
            <a:picLocks xmlns:a="http://schemas.openxmlformats.org/drawingml/2006/main" noChangeAspect="1"/>
          </p:cNvPicPr>
          <p:nvPr/>
        </p:nvPicPr>
        <p:blipFill>
          <a:blip xmlns:r="http://schemas.openxmlformats.org/officeDocument/2006/relationships" xmlns:a="http://schemas.openxmlformats.org/drawingml/2006/main" r:embed="Ra03a9c45323645ce"/>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0FCB31B-E258-47AA-ADEB-5EAB5CF7FECB}"/>
              </a:ext>
            </a:extLst>
          </p:cNvPr>
          <p:cNvSpPr>
            <a:spLocks xmlns:a="http://schemas.openxmlformats.org/drawingml/2006/main" noGrp="1"/>
          </p:cNvSpPr>
          <p:nvPr/>
        </p:nvSpPr>
        <p:spPr>
          <a:xfrm xmlns:a="http://schemas.openxmlformats.org/drawingml/2006/main">
            <a:off x="857250" y="1666875"/>
            <a:ext cx="8572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8100" b="1">
                <a:solidFill>
                  <a:srgbClr val="F7F5EE"/>
                </a:solidFill>
                <a:latin typeface="Arial"/>
                <a:ea typeface="Arial"/>
                <a:cs typeface="Arial"/>
              </a:defRPr>
            </a:defPPr>
          </a:lstStyle>
          <a:p xmlns:a="http://schemas.openxmlformats.org/drawingml/2006/main">
            <a:pPr>
              <a:defRPr sz="8100" b="1">
                <a:solidFill>
                  <a:srgbClr val="F7F5EE"/>
                </a:solidFill>
                <a:latin typeface="Arial"/>
                <a:ea typeface="Arial"/>
                <a:cs typeface="Arial"/>
              </a:defRPr>
            </a:pPr>
            <a:r>
              <a:rPr sz="8100" b="1">
                <a:solidFill>
                  <a:srgbClr val="F7F5EE"/>
                </a:solidFill>
                <a:latin typeface="Arial"/>
                <a:ea typeface="Arial"/>
                <a:cs typeface="Arial"/>
              </a:rPr>
              <a:t>Arkiv Graph</a:t>
            </a:r>
          </a:p>
        </p:txBody>
      </p:sp>
      <p:sp>
        <p:nvSpPr>
          <p:cNvPr id="3" name="">
            <a:extLst xmlns:a="http://schemas.openxmlformats.org/drawingml/2006/main">
              <a:ext uri="{FF2B5EF4-FFF2-40B4-BE49-F238E27FC236}">
                <a16:creationId xmlns:a16="http://schemas.microsoft.com/office/drawing/2014/main" id="{5EEE025B-2D00-4F1A-A00F-B4CC5217A91E}"/>
              </a:ext>
            </a:extLst>
          </p:cNvPr>
          <p:cNvSpPr>
            <a:spLocks xmlns:a="http://schemas.openxmlformats.org/drawingml/2006/main" noGrp="1"/>
          </p:cNvSpPr>
          <p:nvPr/>
        </p:nvSpPr>
        <p:spPr>
          <a:xfrm xmlns:a="http://schemas.openxmlformats.org/drawingml/2006/main">
            <a:off x="914400" y="3429000"/>
            <a:ext cx="642937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0">
                <a:solidFill>
                  <a:srgbClr val="F7F5EE"/>
                </a:solidFill>
                <a:latin typeface="Arial"/>
                <a:ea typeface="Arial"/>
                <a:cs typeface="Arial"/>
              </a:defRPr>
            </a:defPPr>
          </a:lstStyle>
          <a:p xmlns:a="http://schemas.openxmlformats.org/drawingml/2006/main">
            <a:pPr>
              <a:defRPr sz="4200" b="0">
                <a:solidFill>
                  <a:srgbClr val="F7F5EE"/>
                </a:solidFill>
                <a:latin typeface="Arial"/>
                <a:ea typeface="Arial"/>
                <a:cs typeface="Arial"/>
              </a:defRPr>
            </a:pPr>
            <a:r>
              <a:rPr sz="4200" b="0">
                <a:solidFill>
                  <a:srgbClr val="F7F5EE"/>
                </a:solidFill>
                <a:latin typeface="Arial"/>
                <a:ea typeface="Arial"/>
                <a:cs typeface="Arial"/>
              </a:rPr>
              <a:t>Connected records</a:t>
            </a:r>
          </a:p>
          <a:p xmlns:a="http://schemas.openxmlformats.org/drawingml/2006/main">
            <a:pPr>
              <a:defRPr sz="4200" b="0">
                <a:solidFill>
                  <a:srgbClr val="F7F5EE"/>
                </a:solidFill>
                <a:latin typeface="Arial"/>
                <a:ea typeface="Arial"/>
                <a:cs typeface="Arial"/>
              </a:defRPr>
            </a:pPr>
            <a:r>
              <a:rPr sz="4200" b="0">
                <a:solidFill>
                  <a:srgbClr val="F7F5EE"/>
                </a:solidFill>
                <a:latin typeface="Arial"/>
                <a:ea typeface="Arial"/>
                <a:cs typeface="Arial"/>
              </a:rPr>
              <a:t>that readers verify</a:t>
            </a:r>
          </a:p>
        </p:txBody>
      </p:sp>
      <p:sp>
        <p:nvSpPr>
          <p:cNvPr id="4" name="">
            <a:extLst xmlns:a="http://schemas.openxmlformats.org/drawingml/2006/main">
              <a:ext uri="{FF2B5EF4-FFF2-40B4-BE49-F238E27FC236}">
                <a16:creationId xmlns:a16="http://schemas.microsoft.com/office/drawing/2014/main" id="{7A0B606A-DDA9-42BE-829E-E69216DB2616}"/>
              </a:ext>
            </a:extLst>
          </p:cNvPr>
          <p:cNvSpPr>
            <a:spLocks xmlns:a="http://schemas.openxmlformats.org/drawingml/2006/main" noGrp="1"/>
          </p:cNvSpPr>
          <p:nvPr/>
        </p:nvSpPr>
        <p:spPr>
          <a:xfrm xmlns:a="http://schemas.openxmlformats.org/drawingml/2006/main">
            <a:off x="914400" y="6172200"/>
            <a:ext cx="5143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DCEADD"/>
                </a:solidFill>
                <a:latin typeface="Arial"/>
                <a:ea typeface="Arial"/>
                <a:cs typeface="Arial"/>
              </a:defRPr>
            </a:defPPr>
          </a:lstStyle>
          <a:p xmlns:a="http://schemas.openxmlformats.org/drawingml/2006/main">
            <a:pPr>
              <a:defRPr sz="2775" b="1">
                <a:solidFill>
                  <a:srgbClr val="DCEADD"/>
                </a:solidFill>
                <a:latin typeface="Arial"/>
                <a:ea typeface="Arial"/>
                <a:cs typeface="Arial"/>
              </a:defRPr>
            </a:pPr>
            <a:r>
              <a:rPr sz="2775" b="1">
                <a:solidFill>
                  <a:srgbClr val="DCEADD"/>
                </a:solidFill>
                <a:latin typeface="Arial"/>
                <a:ea typeface="Arial"/>
                <a:cs typeface="Arial"/>
              </a:rPr>
              <a:t>AI Passport</a:t>
            </a:r>
          </a:p>
        </p:txBody>
      </p:sp>
      <p:sp>
        <p:nvSpPr>
          <p:cNvPr id="5" name="">
            <a:extLst xmlns:a="http://schemas.openxmlformats.org/drawingml/2006/main">
              <a:ext uri="{FF2B5EF4-FFF2-40B4-BE49-F238E27FC236}">
                <a16:creationId xmlns:a16="http://schemas.microsoft.com/office/drawing/2014/main" id="{813E645F-3B04-482E-8F55-22BE0700A125}"/>
              </a:ext>
            </a:extLst>
          </p:cNvPr>
          <p:cNvSpPr>
            <a:spLocks xmlns:a="http://schemas.openxmlformats.org/drawingml/2006/main" noGrp="1"/>
          </p:cNvSpPr>
          <p:nvPr/>
        </p:nvSpPr>
        <p:spPr>
          <a:xfrm xmlns:a="http://schemas.openxmlformats.org/drawingml/2006/main">
            <a:off x="914400" y="6781800"/>
            <a:ext cx="6191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DCEADD"/>
                </a:solidFill>
                <a:latin typeface="Arial"/>
                <a:ea typeface="Arial"/>
                <a:cs typeface="Arial"/>
              </a:defRPr>
            </a:defPPr>
          </a:lstStyle>
          <a:p xmlns:a="http://schemas.openxmlformats.org/drawingml/2006/main">
            <a:pPr>
              <a:defRPr sz="2400" b="0">
                <a:solidFill>
                  <a:srgbClr val="DCEADD"/>
                </a:solidFill>
                <a:latin typeface="Arial"/>
                <a:ea typeface="Arial"/>
                <a:cs typeface="Arial"/>
              </a:defRPr>
            </a:pPr>
            <a:r>
              <a:rPr sz="2400" b="0">
                <a:solidFill>
                  <a:srgbClr val="DCEADD"/>
                </a:solidFill>
                <a:latin typeface="Arial"/>
                <a:ea typeface="Arial"/>
                <a:cs typeface="Arial"/>
              </a:rPr>
              <a:t>The working reference app</a:t>
            </a:r>
          </a:p>
        </p:txBody>
      </p:sp>
      <p:sp>
        <p:nvSpPr>
          <p:cNvPr id="6" name="">
            <a:extLst xmlns:a="http://schemas.openxmlformats.org/drawingml/2006/main">
              <a:ext uri="{FF2B5EF4-FFF2-40B4-BE49-F238E27FC236}">
                <a16:creationId xmlns:a16="http://schemas.microsoft.com/office/drawing/2014/main" id="{0ECE31B5-9204-4189-91DD-51D452EF003E}"/>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7" name="">
            <a:extLst xmlns:a="http://schemas.openxmlformats.org/drawingml/2006/main">
              <a:ext uri="{FF2B5EF4-FFF2-40B4-BE49-F238E27FC236}">
                <a16:creationId xmlns:a16="http://schemas.microsoft.com/office/drawing/2014/main" id="{1041070F-FDFA-406F-B110-F2A41EFAE313}"/>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01</a:t>
            </a:r>
          </a:p>
        </p:txBody>
      </p:sp>
    </p:spTree>
    <p:extLst>
      <p:ext uri="{BB962C8B-B14F-4D97-AF65-F5344CB8AC3E}">
        <p14:creationId xmlns:p14="http://schemas.microsoft.com/office/powerpoint/2010/main" val="1409177322"/>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47760B24-D60A-4F82-87E4-74BB4F85A543}"/>
              </a:ext>
            </a:extLst>
          </p:cNvPr>
          <p:cNvPicPr>
            <a:picLocks xmlns:a="http://schemas.openxmlformats.org/drawingml/2006/main" noChangeAspect="1"/>
          </p:cNvPicPr>
          <p:nvPr/>
        </p:nvPicPr>
        <p:blipFill>
          <a:blip xmlns:r="http://schemas.openxmlformats.org/officeDocument/2006/relationships" xmlns:a="http://schemas.openxmlformats.org/drawingml/2006/main" r:embed="Re3034ea3d36c4596"/>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695D890-1F29-4EB1-8DF4-C40572FE2570}"/>
              </a:ext>
            </a:extLst>
          </p:cNvPr>
          <p:cNvSpPr>
            <a:spLocks xmlns:a="http://schemas.openxmlformats.org/drawingml/2006/main" noGrp="1"/>
          </p:cNvSpPr>
          <p:nvPr/>
        </p:nvSpPr>
        <p:spPr>
          <a:xfrm xmlns:a="http://schemas.openxmlformats.org/drawingml/2006/main">
            <a:off x="857250" y="609600"/>
            <a:ext cx="16478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550" b="1">
                <a:solidFill>
                  <a:srgbClr val="17372E"/>
                </a:solidFill>
                <a:latin typeface="Arial"/>
                <a:ea typeface="Arial"/>
                <a:cs typeface="Arial"/>
              </a:defRPr>
            </a:defPPr>
          </a:lstStyle>
          <a:p xmlns:a="http://schemas.openxmlformats.org/drawingml/2006/main">
            <a:pPr>
              <a:defRPr sz="5550" b="1">
                <a:solidFill>
                  <a:srgbClr val="17372E"/>
                </a:solidFill>
                <a:latin typeface="Arial"/>
                <a:ea typeface="Arial"/>
                <a:cs typeface="Arial"/>
              </a:defRPr>
            </a:pPr>
            <a:r>
              <a:rPr sz="5550" b="1">
                <a:solidFill>
                  <a:srgbClr val="17372E"/>
                </a:solidFill>
                <a:latin typeface="Arial"/>
                <a:ea typeface="Arial"/>
                <a:cs typeface="Arial"/>
              </a:rPr>
              <a:t>A hash identifies one object</a:t>
            </a:r>
          </a:p>
        </p:txBody>
      </p:sp>
      <p:sp>
        <p:nvSpPr>
          <p:cNvPr id="3" name="">
            <a:extLst xmlns:a="http://schemas.openxmlformats.org/drawingml/2006/main">
              <a:ext uri="{FF2B5EF4-FFF2-40B4-BE49-F238E27FC236}">
                <a16:creationId xmlns:a16="http://schemas.microsoft.com/office/drawing/2014/main" id="{0E974B6F-CEBF-48B6-B464-85BD4C976D78}"/>
              </a:ext>
            </a:extLst>
          </p:cNvPr>
          <p:cNvSpPr>
            <a:spLocks xmlns:a="http://schemas.openxmlformats.org/drawingml/2006/main" noGrp="1"/>
          </p:cNvSpPr>
          <p:nvPr/>
        </p:nvSpPr>
        <p:spPr>
          <a:xfrm xmlns:a="http://schemas.openxmlformats.org/drawingml/2006/main">
            <a:off x="904875" y="1743075"/>
            <a:ext cx="1619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25B4B"/>
                </a:solidFill>
                <a:latin typeface="Arial"/>
                <a:ea typeface="Arial"/>
                <a:cs typeface="Arial"/>
              </a:defRPr>
            </a:defPPr>
          </a:lstStyle>
          <a:p xmlns:a="http://schemas.openxmlformats.org/drawingml/2006/main">
            <a:pPr>
              <a:defRPr sz="3375" b="0">
                <a:solidFill>
                  <a:srgbClr val="225B4B"/>
                </a:solidFill>
                <a:latin typeface="Arial"/>
                <a:ea typeface="Arial"/>
                <a:cs typeface="Arial"/>
              </a:defRPr>
            </a:pPr>
            <a:r>
              <a:rPr sz="3375" b="0">
                <a:solidFill>
                  <a:srgbClr val="225B4B"/>
                </a:solidFill>
                <a:latin typeface="Arial"/>
                <a:ea typeface="Arial"/>
                <a:cs typeface="Arial"/>
              </a:rPr>
              <a:t>A signed manifest binds the connected revision</a:t>
            </a:r>
          </a:p>
        </p:txBody>
      </p:sp>
      <p:sp>
        <p:nvSpPr>
          <p:cNvPr id="4" name="">
            <a:extLst xmlns:a="http://schemas.openxmlformats.org/drawingml/2006/main">
              <a:ext uri="{FF2B5EF4-FFF2-40B4-BE49-F238E27FC236}">
                <a16:creationId xmlns:a16="http://schemas.microsoft.com/office/drawing/2014/main" id="{04034D26-78EC-4D3C-A0B0-237F55256BC7}"/>
              </a:ext>
            </a:extLst>
          </p:cNvPr>
          <p:cNvSpPr>
            <a:spLocks xmlns:a="http://schemas.openxmlformats.org/drawingml/2006/main" noGrp="1"/>
          </p:cNvSpPr>
          <p:nvPr/>
        </p:nvSpPr>
        <p:spPr>
          <a:xfrm xmlns:a="http://schemas.openxmlformats.org/drawingml/2006/main">
            <a:off x="904875" y="8734425"/>
            <a:ext cx="1524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225B4B"/>
                </a:solidFill>
                <a:latin typeface="Arial"/>
                <a:ea typeface="Arial"/>
                <a:cs typeface="Arial"/>
              </a:defRPr>
            </a:defPPr>
          </a:lstStyle>
          <a:p xmlns:a="http://schemas.openxmlformats.org/drawingml/2006/main">
            <a:pPr>
              <a:defRPr sz="2850" b="1">
                <a:solidFill>
                  <a:srgbClr val="225B4B"/>
                </a:solidFill>
                <a:latin typeface="Arial"/>
                <a:ea typeface="Arial"/>
                <a:cs typeface="Arial"/>
              </a:defRPr>
            </a:pPr>
            <a:r>
              <a:rPr sz="2850" b="1">
                <a:solidFill>
                  <a:srgbClr val="225B4B"/>
                </a:solidFill>
                <a:latin typeface="Arial"/>
                <a:ea typeface="Arial"/>
                <a:cs typeface="Arial"/>
              </a:rPr>
              <a:t>Missing member? Verification fails.</a:t>
            </a:r>
          </a:p>
        </p:txBody>
      </p:sp>
      <p:sp>
        <p:nvSpPr>
          <p:cNvPr id="5" name="">
            <a:extLst xmlns:a="http://schemas.openxmlformats.org/drawingml/2006/main">
              <a:ext uri="{FF2B5EF4-FFF2-40B4-BE49-F238E27FC236}">
                <a16:creationId xmlns:a16="http://schemas.microsoft.com/office/drawing/2014/main" id="{CA8CE263-8E9A-404D-AD91-6DC11D1311D5}"/>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Built by Ajnas NB</a:t>
            </a:r>
          </a:p>
        </p:txBody>
      </p:sp>
      <p:sp>
        <p:nvSpPr>
          <p:cNvPr id="6" name="">
            <a:extLst xmlns:a="http://schemas.openxmlformats.org/drawingml/2006/main">
              <a:ext uri="{FF2B5EF4-FFF2-40B4-BE49-F238E27FC236}">
                <a16:creationId xmlns:a16="http://schemas.microsoft.com/office/drawing/2014/main" id="{A765E7EA-7C58-4F6C-A750-985313C0DA57}"/>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02</a:t>
            </a:r>
          </a:p>
        </p:txBody>
      </p:sp>
    </p:spTree>
    <p:extLst>
      <p:ext uri="{BB962C8B-B14F-4D97-AF65-F5344CB8AC3E}">
        <p14:creationId xmlns:p14="http://schemas.microsoft.com/office/powerpoint/2010/main" val="267007756"/>
      </p:ext>
    </p:extLst>
  </p:cSld>
</p:sld>
</file>

<file path=ppt/slides/slide3.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18B95CC3-4B1E-4FE0-9E47-642A2ADFC727}"/>
              </a:ext>
            </a:extLst>
          </p:cNvPr>
          <p:cNvPicPr>
            <a:picLocks xmlns:a="http://schemas.openxmlformats.org/drawingml/2006/main" noChangeAspect="1"/>
          </p:cNvPicPr>
          <p:nvPr/>
        </p:nvPicPr>
        <p:blipFill>
          <a:blip xmlns:r="http://schemas.openxmlformats.org/officeDocument/2006/relationships" xmlns:a="http://schemas.openxmlformats.org/drawingml/2006/main" r:embed="R16212917306d4fe0"/>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09FBEBA-E249-4B1F-A02C-A4E501590F49}"/>
              </a:ext>
            </a:extLst>
          </p:cNvPr>
          <p:cNvSpPr>
            <a:spLocks xmlns:a="http://schemas.openxmlformats.org/drawingml/2006/main" noGrp="1"/>
          </p:cNvSpPr>
          <p:nvPr/>
        </p:nvSpPr>
        <p:spPr>
          <a:xfrm xmlns:a="http://schemas.openxmlformats.org/drawingml/2006/main">
            <a:off x="857250" y="609600"/>
            <a:ext cx="72390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7F5EE"/>
                </a:solidFill>
                <a:latin typeface="Arial"/>
                <a:ea typeface="Arial"/>
                <a:cs typeface="Arial"/>
              </a:defRPr>
            </a:defPPr>
          </a:lstStyle>
          <a:p xmlns:a="http://schemas.openxmlformats.org/drawingml/2006/main">
            <a:pPr>
              <a:defRPr sz="4875" b="1">
                <a:solidFill>
                  <a:srgbClr val="F7F5EE"/>
                </a:solidFill>
                <a:latin typeface="Arial"/>
                <a:ea typeface="Arial"/>
                <a:cs typeface="Arial"/>
              </a:defRPr>
            </a:pPr>
            <a:r>
              <a:rPr sz="4875" b="1">
                <a:solidFill>
                  <a:srgbClr val="F7F5EE"/>
                </a:solidFill>
                <a:latin typeface="Arial"/>
                <a:ea typeface="Arial"/>
                <a:cs typeface="Arial"/>
              </a:rPr>
              <a:t>Applications share</a:t>
            </a:r>
          </a:p>
          <a:p xmlns:a="http://schemas.openxmlformats.org/drawingml/2006/main">
            <a:pPr>
              <a:defRPr sz="4875" b="1">
                <a:solidFill>
                  <a:srgbClr val="F7F5EE"/>
                </a:solidFill>
                <a:latin typeface="Arial"/>
                <a:ea typeface="Arial"/>
                <a:cs typeface="Arial"/>
              </a:defRPr>
            </a:pPr>
            <a:r>
              <a:rPr sz="4875" b="1">
                <a:solidFill>
                  <a:srgbClr val="F7F5EE"/>
                </a:solidFill>
                <a:latin typeface="Arial"/>
                <a:ea typeface="Arial"/>
                <a:cs typeface="Arial"/>
              </a:rPr>
              <a:t>one graph layer</a:t>
            </a:r>
          </a:p>
        </p:txBody>
      </p:sp>
      <p:sp>
        <p:nvSpPr>
          <p:cNvPr id="3" name="">
            <a:extLst xmlns:a="http://schemas.openxmlformats.org/drawingml/2006/main">
              <a:ext uri="{FF2B5EF4-FFF2-40B4-BE49-F238E27FC236}">
                <a16:creationId xmlns:a16="http://schemas.microsoft.com/office/drawing/2014/main" id="{9CCA0302-3DC7-4E19-8DDE-52ED77987109}"/>
              </a:ext>
            </a:extLst>
          </p:cNvPr>
          <p:cNvSpPr>
            <a:spLocks xmlns:a="http://schemas.openxmlformats.org/drawingml/2006/main" noGrp="1"/>
          </p:cNvSpPr>
          <p:nvPr/>
        </p:nvSpPr>
        <p:spPr>
          <a:xfrm xmlns:a="http://schemas.openxmlformats.org/drawingml/2006/main">
            <a:off x="904875" y="2762250"/>
            <a:ext cx="5810250" cy="1190625"/>
          </a:xfrm>
          <a:prstGeom xmlns:a="http://schemas.openxmlformats.org/drawingml/2006/main" prst="roundRect">
            <a:avLst>
              <a:gd name="adj" fmla="val 6400"/>
            </a:avLst>
          </a:prstGeom>
          <a:solidFill xmlns:a="http://schemas.openxmlformats.org/drawingml/2006/main">
            <a:srgbClr val="2A6654"/>
          </a:solidFill>
          <a:ln xmlns:a="http://schemas.openxmlformats.org/drawingml/2006/main" w="9525">
            <a:solidFill>
              <a:srgbClr val="2A6654"/>
            </a:solidFill>
          </a:ln>
        </p:spPr>
      </p:sp>
      <p:sp>
        <p:nvSpPr>
          <p:cNvPr id="4" name="">
            <a:extLst xmlns:a="http://schemas.openxmlformats.org/drawingml/2006/main">
              <a:ext uri="{FF2B5EF4-FFF2-40B4-BE49-F238E27FC236}">
                <a16:creationId xmlns:a16="http://schemas.microsoft.com/office/drawing/2014/main" id="{8BB75548-5C8F-43FF-9344-F6A8A5B69DBD}"/>
              </a:ext>
            </a:extLst>
          </p:cNvPr>
          <p:cNvSpPr>
            <a:spLocks xmlns:a="http://schemas.openxmlformats.org/drawingml/2006/main" noGrp="1"/>
          </p:cNvSpPr>
          <p:nvPr/>
        </p:nvSpPr>
        <p:spPr>
          <a:xfrm xmlns:a="http://schemas.openxmlformats.org/drawingml/2006/main">
            <a:off x="1152525" y="2914650"/>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F7F5EE"/>
                </a:solidFill>
                <a:latin typeface="Arial"/>
                <a:ea typeface="Arial"/>
                <a:cs typeface="Arial"/>
              </a:defRPr>
            </a:defPPr>
          </a:lstStyle>
          <a:p xmlns:a="http://schemas.openxmlformats.org/drawingml/2006/main">
            <a:pPr>
              <a:defRPr sz="3000" b="1">
                <a:solidFill>
                  <a:srgbClr val="F7F5EE"/>
                </a:solidFill>
                <a:latin typeface="Arial"/>
                <a:ea typeface="Arial"/>
                <a:cs typeface="Arial"/>
              </a:defRPr>
            </a:pPr>
            <a:r>
              <a:rPr sz="3000" b="1">
                <a:solidFill>
                  <a:srgbClr val="F7F5EE"/>
                </a:solidFill>
                <a:latin typeface="Arial"/>
                <a:ea typeface="Arial"/>
                <a:cs typeface="Arial"/>
              </a:rPr>
              <a:t>AI Passport</a:t>
            </a:r>
          </a:p>
        </p:txBody>
      </p:sp>
      <p:sp>
        <p:nvSpPr>
          <p:cNvPr id="5" name="">
            <a:extLst xmlns:a="http://schemas.openxmlformats.org/drawingml/2006/main">
              <a:ext uri="{FF2B5EF4-FFF2-40B4-BE49-F238E27FC236}">
                <a16:creationId xmlns:a16="http://schemas.microsoft.com/office/drawing/2014/main" id="{7D11CB53-C369-45B0-8B8C-59D930800FCA}"/>
              </a:ext>
            </a:extLst>
          </p:cNvPr>
          <p:cNvSpPr>
            <a:spLocks xmlns:a="http://schemas.openxmlformats.org/drawingml/2006/main" noGrp="1"/>
          </p:cNvSpPr>
          <p:nvPr/>
        </p:nvSpPr>
        <p:spPr>
          <a:xfrm xmlns:a="http://schemas.openxmlformats.org/drawingml/2006/main">
            <a:off x="1152525" y="3476625"/>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CEADD"/>
                </a:solidFill>
                <a:latin typeface="Arial"/>
                <a:ea typeface="Arial"/>
                <a:cs typeface="Arial"/>
              </a:defRPr>
            </a:defPPr>
          </a:lstStyle>
          <a:p xmlns:a="http://schemas.openxmlformats.org/drawingml/2006/main">
            <a:pPr>
              <a:defRPr sz="1950" b="0">
                <a:solidFill>
                  <a:srgbClr val="DCEADD"/>
                </a:solidFill>
                <a:latin typeface="Arial"/>
                <a:ea typeface="Arial"/>
                <a:cs typeface="Arial"/>
              </a:defRPr>
            </a:pPr>
            <a:r>
              <a:rPr sz="1950" b="0">
                <a:solidFill>
                  <a:srgbClr val="DCEADD"/>
                </a:solidFill>
                <a:latin typeface="Arial"/>
                <a:ea typeface="Arial"/>
                <a:cs typeface="Arial"/>
              </a:rPr>
              <a:t>Qarinah context and useful AI</a:t>
            </a:r>
          </a:p>
        </p:txBody>
      </p:sp>
      <p:sp>
        <p:nvSpPr>
          <p:cNvPr id="6" name="">
            <a:extLst xmlns:a="http://schemas.openxmlformats.org/drawingml/2006/main">
              <a:ext uri="{FF2B5EF4-FFF2-40B4-BE49-F238E27FC236}">
                <a16:creationId xmlns:a16="http://schemas.microsoft.com/office/drawing/2014/main" id="{D0F290C5-7AF7-4FD0-AE8E-DDE77B7DD5D7}"/>
              </a:ext>
            </a:extLst>
          </p:cNvPr>
          <p:cNvSpPr>
            <a:spLocks xmlns:a="http://schemas.openxmlformats.org/drawingml/2006/main" noGrp="1"/>
          </p:cNvSpPr>
          <p:nvPr/>
        </p:nvSpPr>
        <p:spPr>
          <a:xfrm xmlns:a="http://schemas.openxmlformats.org/drawingml/2006/main">
            <a:off x="904875" y="4572000"/>
            <a:ext cx="5810250" cy="1190625"/>
          </a:xfrm>
          <a:prstGeom xmlns:a="http://schemas.openxmlformats.org/drawingml/2006/main" prst="roundRect">
            <a:avLst>
              <a:gd name="adj" fmla="val 6400"/>
            </a:avLst>
          </a:prstGeom>
          <a:solidFill xmlns:a="http://schemas.openxmlformats.org/drawingml/2006/main">
            <a:srgbClr val="225644"/>
          </a:solidFill>
          <a:ln xmlns:a="http://schemas.openxmlformats.org/drawingml/2006/main" w="9525">
            <a:solidFill>
              <a:srgbClr val="225644"/>
            </a:solidFill>
          </a:ln>
        </p:spPr>
      </p:sp>
      <p:sp>
        <p:nvSpPr>
          <p:cNvPr id="7" name="">
            <a:extLst xmlns:a="http://schemas.openxmlformats.org/drawingml/2006/main">
              <a:ext uri="{FF2B5EF4-FFF2-40B4-BE49-F238E27FC236}">
                <a16:creationId xmlns:a16="http://schemas.microsoft.com/office/drawing/2014/main" id="{B55BB25B-799B-4FE8-BA65-826A43622F43}"/>
              </a:ext>
            </a:extLst>
          </p:cNvPr>
          <p:cNvSpPr>
            <a:spLocks xmlns:a="http://schemas.openxmlformats.org/drawingml/2006/main" noGrp="1"/>
          </p:cNvSpPr>
          <p:nvPr/>
        </p:nvSpPr>
        <p:spPr>
          <a:xfrm xmlns:a="http://schemas.openxmlformats.org/drawingml/2006/main">
            <a:off x="1152525" y="4724400"/>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F7F5EE"/>
                </a:solidFill>
                <a:latin typeface="Arial"/>
                <a:ea typeface="Arial"/>
                <a:cs typeface="Arial"/>
              </a:defRPr>
            </a:defPPr>
          </a:lstStyle>
          <a:p xmlns:a="http://schemas.openxmlformats.org/drawingml/2006/main">
            <a:pPr>
              <a:defRPr sz="3000" b="1">
                <a:solidFill>
                  <a:srgbClr val="F7F5EE"/>
                </a:solidFill>
                <a:latin typeface="Arial"/>
                <a:ea typeface="Arial"/>
                <a:cs typeface="Arial"/>
              </a:defRPr>
            </a:pPr>
            <a:r>
              <a:rPr sz="3000" b="1">
                <a:solidFill>
                  <a:srgbClr val="F7F5EE"/>
                </a:solidFill>
                <a:latin typeface="Arial"/>
                <a:ea typeface="Arial"/>
                <a:cs typeface="Arial"/>
              </a:rPr>
              <a:t>Arkiv Graph</a:t>
            </a:r>
          </a:p>
        </p:txBody>
      </p:sp>
      <p:sp>
        <p:nvSpPr>
          <p:cNvPr id="8" name="">
            <a:extLst xmlns:a="http://schemas.openxmlformats.org/drawingml/2006/main">
              <a:ext uri="{FF2B5EF4-FFF2-40B4-BE49-F238E27FC236}">
                <a16:creationId xmlns:a16="http://schemas.microsoft.com/office/drawing/2014/main" id="{92DB3C80-F00F-48DE-944C-A69C65E8916C}"/>
              </a:ext>
            </a:extLst>
          </p:cNvPr>
          <p:cNvSpPr>
            <a:spLocks xmlns:a="http://schemas.openxmlformats.org/drawingml/2006/main" noGrp="1"/>
          </p:cNvSpPr>
          <p:nvPr/>
        </p:nvSpPr>
        <p:spPr>
          <a:xfrm xmlns:a="http://schemas.openxmlformats.org/drawingml/2006/main">
            <a:off x="1152525" y="5286375"/>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CEADD"/>
                </a:solidFill>
                <a:latin typeface="Arial"/>
                <a:ea typeface="Arial"/>
                <a:cs typeface="Arial"/>
              </a:defRPr>
            </a:defPPr>
          </a:lstStyle>
          <a:p xmlns:a="http://schemas.openxmlformats.org/drawingml/2006/main">
            <a:pPr>
              <a:defRPr sz="1950" b="0">
                <a:solidFill>
                  <a:srgbClr val="DCEADD"/>
                </a:solidFill>
                <a:latin typeface="Arial"/>
                <a:ea typeface="Arial"/>
                <a:cs typeface="Arial"/>
              </a:defRPr>
            </a:pPr>
            <a:r>
              <a:rPr sz="1950" b="0">
                <a:solidFill>
                  <a:srgbClr val="DCEADD"/>
                </a:solidFill>
                <a:latin typeface="Arial"/>
                <a:ea typeface="Arial"/>
                <a:cs typeface="Arial"/>
              </a:rPr>
              <a:t>Signed manifests and graph readers</a:t>
            </a:r>
          </a:p>
        </p:txBody>
      </p:sp>
      <p:sp>
        <p:nvSpPr>
          <p:cNvPr id="9" name="">
            <a:extLst xmlns:a="http://schemas.openxmlformats.org/drawingml/2006/main">
              <a:ext uri="{FF2B5EF4-FFF2-40B4-BE49-F238E27FC236}">
                <a16:creationId xmlns:a16="http://schemas.microsoft.com/office/drawing/2014/main" id="{2C7A4CC1-76E9-4F23-A0DB-64363156951C}"/>
              </a:ext>
            </a:extLst>
          </p:cNvPr>
          <p:cNvSpPr>
            <a:spLocks xmlns:a="http://schemas.openxmlformats.org/drawingml/2006/main" noGrp="1"/>
          </p:cNvSpPr>
          <p:nvPr/>
        </p:nvSpPr>
        <p:spPr>
          <a:xfrm xmlns:a="http://schemas.openxmlformats.org/drawingml/2006/main">
            <a:off x="904875" y="6381750"/>
            <a:ext cx="5810250" cy="1190625"/>
          </a:xfrm>
          <a:prstGeom xmlns:a="http://schemas.openxmlformats.org/drawingml/2006/main" prst="roundRect">
            <a:avLst>
              <a:gd name="adj" fmla="val 6400"/>
            </a:avLst>
          </a:prstGeom>
          <a:solidFill xmlns:a="http://schemas.openxmlformats.org/drawingml/2006/main">
            <a:srgbClr val="184136"/>
          </a:solidFill>
          <a:ln xmlns:a="http://schemas.openxmlformats.org/drawingml/2006/main" w="9525">
            <a:solidFill>
              <a:srgbClr val="184136"/>
            </a:solidFill>
          </a:ln>
        </p:spPr>
      </p:sp>
      <p:sp>
        <p:nvSpPr>
          <p:cNvPr id="10" name="">
            <a:extLst xmlns:a="http://schemas.openxmlformats.org/drawingml/2006/main">
              <a:ext uri="{FF2B5EF4-FFF2-40B4-BE49-F238E27FC236}">
                <a16:creationId xmlns:a16="http://schemas.microsoft.com/office/drawing/2014/main" id="{C2E85A13-180D-45C4-B427-DFFCEAD11AF7}"/>
              </a:ext>
            </a:extLst>
          </p:cNvPr>
          <p:cNvSpPr>
            <a:spLocks xmlns:a="http://schemas.openxmlformats.org/drawingml/2006/main" noGrp="1"/>
          </p:cNvSpPr>
          <p:nvPr/>
        </p:nvSpPr>
        <p:spPr>
          <a:xfrm xmlns:a="http://schemas.openxmlformats.org/drawingml/2006/main">
            <a:off x="1152525" y="6534150"/>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F7F5EE"/>
                </a:solidFill>
                <a:latin typeface="Arial"/>
                <a:ea typeface="Arial"/>
                <a:cs typeface="Arial"/>
              </a:defRPr>
            </a:defPPr>
          </a:lstStyle>
          <a:p xmlns:a="http://schemas.openxmlformats.org/drawingml/2006/main">
            <a:pPr>
              <a:defRPr sz="3000" b="1">
                <a:solidFill>
                  <a:srgbClr val="F7F5EE"/>
                </a:solidFill>
                <a:latin typeface="Arial"/>
                <a:ea typeface="Arial"/>
                <a:cs typeface="Arial"/>
              </a:defRPr>
            </a:pPr>
            <a:r>
              <a:rPr sz="3000" b="1">
                <a:solidFill>
                  <a:srgbClr val="F7F5EE"/>
                </a:solidFill>
                <a:latin typeface="Arial"/>
                <a:ea typeface="Arial"/>
                <a:cs typeface="Arial"/>
              </a:rPr>
              <a:t>Arkiv</a:t>
            </a:r>
          </a:p>
        </p:txBody>
      </p:sp>
      <p:sp>
        <p:nvSpPr>
          <p:cNvPr id="11" name="">
            <a:extLst xmlns:a="http://schemas.openxmlformats.org/drawingml/2006/main">
              <a:ext uri="{FF2B5EF4-FFF2-40B4-BE49-F238E27FC236}">
                <a16:creationId xmlns:a16="http://schemas.microsoft.com/office/drawing/2014/main" id="{9CF21FF8-26A1-4CFE-B5EA-3B932CEC81C2}"/>
              </a:ext>
            </a:extLst>
          </p:cNvPr>
          <p:cNvSpPr>
            <a:spLocks xmlns:a="http://schemas.openxmlformats.org/drawingml/2006/main" noGrp="1"/>
          </p:cNvSpPr>
          <p:nvPr/>
        </p:nvSpPr>
        <p:spPr>
          <a:xfrm xmlns:a="http://schemas.openxmlformats.org/drawingml/2006/main">
            <a:off x="1152525" y="7096125"/>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CEADD"/>
                </a:solidFill>
                <a:latin typeface="Arial"/>
                <a:ea typeface="Arial"/>
                <a:cs typeface="Arial"/>
              </a:defRPr>
            </a:defPPr>
          </a:lstStyle>
          <a:p xmlns:a="http://schemas.openxmlformats.org/drawingml/2006/main">
            <a:pPr>
              <a:defRPr sz="1950" b="0">
                <a:solidFill>
                  <a:srgbClr val="DCEADD"/>
                </a:solidFill>
                <a:latin typeface="Arial"/>
                <a:ea typeface="Arial"/>
                <a:cs typeface="Arial"/>
              </a:defRPr>
            </a:pPr>
            <a:r>
              <a:rPr sz="1950" b="0">
                <a:solidFill>
                  <a:srgbClr val="DCEADD"/>
                </a:solidFill>
                <a:latin typeface="Arial"/>
                <a:ea typeface="Arial"/>
                <a:cs typeface="Arial"/>
              </a:rPr>
              <a:t>Indexed entities and public RPC</a:t>
            </a:r>
          </a:p>
        </p:txBody>
      </p:sp>
      <p:sp>
        <p:nvSpPr>
          <p:cNvPr id="12" name="">
            <a:extLst xmlns:a="http://schemas.openxmlformats.org/drawingml/2006/main">
              <a:ext uri="{FF2B5EF4-FFF2-40B4-BE49-F238E27FC236}">
                <a16:creationId xmlns:a16="http://schemas.microsoft.com/office/drawing/2014/main" id="{7A5C0D3D-432F-43E7-891D-2CBCEFA0C236}"/>
              </a:ext>
            </a:extLst>
          </p:cNvPr>
          <p:cNvSpPr>
            <a:spLocks xmlns:a="http://schemas.openxmlformats.org/drawingml/2006/main" noGrp="1"/>
          </p:cNvSpPr>
          <p:nvPr/>
        </p:nvSpPr>
        <p:spPr>
          <a:xfrm xmlns:a="http://schemas.openxmlformats.org/drawingml/2006/main">
            <a:off x="3695700" y="4010025"/>
            <a:ext cx="228600" cy="504825"/>
          </a:xfrm>
          <a:prstGeom xmlns:a="http://schemas.openxmlformats.org/drawingml/2006/main" prst="downArrow">
            <a:avLst/>
          </a:prstGeom>
          <a:solidFill xmlns:a="http://schemas.openxmlformats.org/drawingml/2006/main">
            <a:srgbClr val="DAB477"/>
          </a:solidFill>
          <a:ln xmlns:a="http://schemas.openxmlformats.org/drawingml/2006/main" w="0">
            <a:solidFill>
              <a:srgbClr val="DAB477"/>
            </a:solidFill>
          </a:ln>
        </p:spPr>
      </p:sp>
      <p:sp>
        <p:nvSpPr>
          <p:cNvPr id="13" name="">
            <a:extLst xmlns:a="http://schemas.openxmlformats.org/drawingml/2006/main">
              <a:ext uri="{FF2B5EF4-FFF2-40B4-BE49-F238E27FC236}">
                <a16:creationId xmlns:a16="http://schemas.microsoft.com/office/drawing/2014/main" id="{307A856B-8863-4942-AC38-4D2D6FD9F49B}"/>
              </a:ext>
            </a:extLst>
          </p:cNvPr>
          <p:cNvSpPr>
            <a:spLocks xmlns:a="http://schemas.openxmlformats.org/drawingml/2006/main" noGrp="1"/>
          </p:cNvSpPr>
          <p:nvPr/>
        </p:nvSpPr>
        <p:spPr>
          <a:xfrm xmlns:a="http://schemas.openxmlformats.org/drawingml/2006/main">
            <a:off x="3695700" y="5819775"/>
            <a:ext cx="228600" cy="504825"/>
          </a:xfrm>
          <a:prstGeom xmlns:a="http://schemas.openxmlformats.org/drawingml/2006/main" prst="downArrow">
            <a:avLst/>
          </a:prstGeom>
          <a:solidFill xmlns:a="http://schemas.openxmlformats.org/drawingml/2006/main">
            <a:srgbClr val="DAB477"/>
          </a:solidFill>
          <a:ln xmlns:a="http://schemas.openxmlformats.org/drawingml/2006/main" w="0">
            <a:solidFill>
              <a:srgbClr val="DAB477"/>
            </a:solidFill>
          </a:ln>
        </p:spPr>
      </p:sp>
      <p:sp>
        <p:nvSpPr>
          <p:cNvPr id="14" name="">
            <a:extLst xmlns:a="http://schemas.openxmlformats.org/drawingml/2006/main">
              <a:ext uri="{FF2B5EF4-FFF2-40B4-BE49-F238E27FC236}">
                <a16:creationId xmlns:a16="http://schemas.microsoft.com/office/drawing/2014/main" id="{3A179CED-3ED7-48F4-9DCE-981BE9BE523D}"/>
              </a:ext>
            </a:extLst>
          </p:cNvPr>
          <p:cNvSpPr>
            <a:spLocks xmlns:a="http://schemas.openxmlformats.org/drawingml/2006/main" noGrp="1"/>
          </p:cNvSpPr>
          <p:nvPr/>
        </p:nvSpPr>
        <p:spPr>
          <a:xfrm xmlns:a="http://schemas.openxmlformats.org/drawingml/2006/main">
            <a:off x="904875" y="8248650"/>
            <a:ext cx="7810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0">
                <a:solidFill>
                  <a:srgbClr val="DCEADD"/>
                </a:solidFill>
                <a:latin typeface="Arial"/>
                <a:ea typeface="Arial"/>
                <a:cs typeface="Arial"/>
              </a:defRPr>
            </a:defPPr>
          </a:lstStyle>
          <a:p xmlns:a="http://schemas.openxmlformats.org/drawingml/2006/main">
            <a:pPr>
              <a:defRPr sz="2850" b="0">
                <a:solidFill>
                  <a:srgbClr val="DCEADD"/>
                </a:solidFill>
                <a:latin typeface="Arial"/>
                <a:ea typeface="Arial"/>
                <a:cs typeface="Arial"/>
              </a:defRPr>
            </a:pPr>
            <a:r>
              <a:rPr sz="2850" b="0">
                <a:solidFill>
                  <a:srgbClr val="DCEADD"/>
                </a:solidFill>
                <a:latin typeface="Arial"/>
                <a:ea typeface="Arial"/>
                <a:cs typeface="Arial"/>
              </a:rPr>
              <a:t>Reusable SDK infrastructure</a:t>
            </a:r>
          </a:p>
        </p:txBody>
      </p:sp>
      <p:sp>
        <p:nvSpPr>
          <p:cNvPr id="15" name="">
            <a:extLst xmlns:a="http://schemas.openxmlformats.org/drawingml/2006/main">
              <a:ext uri="{FF2B5EF4-FFF2-40B4-BE49-F238E27FC236}">
                <a16:creationId xmlns:a16="http://schemas.microsoft.com/office/drawing/2014/main" id="{99F2FA28-8D99-4535-9BAE-7C62E2B911F6}"/>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16" name="">
            <a:extLst xmlns:a="http://schemas.openxmlformats.org/drawingml/2006/main">
              <a:ext uri="{FF2B5EF4-FFF2-40B4-BE49-F238E27FC236}">
                <a16:creationId xmlns:a16="http://schemas.microsoft.com/office/drawing/2014/main" id="{D5C15DFC-BBC2-46CF-B304-B2D614607BF1}"/>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03</a:t>
            </a:r>
          </a:p>
        </p:txBody>
      </p:sp>
    </p:spTree>
    <p:extLst>
      <p:ext uri="{BB962C8B-B14F-4D97-AF65-F5344CB8AC3E}">
        <p14:creationId xmlns:p14="http://schemas.microsoft.com/office/powerpoint/2010/main" val="2008846166"/>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F151133B-E48E-451D-9D39-6B5D5A49852C}"/>
              </a:ext>
            </a:extLst>
          </p:cNvPr>
          <p:cNvPicPr>
            <a:picLocks xmlns:a="http://schemas.openxmlformats.org/drawingml/2006/main" noChangeAspect="1"/>
          </p:cNvPicPr>
          <p:nvPr/>
        </p:nvPicPr>
        <p:blipFill>
          <a:blip xmlns:r="http://schemas.openxmlformats.org/officeDocument/2006/relationships" xmlns:a="http://schemas.openxmlformats.org/drawingml/2006/main" r:embed="R6e0dbb873a9044e0"/>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37ACEC5-A1F4-4B31-A1B9-2F1B203C4712}"/>
              </a:ext>
            </a:extLst>
          </p:cNvPr>
          <p:cNvSpPr>
            <a:spLocks xmlns:a="http://schemas.openxmlformats.org/drawingml/2006/main" noGrp="1"/>
          </p:cNvSpPr>
          <p:nvPr/>
        </p:nvSpPr>
        <p:spPr>
          <a:xfrm xmlns:a="http://schemas.openxmlformats.org/drawingml/2006/main">
            <a:off x="857250" y="590550"/>
            <a:ext cx="1666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17372E"/>
                </a:solidFill>
                <a:latin typeface="Arial"/>
                <a:ea typeface="Arial"/>
                <a:cs typeface="Arial"/>
              </a:defRPr>
            </a:defPPr>
          </a:lstStyle>
          <a:p xmlns:a="http://schemas.openxmlformats.org/drawingml/2006/main">
            <a:pPr>
              <a:defRPr sz="5400" b="1">
                <a:solidFill>
                  <a:srgbClr val="17372E"/>
                </a:solidFill>
                <a:latin typeface="Arial"/>
                <a:ea typeface="Arial"/>
                <a:cs typeface="Arial"/>
              </a:defRPr>
            </a:pPr>
            <a:r>
              <a:rPr sz="5400" b="1">
                <a:solidFill>
                  <a:srgbClr val="17372E"/>
                </a:solidFill>
                <a:latin typeface="Arial"/>
                <a:ea typeface="Arial"/>
                <a:cs typeface="Arial"/>
              </a:rPr>
              <a:t>One public graph. Independent readers.</a:t>
            </a:r>
          </a:p>
        </p:txBody>
      </p:sp>
      <p:sp>
        <p:nvSpPr>
          <p:cNvPr id="3" name="">
            <a:extLst xmlns:a="http://schemas.openxmlformats.org/drawingml/2006/main">
              <a:ext uri="{FF2B5EF4-FFF2-40B4-BE49-F238E27FC236}">
                <a16:creationId xmlns:a16="http://schemas.microsoft.com/office/drawing/2014/main" id="{6001158B-5161-4B3D-92A1-7283E3C1C10C}"/>
              </a:ext>
            </a:extLst>
          </p:cNvPr>
          <p:cNvSpPr>
            <a:spLocks xmlns:a="http://schemas.openxmlformats.org/drawingml/2006/main" noGrp="1"/>
          </p:cNvSpPr>
          <p:nvPr/>
        </p:nvSpPr>
        <p:spPr>
          <a:xfrm xmlns:a="http://schemas.openxmlformats.org/drawingml/2006/main">
            <a:off x="904875" y="1724025"/>
            <a:ext cx="1619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225B4B"/>
                </a:solidFill>
                <a:latin typeface="Arial"/>
                <a:ea typeface="Arial"/>
                <a:cs typeface="Arial"/>
              </a:defRPr>
            </a:defPPr>
          </a:lstStyle>
          <a:p xmlns:a="http://schemas.openxmlformats.org/drawingml/2006/main">
            <a:pPr>
              <a:defRPr sz="3300" b="0">
                <a:solidFill>
                  <a:srgbClr val="225B4B"/>
                </a:solidFill>
                <a:latin typeface="Arial"/>
                <a:ea typeface="Arial"/>
                <a:cs typeface="Arial"/>
              </a:defRPr>
            </a:pPr>
            <a:r>
              <a:rPr sz="3300" b="0">
                <a:solidFill>
                  <a:srgbClr val="225B4B"/>
                </a:solidFill>
                <a:latin typeface="Arial"/>
                <a:ea typeface="Arial"/>
                <a:cs typeface="Arial"/>
              </a:rPr>
              <a:t>Each reader chooses accepted authors</a:t>
            </a:r>
          </a:p>
        </p:txBody>
      </p:sp>
      <p:sp>
        <p:nvSpPr>
          <p:cNvPr id="4" name="">
            <a:extLst xmlns:a="http://schemas.openxmlformats.org/drawingml/2006/main">
              <a:ext uri="{FF2B5EF4-FFF2-40B4-BE49-F238E27FC236}">
                <a16:creationId xmlns:a16="http://schemas.microsoft.com/office/drawing/2014/main" id="{DE11918F-D342-4F65-940D-FBC721031BB8}"/>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Built by Ajnas NB</a:t>
            </a:r>
          </a:p>
        </p:txBody>
      </p:sp>
      <p:sp>
        <p:nvSpPr>
          <p:cNvPr id="5" name="">
            <a:extLst xmlns:a="http://schemas.openxmlformats.org/drawingml/2006/main">
              <a:ext uri="{FF2B5EF4-FFF2-40B4-BE49-F238E27FC236}">
                <a16:creationId xmlns:a16="http://schemas.microsoft.com/office/drawing/2014/main" id="{F5763995-A464-4BEB-AFAD-131D06B34227}"/>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04</a:t>
            </a:r>
          </a:p>
        </p:txBody>
      </p:sp>
    </p:spTree>
    <p:extLst>
      <p:ext uri="{BB962C8B-B14F-4D97-AF65-F5344CB8AC3E}">
        <p14:creationId xmlns:p14="http://schemas.microsoft.com/office/powerpoint/2010/main" val="1700039225"/>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6D0A7862-7F7D-4C48-AE3D-7B17CEB4BCE5}"/>
              </a:ext>
            </a:extLst>
          </p:cNvPr>
          <p:cNvPicPr>
            <a:picLocks xmlns:a="http://schemas.openxmlformats.org/drawingml/2006/main" noChangeAspect="1"/>
          </p:cNvPicPr>
          <p:nvPr/>
        </p:nvPicPr>
        <p:blipFill>
          <a:blip xmlns:r="http://schemas.openxmlformats.org/officeDocument/2006/relationships" xmlns:a="http://schemas.openxmlformats.org/drawingml/2006/main" r:embed="R461262f75b564d4f"/>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8005AE-6915-464E-9FC7-94272F74F074}"/>
              </a:ext>
            </a:extLst>
          </p:cNvPr>
          <p:cNvSpPr>
            <a:spLocks xmlns:a="http://schemas.openxmlformats.org/drawingml/2006/main" noGrp="1"/>
          </p:cNvSpPr>
          <p:nvPr/>
        </p:nvSpPr>
        <p:spPr>
          <a:xfrm xmlns:a="http://schemas.openxmlformats.org/drawingml/2006/main">
            <a:off x="857250" y="1190625"/>
            <a:ext cx="6667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150" b="1">
                <a:solidFill>
                  <a:srgbClr val="17372E"/>
                </a:solidFill>
                <a:latin typeface="Arial"/>
                <a:ea typeface="Arial"/>
                <a:cs typeface="Arial"/>
              </a:defRPr>
            </a:defPPr>
          </a:lstStyle>
          <a:p xmlns:a="http://schemas.openxmlformats.org/drawingml/2006/main">
            <a:pPr>
              <a:defRPr sz="6150" b="1">
                <a:solidFill>
                  <a:srgbClr val="17372E"/>
                </a:solidFill>
                <a:latin typeface="Arial"/>
                <a:ea typeface="Arial"/>
                <a:cs typeface="Arial"/>
              </a:defRPr>
            </a:pPr>
            <a:r>
              <a:rPr sz="6150" b="1">
                <a:solidFill>
                  <a:srgbClr val="17372E"/>
                </a:solidFill>
                <a:latin typeface="Arial"/>
                <a:ea typeface="Arial"/>
                <a:cs typeface="Arial"/>
              </a:rPr>
              <a:t>AI Passport</a:t>
            </a:r>
          </a:p>
        </p:txBody>
      </p:sp>
      <p:sp>
        <p:nvSpPr>
          <p:cNvPr id="3" name="">
            <a:extLst xmlns:a="http://schemas.openxmlformats.org/drawingml/2006/main">
              <a:ext uri="{FF2B5EF4-FFF2-40B4-BE49-F238E27FC236}">
                <a16:creationId xmlns:a16="http://schemas.microsoft.com/office/drawing/2014/main" id="{0E9D9248-ED82-42A7-90F7-6518815D015E}"/>
              </a:ext>
            </a:extLst>
          </p:cNvPr>
          <p:cNvSpPr>
            <a:spLocks xmlns:a="http://schemas.openxmlformats.org/drawingml/2006/main" noGrp="1"/>
          </p:cNvSpPr>
          <p:nvPr/>
        </p:nvSpPr>
        <p:spPr>
          <a:xfrm xmlns:a="http://schemas.openxmlformats.org/drawingml/2006/main">
            <a:off x="904875" y="2409825"/>
            <a:ext cx="657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0">
                <a:solidFill>
                  <a:srgbClr val="225B4B"/>
                </a:solidFill>
                <a:latin typeface="Arial"/>
                <a:ea typeface="Arial"/>
                <a:cs typeface="Arial"/>
              </a:defRPr>
            </a:defPPr>
          </a:lstStyle>
          <a:p xmlns:a="http://schemas.openxmlformats.org/drawingml/2006/main">
            <a:pPr>
              <a:defRPr sz="3225" b="0">
                <a:solidFill>
                  <a:srgbClr val="225B4B"/>
                </a:solidFill>
                <a:latin typeface="Arial"/>
                <a:ea typeface="Arial"/>
                <a:cs typeface="Arial"/>
              </a:defRPr>
            </a:pPr>
            <a:r>
              <a:rPr sz="3225" b="0">
                <a:solidFill>
                  <a:srgbClr val="225B4B"/>
                </a:solidFill>
                <a:latin typeface="Arial"/>
                <a:ea typeface="Arial"/>
                <a:cs typeface="Arial"/>
              </a:rPr>
              <a:t>The reference app</a:t>
            </a:r>
          </a:p>
        </p:txBody>
      </p:sp>
      <p:sp>
        <p:nvSpPr>
          <p:cNvPr id="4" name="">
            <a:extLst xmlns:a="http://schemas.openxmlformats.org/drawingml/2006/main">
              <a:ext uri="{FF2B5EF4-FFF2-40B4-BE49-F238E27FC236}">
                <a16:creationId xmlns:a16="http://schemas.microsoft.com/office/drawing/2014/main" id="{B97015FB-3146-4257-A7E5-415C2C361B4E}"/>
              </a:ext>
            </a:extLst>
          </p:cNvPr>
          <p:cNvSpPr>
            <a:spLocks xmlns:a="http://schemas.openxmlformats.org/drawingml/2006/main" noGrp="1"/>
          </p:cNvSpPr>
          <p:nvPr/>
        </p:nvSpPr>
        <p:spPr>
          <a:xfrm xmlns:a="http://schemas.openxmlformats.org/drawingml/2006/main">
            <a:off x="904875" y="4067175"/>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372E"/>
                </a:solidFill>
                <a:latin typeface="Arial"/>
                <a:ea typeface="Arial"/>
                <a:cs typeface="Arial"/>
              </a:defRPr>
            </a:defPPr>
          </a:lstStyle>
          <a:p xmlns:a="http://schemas.openxmlformats.org/drawingml/2006/main">
            <a:pPr>
              <a:defRPr sz="2925" b="1">
                <a:solidFill>
                  <a:srgbClr val="17372E"/>
                </a:solidFill>
                <a:latin typeface="Arial"/>
                <a:ea typeface="Arial"/>
                <a:cs typeface="Arial"/>
              </a:defRPr>
            </a:pPr>
            <a:r>
              <a:rPr sz="2925" b="1">
                <a:solidFill>
                  <a:srgbClr val="17372E"/>
                </a:solidFill>
                <a:latin typeface="Arial"/>
                <a:ea typeface="Arial"/>
                <a:cs typeface="Arial"/>
              </a:rPr>
              <a:t>Coding handoffs</a:t>
            </a:r>
          </a:p>
        </p:txBody>
      </p:sp>
      <p:sp>
        <p:nvSpPr>
          <p:cNvPr id="5" name="">
            <a:extLst xmlns:a="http://schemas.openxmlformats.org/drawingml/2006/main">
              <a:ext uri="{FF2B5EF4-FFF2-40B4-BE49-F238E27FC236}">
                <a16:creationId xmlns:a16="http://schemas.microsoft.com/office/drawing/2014/main" id="{78FC64D2-39FC-408B-9224-D6BB62018219}"/>
              </a:ext>
            </a:extLst>
          </p:cNvPr>
          <p:cNvSpPr>
            <a:spLocks xmlns:a="http://schemas.openxmlformats.org/drawingml/2006/main" noGrp="1"/>
          </p:cNvSpPr>
          <p:nvPr/>
        </p:nvSpPr>
        <p:spPr>
          <a:xfrm xmlns:a="http://schemas.openxmlformats.org/drawingml/2006/main">
            <a:off x="904875" y="4991100"/>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372E"/>
                </a:solidFill>
                <a:latin typeface="Arial"/>
                <a:ea typeface="Arial"/>
                <a:cs typeface="Arial"/>
              </a:defRPr>
            </a:defPPr>
          </a:lstStyle>
          <a:p xmlns:a="http://schemas.openxmlformats.org/drawingml/2006/main">
            <a:pPr>
              <a:defRPr sz="2925" b="1">
                <a:solidFill>
                  <a:srgbClr val="17372E"/>
                </a:solidFill>
                <a:latin typeface="Arial"/>
                <a:ea typeface="Arial"/>
                <a:cs typeface="Arial"/>
              </a:defRPr>
            </a:pPr>
            <a:r>
              <a:rPr sz="2925" b="1">
                <a:solidFill>
                  <a:srgbClr val="17372E"/>
                </a:solidFill>
                <a:latin typeface="Arial"/>
                <a:ea typeface="Arial"/>
                <a:cs typeface="Arial"/>
              </a:rPr>
              <a:t>Lakh and crore</a:t>
            </a:r>
          </a:p>
        </p:txBody>
      </p:sp>
      <p:sp>
        <p:nvSpPr>
          <p:cNvPr id="6" name="">
            <a:extLst xmlns:a="http://schemas.openxmlformats.org/drawingml/2006/main">
              <a:ext uri="{FF2B5EF4-FFF2-40B4-BE49-F238E27FC236}">
                <a16:creationId xmlns:a16="http://schemas.microsoft.com/office/drawing/2014/main" id="{50A6527A-32B4-4497-AE3E-AF00EB4E3094}"/>
              </a:ext>
            </a:extLst>
          </p:cNvPr>
          <p:cNvSpPr>
            <a:spLocks xmlns:a="http://schemas.openxmlformats.org/drawingml/2006/main" noGrp="1"/>
          </p:cNvSpPr>
          <p:nvPr/>
        </p:nvSpPr>
        <p:spPr>
          <a:xfrm xmlns:a="http://schemas.openxmlformats.org/drawingml/2006/main">
            <a:off x="904875" y="5915025"/>
            <a:ext cx="590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372E"/>
                </a:solidFill>
                <a:latin typeface="Arial"/>
                <a:ea typeface="Arial"/>
                <a:cs typeface="Arial"/>
              </a:defRPr>
            </a:defPPr>
          </a:lstStyle>
          <a:p xmlns:a="http://schemas.openxmlformats.org/drawingml/2006/main">
            <a:pPr>
              <a:defRPr sz="2925" b="1">
                <a:solidFill>
                  <a:srgbClr val="17372E"/>
                </a:solidFill>
                <a:latin typeface="Arial"/>
                <a:ea typeface="Arial"/>
                <a:cs typeface="Arial"/>
              </a:defRPr>
            </a:pPr>
            <a:r>
              <a:rPr sz="2925" b="1">
                <a:solidFill>
                  <a:srgbClr val="17372E"/>
                </a:solidFill>
                <a:latin typeface="Arial"/>
                <a:ea typeface="Arial"/>
                <a:cs typeface="Arial"/>
              </a:rPr>
              <a:t>UPI safety learning</a:t>
            </a:r>
          </a:p>
        </p:txBody>
      </p:sp>
      <p:sp>
        <p:nvSpPr>
          <p:cNvPr id="7" name="">
            <a:extLst xmlns:a="http://schemas.openxmlformats.org/drawingml/2006/main">
              <a:ext uri="{FF2B5EF4-FFF2-40B4-BE49-F238E27FC236}">
                <a16:creationId xmlns:a16="http://schemas.microsoft.com/office/drawing/2014/main" id="{26C5442B-7A28-4DEE-888C-C8A245C42EFA}"/>
              </a:ext>
            </a:extLst>
          </p:cNvPr>
          <p:cNvSpPr>
            <a:spLocks xmlns:a="http://schemas.openxmlformats.org/drawingml/2006/main" noGrp="1"/>
          </p:cNvSpPr>
          <p:nvPr/>
        </p:nvSpPr>
        <p:spPr>
          <a:xfrm xmlns:a="http://schemas.openxmlformats.org/drawingml/2006/main">
            <a:off x="904875" y="7362825"/>
            <a:ext cx="5238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52645A"/>
                </a:solidFill>
                <a:latin typeface="Arial"/>
                <a:ea typeface="Arial"/>
                <a:cs typeface="Arial"/>
              </a:defRPr>
            </a:defPPr>
          </a:lstStyle>
          <a:p xmlns:a="http://schemas.openxmlformats.org/drawingml/2006/main">
            <a:pPr>
              <a:defRPr sz="2400" b="0">
                <a:solidFill>
                  <a:srgbClr val="52645A"/>
                </a:solidFill>
                <a:latin typeface="Arial"/>
                <a:ea typeface="Arial"/>
                <a:cs typeface="Arial"/>
              </a:defRPr>
            </a:pPr>
            <a:r>
              <a:rPr sz="2400" b="0">
                <a:solidFill>
                  <a:srgbClr val="52645A"/>
                </a:solidFill>
                <a:latin typeface="Arial"/>
                <a:ea typeface="Arial"/>
                <a:cs typeface="Arial"/>
              </a:rPr>
              <a:t>English and Hindi</a:t>
            </a:r>
          </a:p>
          <a:p xmlns:a="http://schemas.openxmlformats.org/drawingml/2006/main">
            <a:pPr>
              <a:defRPr sz="2400" b="0">
                <a:solidFill>
                  <a:srgbClr val="52645A"/>
                </a:solidFill>
                <a:latin typeface="Arial"/>
                <a:ea typeface="Arial"/>
                <a:cs typeface="Arial"/>
              </a:defRPr>
            </a:pPr>
            <a:r>
              <a:rPr sz="2400" b="0">
                <a:solidFill>
                  <a:srgbClr val="52645A"/>
                </a:solidFill>
                <a:latin typeface="Arial"/>
                <a:ea typeface="Arial"/>
                <a:cs typeface="Arial"/>
              </a:rPr>
              <a:t>No wallet for users</a:t>
            </a:r>
          </a:p>
        </p:txBody>
      </p:sp>
      <p:sp>
        <p:nvSpPr>
          <p:cNvPr id="8" name="">
            <a:extLst xmlns:a="http://schemas.openxmlformats.org/drawingml/2006/main">
              <a:ext uri="{FF2B5EF4-FFF2-40B4-BE49-F238E27FC236}">
                <a16:creationId xmlns:a16="http://schemas.microsoft.com/office/drawing/2014/main" id="{21ED9813-5A6D-4518-A5FC-7F03865BF0F9}"/>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Built by Ajnas NB</a:t>
            </a:r>
          </a:p>
        </p:txBody>
      </p:sp>
      <p:sp>
        <p:nvSpPr>
          <p:cNvPr id="9" name="">
            <a:extLst xmlns:a="http://schemas.openxmlformats.org/drawingml/2006/main">
              <a:ext uri="{FF2B5EF4-FFF2-40B4-BE49-F238E27FC236}">
                <a16:creationId xmlns:a16="http://schemas.microsoft.com/office/drawing/2014/main" id="{9894FE39-F01A-4022-BA5B-061C68B6E8C8}"/>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05</a:t>
            </a:r>
          </a:p>
        </p:txBody>
      </p:sp>
    </p:spTree>
    <p:extLst>
      <p:ext uri="{BB962C8B-B14F-4D97-AF65-F5344CB8AC3E}">
        <p14:creationId xmlns:p14="http://schemas.microsoft.com/office/powerpoint/2010/main" val="1179349928"/>
      </p:ext>
    </p:extLst>
  </p:cSld>
</p:sld>
</file>

<file path=ppt/slides/slide6.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5BE2A955-B24D-4DE0-A247-F77B34769A22}"/>
              </a:ext>
            </a:extLst>
          </p:cNvPr>
          <p:cNvPicPr>
            <a:picLocks xmlns:a="http://schemas.openxmlformats.org/drawingml/2006/main" noChangeAspect="1"/>
          </p:cNvPicPr>
          <p:nvPr/>
        </p:nvPicPr>
        <p:blipFill>
          <a:blip xmlns:r="http://schemas.openxmlformats.org/officeDocument/2006/relationships" xmlns:a="http://schemas.openxmlformats.org/drawingml/2006/main" r:embed="Re471d950241442d4"/>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2E0064B-9621-4D02-A8E7-84D39D895C34}"/>
              </a:ext>
            </a:extLst>
          </p:cNvPr>
          <p:cNvSpPr>
            <a:spLocks xmlns:a="http://schemas.openxmlformats.org/drawingml/2006/main" noGrp="1"/>
          </p:cNvSpPr>
          <p:nvPr/>
        </p:nvSpPr>
        <p:spPr>
          <a:xfrm xmlns:a="http://schemas.openxmlformats.org/drawingml/2006/main">
            <a:off x="857250" y="666750"/>
            <a:ext cx="16002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F7F5EE"/>
                </a:solidFill>
                <a:latin typeface="Arial"/>
                <a:ea typeface="Arial"/>
                <a:cs typeface="Arial"/>
              </a:defRPr>
            </a:defPPr>
          </a:lstStyle>
          <a:p xmlns:a="http://schemas.openxmlformats.org/drawingml/2006/main">
            <a:pPr>
              <a:defRPr sz="5700" b="1">
                <a:solidFill>
                  <a:srgbClr val="F7F5EE"/>
                </a:solidFill>
                <a:latin typeface="Arial"/>
                <a:ea typeface="Arial"/>
                <a:cs typeface="Arial"/>
              </a:defRPr>
            </a:pPr>
            <a:r>
              <a:rPr sz="5700" b="1">
                <a:solidFill>
                  <a:srgbClr val="F7F5EE"/>
                </a:solidFill>
                <a:latin typeface="Arial"/>
                <a:ea typeface="Arial"/>
                <a:cs typeface="Arial"/>
              </a:rPr>
              <a:t>Evidence you can reproduce</a:t>
            </a:r>
          </a:p>
        </p:txBody>
      </p:sp>
      <p:sp>
        <p:nvSpPr>
          <p:cNvPr id="3" name="">
            <a:extLst xmlns:a="http://schemas.openxmlformats.org/drawingml/2006/main">
              <a:ext uri="{FF2B5EF4-FFF2-40B4-BE49-F238E27FC236}">
                <a16:creationId xmlns:a16="http://schemas.microsoft.com/office/drawing/2014/main" id="{C9E1E007-28E5-412D-8DA3-FF14BCB03A2F}"/>
              </a:ext>
            </a:extLst>
          </p:cNvPr>
          <p:cNvSpPr>
            <a:spLocks xmlns:a="http://schemas.openxmlformats.org/drawingml/2006/main" noGrp="1"/>
          </p:cNvSpPr>
          <p:nvPr/>
        </p:nvSpPr>
        <p:spPr>
          <a:xfrm xmlns:a="http://schemas.openxmlformats.org/drawingml/2006/main">
            <a:off x="904875" y="2476500"/>
            <a:ext cx="5429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F7F5EE"/>
                </a:solidFill>
                <a:latin typeface="Arial"/>
                <a:ea typeface="Arial"/>
                <a:cs typeface="Arial"/>
              </a:defRPr>
            </a:defPPr>
          </a:lstStyle>
          <a:p xmlns:a="http://schemas.openxmlformats.org/drawingml/2006/main">
            <a:pPr>
              <a:defRPr sz="6225" b="1">
                <a:solidFill>
                  <a:srgbClr val="F7F5EE"/>
                </a:solidFill>
                <a:latin typeface="Arial"/>
                <a:ea typeface="Arial"/>
                <a:cs typeface="Arial"/>
              </a:defRPr>
            </a:pPr>
            <a:r>
              <a:rPr sz="6225" b="1">
                <a:solidFill>
                  <a:srgbClr val="F7F5EE"/>
                </a:solidFill>
                <a:latin typeface="Arial"/>
                <a:ea typeface="Arial"/>
                <a:cs typeface="Arial"/>
              </a:rPr>
              <a:t>198 / 198</a:t>
            </a:r>
          </a:p>
        </p:txBody>
      </p:sp>
      <p:sp>
        <p:nvSpPr>
          <p:cNvPr id="4" name="">
            <a:extLst xmlns:a="http://schemas.openxmlformats.org/drawingml/2006/main">
              <a:ext uri="{FF2B5EF4-FFF2-40B4-BE49-F238E27FC236}">
                <a16:creationId xmlns:a16="http://schemas.microsoft.com/office/drawing/2014/main" id="{46691948-8625-4135-AAA5-D48EF04427BA}"/>
              </a:ext>
            </a:extLst>
          </p:cNvPr>
          <p:cNvSpPr>
            <a:spLocks xmlns:a="http://schemas.openxmlformats.org/drawingml/2006/main" noGrp="1"/>
          </p:cNvSpPr>
          <p:nvPr/>
        </p:nvSpPr>
        <p:spPr>
          <a:xfrm xmlns:a="http://schemas.openxmlformats.org/drawingml/2006/main">
            <a:off x="952500" y="36099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DCEADD"/>
                </a:solidFill>
                <a:latin typeface="Arial"/>
                <a:ea typeface="Arial"/>
                <a:cs typeface="Arial"/>
              </a:defRPr>
            </a:defPPr>
          </a:lstStyle>
          <a:p xmlns:a="http://schemas.openxmlformats.org/drawingml/2006/main">
            <a:pPr>
              <a:defRPr sz="2550" b="0">
                <a:solidFill>
                  <a:srgbClr val="DCEADD"/>
                </a:solidFill>
                <a:latin typeface="Arial"/>
                <a:ea typeface="Arial"/>
                <a:cs typeface="Arial"/>
              </a:defRPr>
            </a:pPr>
            <a:r>
              <a:rPr sz="2550" b="0">
                <a:solidFill>
                  <a:srgbClr val="DCEADD"/>
                </a:solidFill>
                <a:latin typeface="Arial"/>
                <a:ea typeface="Arial"/>
                <a:cs typeface="Arial"/>
              </a:rPr>
              <a:t>Local tests</a:t>
            </a:r>
          </a:p>
        </p:txBody>
      </p:sp>
      <p:sp>
        <p:nvSpPr>
          <p:cNvPr id="5" name="">
            <a:extLst xmlns:a="http://schemas.openxmlformats.org/drawingml/2006/main">
              <a:ext uri="{FF2B5EF4-FFF2-40B4-BE49-F238E27FC236}">
                <a16:creationId xmlns:a16="http://schemas.microsoft.com/office/drawing/2014/main" id="{31EBB1F5-9173-4974-91BB-903159448DE2}"/>
              </a:ext>
            </a:extLst>
          </p:cNvPr>
          <p:cNvSpPr>
            <a:spLocks xmlns:a="http://schemas.openxmlformats.org/drawingml/2006/main" noGrp="1"/>
          </p:cNvSpPr>
          <p:nvPr/>
        </p:nvSpPr>
        <p:spPr>
          <a:xfrm xmlns:a="http://schemas.openxmlformats.org/drawingml/2006/main">
            <a:off x="904875" y="4572000"/>
            <a:ext cx="4953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F7F5EE"/>
                </a:solidFill>
                <a:latin typeface="Arial"/>
                <a:ea typeface="Arial"/>
                <a:cs typeface="Arial"/>
              </a:defRPr>
            </a:defPPr>
          </a:lstStyle>
          <a:p xmlns:a="http://schemas.openxmlformats.org/drawingml/2006/main">
            <a:pPr>
              <a:defRPr sz="6225" b="1">
                <a:solidFill>
                  <a:srgbClr val="F7F5EE"/>
                </a:solidFill>
                <a:latin typeface="Arial"/>
                <a:ea typeface="Arial"/>
                <a:cs typeface="Arial"/>
              </a:defRPr>
            </a:pPr>
            <a:r>
              <a:rPr sz="6225" b="1">
                <a:solidFill>
                  <a:srgbClr val="F7F5EE"/>
                </a:solidFill>
                <a:latin typeface="Arial"/>
                <a:ea typeface="Arial"/>
                <a:cs typeface="Arial"/>
              </a:rPr>
              <a:t>8 / 8</a:t>
            </a:r>
          </a:p>
        </p:txBody>
      </p:sp>
      <p:sp>
        <p:nvSpPr>
          <p:cNvPr id="6" name="">
            <a:extLst xmlns:a="http://schemas.openxmlformats.org/drawingml/2006/main">
              <a:ext uri="{FF2B5EF4-FFF2-40B4-BE49-F238E27FC236}">
                <a16:creationId xmlns:a16="http://schemas.microsoft.com/office/drawing/2014/main" id="{93C06038-C475-459B-A10B-4AE62AF609CE}"/>
              </a:ext>
            </a:extLst>
          </p:cNvPr>
          <p:cNvSpPr>
            <a:spLocks xmlns:a="http://schemas.openxmlformats.org/drawingml/2006/main" noGrp="1"/>
          </p:cNvSpPr>
          <p:nvPr/>
        </p:nvSpPr>
        <p:spPr>
          <a:xfrm xmlns:a="http://schemas.openxmlformats.org/drawingml/2006/main">
            <a:off x="952500" y="5715000"/>
            <a:ext cx="581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DCEADD"/>
                </a:solidFill>
                <a:latin typeface="Arial"/>
                <a:ea typeface="Arial"/>
                <a:cs typeface="Arial"/>
              </a:defRPr>
            </a:defPPr>
          </a:lstStyle>
          <a:p xmlns:a="http://schemas.openxmlformats.org/drawingml/2006/main">
            <a:pPr>
              <a:defRPr sz="2550" b="0">
                <a:solidFill>
                  <a:srgbClr val="DCEADD"/>
                </a:solidFill>
                <a:latin typeface="Arial"/>
                <a:ea typeface="Arial"/>
                <a:cs typeface="Arial"/>
              </a:defRPr>
            </a:pPr>
            <a:r>
              <a:rPr sz="2550" b="0">
                <a:solidFill>
                  <a:srgbClr val="DCEADD"/>
                </a:solidFill>
                <a:latin typeface="Arial"/>
                <a:ea typeface="Arial"/>
                <a:cs typeface="Arial"/>
              </a:rPr>
              <a:t>Actual MCP cases</a:t>
            </a:r>
          </a:p>
        </p:txBody>
      </p:sp>
      <p:sp>
        <p:nvSpPr>
          <p:cNvPr id="7" name="">
            <a:extLst xmlns:a="http://schemas.openxmlformats.org/drawingml/2006/main">
              <a:ext uri="{FF2B5EF4-FFF2-40B4-BE49-F238E27FC236}">
                <a16:creationId xmlns:a16="http://schemas.microsoft.com/office/drawing/2014/main" id="{3614D3B0-B101-4E86-A381-EF4B677A63DD}"/>
              </a:ext>
            </a:extLst>
          </p:cNvPr>
          <p:cNvSpPr>
            <a:spLocks xmlns:a="http://schemas.openxmlformats.org/drawingml/2006/main" noGrp="1"/>
          </p:cNvSpPr>
          <p:nvPr/>
        </p:nvSpPr>
        <p:spPr>
          <a:xfrm xmlns:a="http://schemas.openxmlformats.org/drawingml/2006/main">
            <a:off x="952500" y="7534275"/>
            <a:ext cx="6381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F7F5EE"/>
                </a:solidFill>
                <a:latin typeface="Arial"/>
                <a:ea typeface="Arial"/>
                <a:cs typeface="Arial"/>
              </a:defRPr>
            </a:defPPr>
          </a:lstStyle>
          <a:p xmlns:a="http://schemas.openxmlformats.org/drawingml/2006/main">
            <a:pPr>
              <a:defRPr sz="3375" b="1">
                <a:solidFill>
                  <a:srgbClr val="F7F5EE"/>
                </a:solidFill>
                <a:latin typeface="Arial"/>
                <a:ea typeface="Arial"/>
                <a:cs typeface="Arial"/>
              </a:defRPr>
            </a:pPr>
            <a:r>
              <a:rPr sz="3375" b="1">
                <a:solidFill>
                  <a:srgbClr val="F7F5EE"/>
                </a:solidFill>
                <a:latin typeface="Arial"/>
                <a:ea typeface="Arial"/>
                <a:cs typeface="Arial"/>
              </a:rPr>
              <a:t>3 live transactions</a:t>
            </a:r>
          </a:p>
        </p:txBody>
      </p:sp>
      <p:sp>
        <p:nvSpPr>
          <p:cNvPr id="8" name="">
            <a:extLst xmlns:a="http://schemas.openxmlformats.org/drawingml/2006/main">
              <a:ext uri="{FF2B5EF4-FFF2-40B4-BE49-F238E27FC236}">
                <a16:creationId xmlns:a16="http://schemas.microsoft.com/office/drawing/2014/main" id="{46AAFFBA-B93F-4E2F-8E1F-D64AF523DBCD}"/>
              </a:ext>
            </a:extLst>
          </p:cNvPr>
          <p:cNvSpPr>
            <a:spLocks xmlns:a="http://schemas.openxmlformats.org/drawingml/2006/main" noGrp="1"/>
          </p:cNvSpPr>
          <p:nvPr/>
        </p:nvSpPr>
        <p:spPr>
          <a:xfrm xmlns:a="http://schemas.openxmlformats.org/drawingml/2006/main">
            <a:off x="952500" y="8267700"/>
            <a:ext cx="8286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DCEADD"/>
                </a:solidFill>
                <a:latin typeface="Arial"/>
                <a:ea typeface="Arial"/>
                <a:cs typeface="Arial"/>
              </a:defRPr>
            </a:defPPr>
          </a:lstStyle>
          <a:p xmlns:a="http://schemas.openxmlformats.org/drawingml/2006/main">
            <a:pPr>
              <a:defRPr sz="2175" b="0">
                <a:solidFill>
                  <a:srgbClr val="DCEADD"/>
                </a:solidFill>
                <a:latin typeface="Arial"/>
                <a:ea typeface="Arial"/>
                <a:cs typeface="Arial"/>
              </a:defRPr>
            </a:pPr>
            <a:r>
              <a:rPr sz="2175" b="0">
                <a:solidFill>
                  <a:srgbClr val="DCEADD"/>
                </a:solidFill>
                <a:latin typeface="Arial"/>
                <a:ea typeface="Arial"/>
                <a:cs typeface="Arial"/>
              </a:rPr>
              <a:t>2 readers: admitted, then both refused</a:t>
            </a:r>
          </a:p>
        </p:txBody>
      </p:sp>
      <p:sp>
        <p:nvSpPr>
          <p:cNvPr id="9" name="">
            <a:extLst xmlns:a="http://schemas.openxmlformats.org/drawingml/2006/main">
              <a:ext uri="{FF2B5EF4-FFF2-40B4-BE49-F238E27FC236}">
                <a16:creationId xmlns:a16="http://schemas.microsoft.com/office/drawing/2014/main" id="{9E7AB05D-622D-439D-A88A-AF05A353A904}"/>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10" name="">
            <a:extLst xmlns:a="http://schemas.openxmlformats.org/drawingml/2006/main">
              <a:ext uri="{FF2B5EF4-FFF2-40B4-BE49-F238E27FC236}">
                <a16:creationId xmlns:a16="http://schemas.microsoft.com/office/drawing/2014/main" id="{F3EC75A4-3F31-4165-9231-686B98649809}"/>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06</a:t>
            </a:r>
          </a:p>
        </p:txBody>
      </p:sp>
    </p:spTree>
    <p:extLst>
      <p:ext uri="{BB962C8B-B14F-4D97-AF65-F5344CB8AC3E}">
        <p14:creationId xmlns:p14="http://schemas.microsoft.com/office/powerpoint/2010/main" val="1152808142"/>
      </p:ext>
    </p:extLst>
  </p:cSld>
</p:sld>
</file>

<file path=ppt/slides/slide7.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60F155CD-332D-4C55-A937-8B69FC48E1D1}"/>
              </a:ext>
            </a:extLst>
          </p:cNvPr>
          <p:cNvPicPr>
            <a:picLocks xmlns:a="http://schemas.openxmlformats.org/drawingml/2006/main" noChangeAspect="1"/>
          </p:cNvPicPr>
          <p:nvPr/>
        </p:nvPicPr>
        <p:blipFill>
          <a:blip xmlns:r="http://schemas.openxmlformats.org/officeDocument/2006/relationships" xmlns:a="http://schemas.openxmlformats.org/drawingml/2006/main" r:embed="R8a61cd7c04d04348"/>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EB60DE4-9CCB-4EB1-A7F6-C7A1A8CBF6BD}"/>
              </a:ext>
            </a:extLst>
          </p:cNvPr>
          <p:cNvSpPr>
            <a:spLocks xmlns:a="http://schemas.openxmlformats.org/drawingml/2006/main" noGrp="1"/>
          </p:cNvSpPr>
          <p:nvPr/>
        </p:nvSpPr>
        <p:spPr>
          <a:xfrm xmlns:a="http://schemas.openxmlformats.org/drawingml/2006/main">
            <a:off x="857250" y="695325"/>
            <a:ext cx="7858125"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F7F5EE"/>
                </a:solidFill>
                <a:latin typeface="Arial"/>
                <a:ea typeface="Arial"/>
                <a:cs typeface="Arial"/>
              </a:defRPr>
            </a:defPPr>
          </a:lstStyle>
          <a:p xmlns:a="http://schemas.openxmlformats.org/drawingml/2006/main">
            <a:pPr>
              <a:defRPr sz="5400" b="1">
                <a:solidFill>
                  <a:srgbClr val="F7F5EE"/>
                </a:solidFill>
                <a:latin typeface="Arial"/>
                <a:ea typeface="Arial"/>
                <a:cs typeface="Arial"/>
              </a:defRPr>
            </a:pPr>
            <a:r>
              <a:rPr sz="5400" b="1">
                <a:solidFill>
                  <a:srgbClr val="F7F5EE"/>
                </a:solidFill>
                <a:latin typeface="Arial"/>
                <a:ea typeface="Arial"/>
                <a:cs typeface="Arial"/>
              </a:rPr>
              <a:t>A graph SDK</a:t>
            </a:r>
          </a:p>
          <a:p xmlns:a="http://schemas.openxmlformats.org/drawingml/2006/main">
            <a:pPr>
              <a:defRPr sz="5400" b="1">
                <a:solidFill>
                  <a:srgbClr val="F7F5EE"/>
                </a:solidFill>
                <a:latin typeface="Arial"/>
                <a:ea typeface="Arial"/>
                <a:cs typeface="Arial"/>
              </a:defRPr>
            </a:pPr>
            <a:r>
              <a:rPr sz="5400" b="1">
                <a:solidFill>
                  <a:srgbClr val="F7F5EE"/>
                </a:solidFill>
                <a:latin typeface="Arial"/>
                <a:ea typeface="Arial"/>
                <a:cs typeface="Arial"/>
              </a:rPr>
              <a:t>for Arkiv builders</a:t>
            </a:r>
          </a:p>
        </p:txBody>
      </p:sp>
      <p:sp>
        <p:nvSpPr>
          <p:cNvPr id="3" name="">
            <a:extLst xmlns:a="http://schemas.openxmlformats.org/drawingml/2006/main">
              <a:ext uri="{FF2B5EF4-FFF2-40B4-BE49-F238E27FC236}">
                <a16:creationId xmlns:a16="http://schemas.microsoft.com/office/drawing/2014/main" id="{7636AAE3-369F-44EB-AB61-FC261E0583F3}"/>
              </a:ext>
            </a:extLst>
          </p:cNvPr>
          <p:cNvSpPr>
            <a:spLocks xmlns:a="http://schemas.openxmlformats.org/drawingml/2006/main" noGrp="1"/>
          </p:cNvSpPr>
          <p:nvPr/>
        </p:nvSpPr>
        <p:spPr>
          <a:xfrm xmlns:a="http://schemas.openxmlformats.org/drawingml/2006/main">
            <a:off x="904875" y="3048000"/>
            <a:ext cx="10096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F7F5EE"/>
                </a:solidFill>
                <a:latin typeface="Arial"/>
                <a:ea typeface="Arial"/>
                <a:cs typeface="Arial"/>
              </a:defRPr>
            </a:defPPr>
          </a:lstStyle>
          <a:p xmlns:a="http://schemas.openxmlformats.org/drawingml/2006/main">
            <a:pPr>
              <a:defRPr sz="2325" b="1">
                <a:solidFill>
                  <a:srgbClr val="F7F5EE"/>
                </a:solidFill>
                <a:latin typeface="Arial"/>
                <a:ea typeface="Arial"/>
                <a:cs typeface="Arial"/>
              </a:defRPr>
            </a:pPr>
            <a:r>
              <a:rPr sz="2325" b="1">
                <a:solidFill>
                  <a:srgbClr val="F7F5EE"/>
                </a:solidFill>
                <a:latin typeface="Arial"/>
                <a:ea typeface="Arial"/>
                <a:cs typeface="Arial"/>
              </a:rPr>
              <a:t>npm install @ajnasnb/arkiv-graph@0.3.0</a:t>
            </a:r>
          </a:p>
        </p:txBody>
      </p:sp>
      <p:sp>
        <p:nvSpPr>
          <p:cNvPr id="4" name="">
            <a:extLst xmlns:a="http://schemas.openxmlformats.org/drawingml/2006/main">
              <a:ext uri="{FF2B5EF4-FFF2-40B4-BE49-F238E27FC236}">
                <a16:creationId xmlns:a16="http://schemas.microsoft.com/office/drawing/2014/main" id="{88C03A19-25BC-4DF5-82BF-0D7B9FE0CC3B}"/>
              </a:ext>
            </a:extLst>
          </p:cNvPr>
          <p:cNvSpPr>
            <a:spLocks xmlns:a="http://schemas.openxmlformats.org/drawingml/2006/main" noGrp="1"/>
          </p:cNvSpPr>
          <p:nvPr/>
        </p:nvSpPr>
        <p:spPr>
          <a:xfrm xmlns:a="http://schemas.openxmlformats.org/drawingml/2006/main">
            <a:off x="904875" y="4010025"/>
            <a:ext cx="8429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DCEADD"/>
                </a:solidFill>
                <a:latin typeface="Arial"/>
                <a:ea typeface="Arial"/>
                <a:cs typeface="Arial"/>
              </a:defRPr>
            </a:defPPr>
          </a:lstStyle>
          <a:p xmlns:a="http://schemas.openxmlformats.org/drawingml/2006/main">
            <a:pPr>
              <a:defRPr sz="2700" b="0">
                <a:solidFill>
                  <a:srgbClr val="DCEADD"/>
                </a:solidFill>
                <a:latin typeface="Arial"/>
                <a:ea typeface="Arial"/>
                <a:cs typeface="Arial"/>
              </a:defRPr>
            </a:pPr>
            <a:r>
              <a:rPr sz="2700" b="0">
                <a:solidFill>
                  <a:srgbClr val="DCEADD"/>
                </a:solidFill>
                <a:latin typeface="Arial"/>
                <a:ea typeface="Arial"/>
                <a:cs typeface="Arial"/>
              </a:rPr>
              <a:t>Choose the root and accepted authors</a:t>
            </a:r>
          </a:p>
        </p:txBody>
      </p:sp>
      <p:sp>
        <p:nvSpPr>
          <p:cNvPr id="5" name="">
            <a:extLst xmlns:a="http://schemas.openxmlformats.org/drawingml/2006/main">
              <a:ext uri="{FF2B5EF4-FFF2-40B4-BE49-F238E27FC236}">
                <a16:creationId xmlns:a16="http://schemas.microsoft.com/office/drawing/2014/main" id="{D819C35A-A2A0-4060-88DF-6228E0BC7723}"/>
              </a:ext>
            </a:extLst>
          </p:cNvPr>
          <p:cNvSpPr>
            <a:spLocks xmlns:a="http://schemas.openxmlformats.org/drawingml/2006/main" noGrp="1"/>
          </p:cNvSpPr>
          <p:nvPr/>
        </p:nvSpPr>
        <p:spPr>
          <a:xfrm xmlns:a="http://schemas.openxmlformats.org/drawingml/2006/main">
            <a:off x="904875" y="5381625"/>
            <a:ext cx="1000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F7F5EE"/>
                </a:solidFill>
                <a:latin typeface="Arial"/>
                <a:ea typeface="Arial"/>
                <a:cs typeface="Arial"/>
              </a:defRPr>
            </a:defPPr>
          </a:lstStyle>
          <a:p xmlns:a="http://schemas.openxmlformats.org/drawingml/2006/main">
            <a:pPr>
              <a:defRPr sz="2400" b="0">
                <a:solidFill>
                  <a:srgbClr val="F7F5EE"/>
                </a:solidFill>
                <a:latin typeface="Arial"/>
                <a:ea typeface="Arial"/>
                <a:cs typeface="Arial"/>
              </a:defRPr>
            </a:pPr>
            <a:r>
              <a:rPr sz="2400" b="0">
                <a:solidFill>
                  <a:srgbClr val="F7F5EE"/>
                </a:solidFill>
                <a:latin typeface="Arial"/>
                <a:ea typeface="Arial"/>
                <a:cs typeface="Arial"/>
              </a:rPr>
              <a:t>npx arkiv-graph verify reader.json</a:t>
            </a:r>
          </a:p>
          <a:p xmlns:a="http://schemas.openxmlformats.org/drawingml/2006/main">
            <a:pPr>
              <a:defRPr sz="2400" b="0">
                <a:solidFill>
                  <a:srgbClr val="F7F5EE"/>
                </a:solidFill>
                <a:latin typeface="Arial"/>
                <a:ea typeface="Arial"/>
                <a:cs typeface="Arial"/>
              </a:defRPr>
            </a:pPr>
            <a:r>
              <a:rPr sz="2400" b="0">
                <a:solidFill>
                  <a:srgbClr val="F7F5EE"/>
                </a:solidFill>
                <a:latin typeface="Arial"/>
                <a:ea typeface="Arial"/>
                <a:cs typeface="Arial"/>
              </a:rPr>
              <a:t>npx arkiv-graph mcp reader.json</a:t>
            </a:r>
          </a:p>
        </p:txBody>
      </p:sp>
      <p:sp>
        <p:nvSpPr>
          <p:cNvPr id="6" name="">
            <a:extLst xmlns:a="http://schemas.openxmlformats.org/drawingml/2006/main">
              <a:ext uri="{FF2B5EF4-FFF2-40B4-BE49-F238E27FC236}">
                <a16:creationId xmlns:a16="http://schemas.microsoft.com/office/drawing/2014/main" id="{3C9DEEC1-ADA7-41E6-BF88-00A1C065E89A}"/>
              </a:ext>
            </a:extLst>
          </p:cNvPr>
          <p:cNvSpPr>
            <a:spLocks xmlns:a="http://schemas.openxmlformats.org/drawingml/2006/main" noGrp="1"/>
          </p:cNvSpPr>
          <p:nvPr/>
        </p:nvSpPr>
        <p:spPr>
          <a:xfrm xmlns:a="http://schemas.openxmlformats.org/drawingml/2006/main">
            <a:off x="904875" y="7524750"/>
            <a:ext cx="9715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7F5EE"/>
                </a:solidFill>
                <a:latin typeface="Arial"/>
                <a:ea typeface="Arial"/>
                <a:cs typeface="Arial"/>
              </a:defRPr>
            </a:defPPr>
          </a:lstStyle>
          <a:p xmlns:a="http://schemas.openxmlformats.org/drawingml/2006/main">
            <a:pPr>
              <a:defRPr sz="3900" b="1">
                <a:solidFill>
                  <a:srgbClr val="F7F5EE"/>
                </a:solidFill>
                <a:latin typeface="Arial"/>
                <a:ea typeface="Arial"/>
                <a:cs typeface="Arial"/>
              </a:defRPr>
            </a:pPr>
            <a:r>
              <a:rPr sz="3900" b="1">
                <a:solidFill>
                  <a:srgbClr val="F7F5EE"/>
                </a:solidFill>
                <a:latin typeface="Arial"/>
                <a:ea typeface="Arial"/>
                <a:cs typeface="Arial"/>
              </a:rPr>
              <a:t>arkivgraph.ajnasnb.com</a:t>
            </a:r>
          </a:p>
        </p:txBody>
      </p:sp>
      <p:sp>
        <p:nvSpPr>
          <p:cNvPr id="7" name="">
            <a:extLst xmlns:a="http://schemas.openxmlformats.org/drawingml/2006/main">
              <a:ext uri="{FF2B5EF4-FFF2-40B4-BE49-F238E27FC236}">
                <a16:creationId xmlns:a16="http://schemas.microsoft.com/office/drawing/2014/main" id="{89640C1A-C221-41FF-8244-A9FBEF6FDCF7}"/>
              </a:ext>
            </a:extLst>
          </p:cNvPr>
          <p:cNvSpPr>
            <a:spLocks xmlns:a="http://schemas.openxmlformats.org/drawingml/2006/main" noGrp="1"/>
          </p:cNvSpPr>
          <p:nvPr/>
        </p:nvSpPr>
        <p:spPr>
          <a:xfrm xmlns:a="http://schemas.openxmlformats.org/drawingml/2006/main">
            <a:off x="904875" y="85058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DCEADD"/>
                </a:solidFill>
                <a:latin typeface="Arial"/>
                <a:ea typeface="Arial"/>
                <a:cs typeface="Arial"/>
              </a:defRPr>
            </a:defPPr>
          </a:lstStyle>
          <a:p xmlns:a="http://schemas.openxmlformats.org/drawingml/2006/main">
            <a:pPr>
              <a:defRPr sz="2175" b="0">
                <a:solidFill>
                  <a:srgbClr val="DCEADD"/>
                </a:solidFill>
                <a:latin typeface="Arial"/>
                <a:ea typeface="Arial"/>
                <a:cs typeface="Arial"/>
              </a:defRPr>
            </a:pPr>
            <a:r>
              <a:rPr sz="2175" b="0">
                <a:solidFill>
                  <a:srgbClr val="DCEADD"/>
                </a:solidFill>
                <a:latin typeface="Arial"/>
                <a:ea typeface="Arial"/>
                <a:cs typeface="Arial"/>
              </a:rPr>
              <a:t>Open source SDK + working AI reference app</a:t>
            </a:r>
          </a:p>
        </p:txBody>
      </p:sp>
      <p:sp>
        <p:nvSpPr>
          <p:cNvPr id="8" name="">
            <a:extLst xmlns:a="http://schemas.openxmlformats.org/drawingml/2006/main">
              <a:ext uri="{FF2B5EF4-FFF2-40B4-BE49-F238E27FC236}">
                <a16:creationId xmlns:a16="http://schemas.microsoft.com/office/drawing/2014/main" id="{3AFD70BB-1A09-4956-B3AD-136C7F0DF5F8}"/>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9" name="">
            <a:extLst xmlns:a="http://schemas.openxmlformats.org/drawingml/2006/main">
              <a:ext uri="{FF2B5EF4-FFF2-40B4-BE49-F238E27FC236}">
                <a16:creationId xmlns:a16="http://schemas.microsoft.com/office/drawing/2014/main" id="{21D9C7BE-DF18-4A9B-AB5D-97FA990DB753}"/>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07</a:t>
            </a:r>
          </a:p>
        </p:txBody>
      </p:sp>
    </p:spTree>
    <p:extLst>
      <p:ext uri="{BB962C8B-B14F-4D97-AF65-F5344CB8AC3E}">
        <p14:creationId xmlns:p14="http://schemas.microsoft.com/office/powerpoint/2010/main" val="12104359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2026-10-15T09:58:54.5910000Z</dcterms:created>
  <dcterms:modified xsi:type="dcterms:W3CDTF">2026-10-15T09:58:54.5910000Z</dcterms:modified>
</coreProperties>
</file>