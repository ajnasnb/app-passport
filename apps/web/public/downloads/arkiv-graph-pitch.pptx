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ded49851c2a4365" /><Relationship Type="http://schemas.openxmlformats.org/officeDocument/2006/relationships/extended-properties" Target="/docProps/app.xml" Id="R6b57b4c0e10a4cff" /><Relationship Type="http://schemas.openxmlformats.org/officeDocument/2006/relationships/officeDocument" Target="/ppt/presentation.xml" Id="R91a7c03bed214712" /></Relationships>
</file>

<file path=ppt/presentation.xml><?xml version="1.0" encoding="utf-8"?>
<p:presentation xmlns:p="http://schemas.openxmlformats.org/presentationml/2006/main">
  <p:sldMasterIdLst>
    <p:sldMasterId xmlns:r="http://schemas.openxmlformats.org/officeDocument/2006/relationships" id="2147483648" r:id="R9ec96cf7a1304bd6"/>
  </p:sldMasterIdLst>
  <p:notesMasterIdLst>
    <p:notesMasterId xmlns:r="http://schemas.openxmlformats.org/officeDocument/2006/relationships" r:id="R3aa70a3a65104b1f"/>
  </p:notesMasterIdLst>
  <p:sldIdLst>
    <p:sldId xmlns:r="http://schemas.openxmlformats.org/officeDocument/2006/relationships" id="256" r:id="Rf624528b317e4a0a"/>
    <p:sldId xmlns:r="http://schemas.openxmlformats.org/officeDocument/2006/relationships" id="257" r:id="R26380553f28e4bcf"/>
    <p:sldId xmlns:r="http://schemas.openxmlformats.org/officeDocument/2006/relationships" id="258" r:id="R5839169d0c5849db"/>
    <p:sldId xmlns:r="http://schemas.openxmlformats.org/officeDocument/2006/relationships" id="259" r:id="Ra63acaf63dc74d26"/>
    <p:sldId xmlns:r="http://schemas.openxmlformats.org/officeDocument/2006/relationships" id="260" r:id="R208660ffe3864cf7"/>
    <p:sldId xmlns:r="http://schemas.openxmlformats.org/officeDocument/2006/relationships" id="261" r:id="R17cc297ef95f4c7a"/>
    <p:sldId xmlns:r="http://schemas.openxmlformats.org/officeDocument/2006/relationships" id="262" r:id="R81875f7be2db4abd"/>
    <p:sldId xmlns:r="http://schemas.openxmlformats.org/officeDocument/2006/relationships" id="263" r:id="R2946ff654e9442fb"/>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8507452462743d8" /><Relationship Type="http://schemas.openxmlformats.org/officeDocument/2006/relationships/slideMaster" Target="/ppt/slideMasters/slideMaster1.xml" Id="R9ec96cf7a1304bd6" /><Relationship Type="http://schemas.openxmlformats.org/officeDocument/2006/relationships/notesMaster" Target="/ppt/notesMasters/notesMaster1.xml" Id="R3aa70a3a65104b1f" /><Relationship Type="http://schemas.openxmlformats.org/officeDocument/2006/relationships/presProps" Target="/ppt/presProps.xml" Id="R628a0a98cc6c4de9" /><Relationship Type="http://schemas.openxmlformats.org/officeDocument/2006/relationships/tableStyles" Target="/ppt/tableStyles.xml" Id="Raaed785af7db4345" /><Relationship Type="http://schemas.openxmlformats.org/officeDocument/2006/relationships/slide" Target="/ppt/slides/slide1.xml" Id="Rf624528b317e4a0a" /><Relationship Type="http://schemas.openxmlformats.org/officeDocument/2006/relationships/slide" Target="/ppt/slides/slide2.xml" Id="R26380553f28e4bcf" /><Relationship Type="http://schemas.openxmlformats.org/officeDocument/2006/relationships/slide" Target="/ppt/slides/slide3.xml" Id="R5839169d0c5849db" /><Relationship Type="http://schemas.openxmlformats.org/officeDocument/2006/relationships/slide" Target="/ppt/slides/slide4.xml" Id="Ra63acaf63dc74d26" /><Relationship Type="http://schemas.openxmlformats.org/officeDocument/2006/relationships/slide" Target="/ppt/slides/slide5.xml" Id="R208660ffe3864cf7" /><Relationship Type="http://schemas.openxmlformats.org/officeDocument/2006/relationships/slide" Target="/ppt/slides/slide6.xml" Id="R17cc297ef95f4c7a" /><Relationship Type="http://schemas.openxmlformats.org/officeDocument/2006/relationships/slide" Target="/ppt/slides/slide7.xml" Id="R81875f7be2db4abd" /><Relationship Type="http://schemas.openxmlformats.org/officeDocument/2006/relationships/slide" Target="/ppt/slides/slide8.xml" Id="R2946ff654e9442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0037d39aef48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3061bfda7c4dd0" /><Relationship Type="http://schemas.openxmlformats.org/officeDocument/2006/relationships/notesMaster" Target="/ppt/notesMasters/notesMaster1.xml" Id="Rec41fddd085b424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f0b24649774d26" /><Relationship Type="http://schemas.openxmlformats.org/officeDocument/2006/relationships/notesMaster" Target="/ppt/notesMasters/notesMaster1.xml" Id="R0d4a140c3828433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3414c41fdb4767" /><Relationship Type="http://schemas.openxmlformats.org/officeDocument/2006/relationships/notesMaster" Target="/ppt/notesMasters/notesMaster1.xml" Id="Rf6c56cd5b85b4f0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83a0213d384f6d" /><Relationship Type="http://schemas.openxmlformats.org/officeDocument/2006/relationships/notesMaster" Target="/ppt/notesMasters/notesMaster1.xml" Id="R87d9c88c5571490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c7b3db7bc74f4b" /><Relationship Type="http://schemas.openxmlformats.org/officeDocument/2006/relationships/notesMaster" Target="/ppt/notesMasters/notesMaster1.xml" Id="Raef86dadc71545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4ad44cdd734ca7" /><Relationship Type="http://schemas.openxmlformats.org/officeDocument/2006/relationships/notesMaster" Target="/ppt/notesMasters/notesMaster1.xml" Id="R465523d1a3c042ab"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b24bf8ec7e4397" /><Relationship Type="http://schemas.openxmlformats.org/officeDocument/2006/relationships/notesMaster" Target="/ppt/notesMasters/notesMaster1.xml" Id="R25cddcaa1fcd45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e42b1d3e304d57" /><Relationship Type="http://schemas.openxmlformats.org/officeDocument/2006/relationships/notesMaster" Target="/ppt/notesMasters/notesMaster1.xml" Id="R101fb19cdc734f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Arkiv Graph is reusable MIT TypeScript infrastructure layered on Arkiv's public indexed entities. It supplies signed graph membership, bounded local traversal, root updates, CLI and stdio MCP. AI Passport is its reference app, not the infrastructure's only use case. Audience: AI-tool developers and security reviewers who need connected public evidence and reader-controlled acceptance. There is no native Arkiv graph query engine or custom contract deployment. Builder Ajnas NB. Source https://github.com/AjnasNB/arkiv-graph; live https://arkivgraph.ajnasnb.com. Generated conceptual artwork: cover-soft.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copied approval can remain in circulation after a reviewer withdraws it. The affected user is an AI-tool builder or reviewer handing source/context across tools; a fresh task must check current accepted evidence, not reuse an old screenshot or cached allowance. A hash binds bytes but does not discover related authors, reviews or withdrawals. This is a demonstrated failure mode, not a quantified market-incidence claim. Actual controlled session https://arkivgraph.ajnasnb.com/data/two-client-session.json. Public/synthetic context only. No private Qarinah memory is published. Generated conceptual artwork: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SDK models arkiv.graph.v1 nodes and edges and publishes typed indexed node, edge and complete signed manifest entities. Example semantic path: context -&gt; source via cites, context -&gt; tool via uses. On-chain indexed fields include namespace, schema_version, kind, graph_hash and typed node/edge identifiers; creator is protocol metadata. The manifest enumerates the complete signed revision and finite validity; incomplete membership fails before traversal. Arkiv stores/discovers indexed attributable entities. SDK assembles/verifies/traverses locally. AI Passport checks review state and exact source bytes before a hosted model request. Private memory, full source storage and inference remain off-chain. Schema https://github.com/AjnasNB/arkiv-graph/blob/main/arkiv/schema.md; source https://github.com/AjnasNB/arkiv-graph/tree/main/packages/arkiv-graph. Root registry has14-day signed validity/30-day storage; policies/lifetimes vary by record 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root-update evidence: two authority-signed revisions,8readonly entities,1atomic Tiramisu transaction at block608212. This is a separate small synthetic graph, not migration of the larger AI reference root. Reader pins authority/chain/profile/policy/genesis, checks linked sequence/deadline and rejects rollback/forks relative to a retained checkpoint. Exact transaction https://tiramisu.explorer.arkiv.network/tx/0x4802ca8904dad4e118257f6761299e7b525d12abb09dcdecb79786be6cce8ff8. Actual withdrawal: review at603792, accepted requests A603794/B603795; withdrawal603917; B refuses603919 and A603920. Both consumers and signing wallets are project-operated. Current browser button makes fresh reads of this completed session, not another publication. Retained authentic pending-target withdrawals, persistence before admission and full-request same-origin Web Locks fail closed on storage/lock failures. No instant cancellation of already-running tasks. https://arkivgraph.ajnasnb.com/data/trust-safeguards.json and https://arkivgraph.ajnasnb.com/data/two-client-session.json. Generated conceptual artwork: innovation.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Reusable service: MIT SDK, CLI and stdio MCP for graph verification/traversal/context extraction; no separate paid SaaS or token product is claimed. AI Passport is a real reference app using selected Qarinah context and exact source binding. Hosted model @cf/meta/llama-3.2-3b-instruct. Coding handoff checks review before inference and interprets a finite guard spec in six tests; generated JavaScript is not executed. India number tutor uses exact deterministic paise/lakh/crore and English/Hindi. UPI Safety Quest uses project-authored NPCI-linked summaries, deterministic scoring and optional AI coaching; no payments/PIN. Target Indian learners and AI-tool builders; no outside users/outcomes established. Capture is actual hosted UI from the prior recorded test, not generated. https://arkivgraph.ajnasnb.com/?view=handoff ; https://arkivgraph.ajnasnb.com/data/ai-evaluation.json. Source originality/reuse disclosure https://github.com/AjnasNB/arkiv-graph/blob/main/README.md. Generated conceptual artwork: usecases.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Arkiv: compatible consumers discover the same typed public records with protocol creator metadata and finite storage, without relying on this application API. A single-operator Postgres database is sufficient if only that operator controls readers; replacing Arkiv requires another shared publication/discovery layer, not just hashing local data. IPFS can address immutable bytes but the application still needs indexed creator/review discovery and current-record policy. Another public protocol could implement this; no exclusive technical necessity is claimed. Arkiv Graph brings reusable graph schema, verification, local traversal and context adapters to Arkiv builders. Current defensibility is integration depth, documented contracts and conformance evidence. A community of interoperable producers/readers is a future ecosystem hypothesis, not a proven moat/network effect; no outside adoption or revenue. https://arkivgraph.ajnasnb.com/data/backend-independence.json ; https://github.com/AjnasNB/arkiv-graph/blob/main/ARKIV_GRAPH.md . Official Arkiv indexed query docs https://docs.arkiv.network/json-rpc/querying-data/ . Generated conceptual artwork: moat.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is project-run, not external certification. Security snapshot271localtests;19trust safeguards. Signed generic graph7nodes/8edges/16entities; AI graph27nodes/43edges/71entities. 18simulated mobile Lighthouse13.5desktop Chrome/Windows audits,3coldloads perrouteandphase; baseline87/88/41,final98/98/96. This is historical measured release data, not physical-phone/fieldINP and not a score for subsequent website edits. npm publication verified anonymously: graph0.4.0,passport0.6.0. Official npm download API on2026-10-16T07:21:26.823Z returned404for both7/30-day windows ending2026-10-15. Downloads unavailable, not zero; npm would include project/CI installs and is not users or runtime reads. Actual per-request receipts carry read blocks, but no global SDK/runtime reader telemetry exists. No unaided outside integration established. https://arkivgraph.ajnasnb.com/data/npm-usage.json ; https://arkivgraph.ajnasnb.com/data/mobile-performance.json ; https://arkivgraph.ajnasnb.com/data/security-evaluation.json ; https://arkivgraph.ajnasnb.com/data/npm-release.json.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Graph-only zero-wallet local quickstart: npm init -y; npm install @ajnasnb/arkiv-graph@0.4.0; copy complete graph.mjs from https://github.com/AjnasNB/arkiv-graph/blob/main/docs/GETTING_STARTED.md; node graph.mjs. Fresh anonymous proof node scripts/quickstart-proof.mjs runs exact example outside workspace with fetch disabled, demonstrating schema and local traversal only. Receipt https://arkivgraph.ajnasnb.com/data/quickstart-proof.json . Real RPC verification is a separate online step requiring independently reviewed issuer/root/chain/profile policy: npx arkiv-graph verify reader.json; npx arkiv-graph mcp reader.json. Public readers need no wallet; publishing uses free Tiramisu testnet GLM and dedicated signing wallets. No custom contract deployment. Limits: one live RPC operator; eth_getProof -32601; no fresh-reader non-omission proof, clearing history loses rollback/withdrawal observations, root-update demo small/separate, rotation manual, no scale/physical-device/adoption claims. Friction expected-vs-actual reproductions in https://github.com/AjnasNB/arkiv-graph/blob/main/arkiv/friction.md . Official four equal 25-point judging areas and gates https://github.com/Arkiv-Network/global-tour-stop-pre-devcon/blob/main/docs/scoring-rubric.md . Strongest fit Open Source; Security secondary; working India examples without an adoption claim. Future: independent integrator and a second RPC/provider-completeness strategy. Generated conceptual artwork: 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bc0992bff74e3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7a441dee56c419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7d96dd307584db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de110154202420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42837c77950412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256276175d74f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E91F1E1-7711-41AA-AA6C-141FBB818593}"/>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7B2AB13-4E6A-4303-BAFD-508C71D778C3}"/>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8C02BA3-EDB2-403E-80B3-FA2422E65435}"/>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C38FA1-D24A-4516-A687-245AFEEED3DD}"/>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2838FBE-2722-4FEE-AC1B-DEC03D1D0026}"/>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7295D45-BB5A-4717-A094-0937D3B0E81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81F1E0-EF82-4DAB-9023-85CA0934B0ED}"/>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331222-2D11-45E0-87BF-58D8F80F597B}"/>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7E826F-CF40-4828-A651-5E02FDBCD7F2}"/>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8CDF64-4C12-4132-B2F7-07A7DC753B46}"/>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9ec51d5f994ca7" /><Relationship Type="http://schemas.openxmlformats.org/officeDocument/2006/relationships/slideLayout" Target="/ppt/slideLayouts/slideLayout1.xml" Id="R3feebb1c62284431" /><Relationship Type="http://schemas.openxmlformats.org/officeDocument/2006/relationships/slideLayout" Target="/ppt/slideLayouts/slideLayout2.xml" Id="Rb208b5d5109c4b45" /><Relationship Type="http://schemas.openxmlformats.org/officeDocument/2006/relationships/slideLayout" Target="/ppt/slideLayouts/slideLayout3.xml" Id="R94991d8018894aee" /><Relationship Type="http://schemas.openxmlformats.org/officeDocument/2006/relationships/slideLayout" Target="/ppt/slideLayouts/slideLayout4.xml" Id="Rf7a9b3fc41d04262" /><Relationship Type="http://schemas.openxmlformats.org/officeDocument/2006/relationships/slideLayout" Target="/ppt/slideLayouts/slideLayout5.xml" Id="R469d0c7ff2d347c4" /><Relationship Type="http://schemas.openxmlformats.org/officeDocument/2006/relationships/slideLayout" Target="/ppt/slideLayouts/slideLayout6.xml" Id="R7e35a80a702d46e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eebb1c62284431"/>
    <p:sldLayoutId xmlns:r="http://schemas.openxmlformats.org/officeDocument/2006/relationships" id="2147483650" r:id="Rb208b5d5109c4b45"/>
    <p:sldLayoutId xmlns:r="http://schemas.openxmlformats.org/officeDocument/2006/relationships" id="2147483651" r:id="R94991d8018894aee"/>
    <p:sldLayoutId xmlns:r="http://schemas.openxmlformats.org/officeDocument/2006/relationships" id="2147483652" r:id="Rf7a9b3fc41d04262"/>
    <p:sldLayoutId xmlns:r="http://schemas.openxmlformats.org/officeDocument/2006/relationships" id="2147483653" r:id="R469d0c7ff2d347c4"/>
    <p:sldLayoutId xmlns:r="http://schemas.openxmlformats.org/officeDocument/2006/relationships" id="2147483654" r:id="R7e35a80a702d46e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30d82e8384e43f1" /><Relationship Type="http://schemas.openxmlformats.org/officeDocument/2006/relationships/image" Target="/ppt/media/image.png" Id="R641f0b3c732743d4" /><Relationship Type="http://schemas.openxmlformats.org/officeDocument/2006/relationships/notesSlide" Target="/ppt/notesSlides/notesSlide1.xml" Id="R8aa4e2c074f54b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4919d3061c3444b" /><Relationship Type="http://schemas.openxmlformats.org/officeDocument/2006/relationships/image" Target="/ppt/media/image2.png" Id="Rbbdf01f56d2842e9" /><Relationship Type="http://schemas.openxmlformats.org/officeDocument/2006/relationships/notesSlide" Target="/ppt/notesSlides/notesSlide2.xml" Id="R70a1bae53d0949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2b9d6c4da9a46d0" /><Relationship Type="http://schemas.openxmlformats.org/officeDocument/2006/relationships/notesSlide" Target="/ppt/notesSlides/notesSlide3.xml" Id="Rc125708c360845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bc95a7a23b44d10" /><Relationship Type="http://schemas.openxmlformats.org/officeDocument/2006/relationships/image" Target="/ppt/media/image3.png" Id="R3663251f30fb436d" /><Relationship Type="http://schemas.openxmlformats.org/officeDocument/2006/relationships/notesSlide" Target="/ppt/notesSlides/notesSlide4.xml" Id="R3f6e7c780b6047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43b811c6f0460d" /><Relationship Type="http://schemas.openxmlformats.org/officeDocument/2006/relationships/image" Target="/ppt/media/image4.png" Id="Rd048ea0b59384b49" /><Relationship Type="http://schemas.openxmlformats.org/officeDocument/2006/relationships/image" Target="/ppt/media/image5.png" Id="Re8e57cce39694d81" /><Relationship Type="http://schemas.openxmlformats.org/officeDocument/2006/relationships/notesSlide" Target="/ppt/notesSlides/notesSlide5.xml" Id="R5a7b7e4f597542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041c4423d8c4a08" /><Relationship Type="http://schemas.openxmlformats.org/officeDocument/2006/relationships/image" Target="/ppt/media/image6.png" Id="R7e568a7dcada47d8" /><Relationship Type="http://schemas.openxmlformats.org/officeDocument/2006/relationships/notesSlide" Target="/ppt/notesSlides/notesSlide6.xml" Id="R75a2c521e65949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cddeb4076b14f33" /><Relationship Type="http://schemas.openxmlformats.org/officeDocument/2006/relationships/chart" Target="/ppt/slides/charts/chart1.xml" Id="R4b0459d86b854fc9" /><Relationship Type="http://schemas.openxmlformats.org/officeDocument/2006/relationships/notesSlide" Target="/ppt/notesSlides/notesSlide7.xml" Id="R7fbd721ea23a41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67179ef6a3042aa" /><Relationship Type="http://schemas.openxmlformats.org/officeDocument/2006/relationships/image" Target="/ppt/media/image7.png" Id="R0481dd2c47564700" /><Relationship Type="http://schemas.openxmlformats.org/officeDocument/2006/relationships/notesSlide" Target="/ppt/notesSlides/notesSlide8.xml" Id="R3f51c637777f42c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Before</c:v>
          </c:tx>
          <c:spPr>
            <a:solidFill xmlns:a="http://schemas.openxmlformats.org/drawingml/2006/main">
              <a:srgbClr val="50647B"/>
            </a:solidFill>
          </c:spPr>
          <c:invertIfNegative val="0"/>
          <c:cat>
            <c:strRef>
              <c:f>'Chart Data'!$A$2:$A$4</c:f>
              <c:strCache>
                <c:ptCount val="3"/>
                <c:pt idx="0">
                  <c:v>Overview</c:v>
                </c:pt>
                <c:pt idx="1">
                  <c:v>Context</c:v>
                </c:pt>
                <c:pt idx="2">
                  <c:v>Two-client</c:v>
                </c:pt>
              </c:strCache>
            </c:strRef>
          </c:cat>
          <c:val>
            <c:numRef>
              <c:f>'Chart Data'!$B$2:$B$4</c:f>
              <c:numCache>
                <c:formatCode>0</c:formatCode>
                <c:ptCount val="3"/>
                <c:pt idx="0">
                  <c:v>87</c:v>
                </c:pt>
                <c:pt idx="1">
                  <c:v>88</c:v>
                </c:pt>
                <c:pt idx="2">
                  <c:v>41</c:v>
                </c:pt>
              </c:numCache>
            </c:numRef>
          </c:val>
        </c:ser>
        <c:ser>
          <c:idx val="1"/>
          <c:order val="1"/>
          <c:tx>
            <c:v>After</c:v>
          </c:tx>
          <c:spPr>
            <a:solidFill xmlns:a="http://schemas.openxmlformats.org/drawingml/2006/main">
              <a:srgbClr val="7FB8F4"/>
            </a:solidFill>
          </c:spPr>
          <c:invertIfNegative val="0"/>
          <c:cat>
            <c:strRef>
              <c:f>'Chart Data'!$C$2:$C$4</c:f>
              <c:strCache>
                <c:ptCount val="3"/>
                <c:pt idx="0">
                  <c:v>Overview</c:v>
                </c:pt>
                <c:pt idx="1">
                  <c:v>Context</c:v>
                </c:pt>
                <c:pt idx="2">
                  <c:v>Two-client</c:v>
                </c:pt>
              </c:strCache>
            </c:strRef>
          </c:cat>
          <c:val>
            <c:numRef>
              <c:f>'Chart Data'!$D$2:$D$4</c:f>
              <c:numCache>
                <c:formatCode>0</c:formatCode>
                <c:ptCount val="3"/>
                <c:pt idx="0">
                  <c:v>98</c:v>
                </c:pt>
                <c:pt idx="1">
                  <c:v>98</c:v>
                </c:pt>
                <c:pt idx="2">
                  <c:v>96</c:v>
                </c:pt>
              </c:numCache>
            </c:numRef>
          </c:val>
        </c:ser>
        <c:dLbls>
          <c:txPr>
            <a:bodyPr xmlns:a="http://schemas.openxmlformats.org/drawingml/2006/main" anchorCtr="1"/>
            <a:lstStyle xmlns:a="http://schemas.openxmlformats.org/drawingml/2006/main"/>
            <a:p xmlns:a="http://schemas.openxmlformats.org/drawingml/2006/main">
              <a:pPr>
                <a:defRPr sz="1950">
                  <a:solidFill>
                    <a:srgbClr val="F7F7F5"/>
                  </a:solidFill>
                  <a:latin typeface="DM Sans"/>
                  <a:ea typeface="DM Sans"/>
                  <a:cs typeface="DM Sans"/>
                </a:defRPr>
              </a:pPr>
            </a:p>
          </c:txPr>
          <c:dLblPos val="outEnd"/>
          <c:showLegendKey val="0"/>
          <c:showVal val="1"/>
          <c:showCatName val="0"/>
          <c:showSerName val="0"/>
          <c:showPercent val="0"/>
          <c:showBubbleSize val="0"/>
          <c:showLeaderLines val="0"/>
        </c:dLbls>
        <c:gapWidth val="10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F7F7F5"/>
                </a:solidFill>
                <a:latin typeface="DM Sans"/>
                <a:ea typeface="DM Sans"/>
                <a:cs typeface="DM Sans"/>
              </a:defRPr>
            </a:pPr>
          </a:p>
        </c:txPr>
        <c:crossAx val="48672768"/>
      </c:catAx>
      <c:valAx>
        <c:axId val="48672768"/>
        <c:scaling>
          <c:orientation val="minMax"/>
          <c:max val="100"/>
          <c:min val="0"/>
        </c:scaling>
        <c:delete val="0"/>
        <c:axPos val="l"/>
        <c:majorGridlines>
          <c:spPr>
            <a:ln xmlns:a="http://schemas.openxmlformats.org/drawingml/2006/main" w="9525">
              <a:solidFill>
                <a:srgbClr val="27354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B7BDC7"/>
                </a:solidFill>
                <a:latin typeface="DM Sans"/>
                <a:ea typeface="DM Sans"/>
                <a:cs typeface="DM Sans"/>
              </a:defRPr>
            </a:pPr>
          </a:p>
        </c:txPr>
        <c:crossAx val="48650112"/>
        <c:crossBetween val="between"/>
        <c:majorUnit val="2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B7BDC7"/>
              </a:solidFill>
              <a:latin typeface="DM Sans"/>
              <a:ea typeface="DM Sans"/>
              <a:cs typeface="DM Sans"/>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BE99C177-81A1-438C-B32F-19D0702151CE}"/>
              </a:ext>
            </a:extLst>
          </p:cNvPr>
          <p:cNvPicPr>
            <a:picLocks xmlns:a="http://schemas.openxmlformats.org/drawingml/2006/main" noChangeAspect="1"/>
          </p:cNvPicPr>
          <p:nvPr/>
        </p:nvPicPr>
        <p:blipFill>
          <a:blip xmlns:r="http://schemas.openxmlformats.org/officeDocument/2006/relationships" xmlns:a="http://schemas.openxmlformats.org/drawingml/2006/main" r:embed="R641f0b3c732743d4"/>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D8BC9B0-FD61-4B3F-8CF9-4A00541E3E6A}"/>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3" name="">
            <a:extLst xmlns:a="http://schemas.openxmlformats.org/drawingml/2006/main">
              <a:ext uri="{FF2B5EF4-FFF2-40B4-BE49-F238E27FC236}">
                <a16:creationId xmlns:a16="http://schemas.microsoft.com/office/drawing/2014/main" id="{4E8BB641-C243-4944-ACFD-E5A01BEBAB17}"/>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01 / 08</a:t>
            </a:r>
          </a:p>
        </p:txBody>
      </p:sp>
      <p:sp>
        <p:nvSpPr>
          <p:cNvPr id="4" name="">
            <a:extLst xmlns:a="http://schemas.openxmlformats.org/drawingml/2006/main">
              <a:ext uri="{FF2B5EF4-FFF2-40B4-BE49-F238E27FC236}">
                <a16:creationId xmlns:a16="http://schemas.microsoft.com/office/drawing/2014/main" id="{B529C864-906C-4CCE-A37B-AD28782490CA}"/>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5" name="">
            <a:extLst xmlns:a="http://schemas.openxmlformats.org/drawingml/2006/main">
              <a:ext uri="{FF2B5EF4-FFF2-40B4-BE49-F238E27FC236}">
                <a16:creationId xmlns:a16="http://schemas.microsoft.com/office/drawing/2014/main" id="{F68852E2-4D1B-4FB0-9D59-FBC9182B31CF}"/>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6" name="">
            <a:extLst xmlns:a="http://schemas.openxmlformats.org/drawingml/2006/main">
              <a:ext uri="{FF2B5EF4-FFF2-40B4-BE49-F238E27FC236}">
                <a16:creationId xmlns:a16="http://schemas.microsoft.com/office/drawing/2014/main" id="{53E871EF-266F-4838-BA63-0018408C4E72}"/>
              </a:ext>
            </a:extLst>
          </p:cNvPr>
          <p:cNvSpPr>
            <a:spLocks xmlns:a="http://schemas.openxmlformats.org/drawingml/2006/main" noGrp="1"/>
          </p:cNvSpPr>
          <p:nvPr/>
        </p:nvSpPr>
        <p:spPr>
          <a:xfrm xmlns:a="http://schemas.openxmlformats.org/drawingml/2006/main">
            <a:off x="1047750" y="2524125"/>
            <a:ext cx="88582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325" b="0">
                <a:solidFill>
                  <a:srgbClr val="F7F7F5"/>
                </a:solidFill>
                <a:latin typeface="DM Sans"/>
                <a:ea typeface="DM Sans"/>
                <a:cs typeface="DM Sans"/>
              </a:defRPr>
            </a:defPPr>
          </a:lstStyle>
          <a:p xmlns:a="http://schemas.openxmlformats.org/drawingml/2006/main">
            <a:pPr>
              <a:defRPr sz="11325" b="0">
                <a:solidFill>
                  <a:srgbClr val="F7F7F5"/>
                </a:solidFill>
                <a:latin typeface="DM Sans"/>
                <a:ea typeface="DM Sans"/>
                <a:cs typeface="DM Sans"/>
              </a:defRPr>
            </a:pPr>
            <a:r>
              <a:rPr sz="11325" b="0">
                <a:solidFill>
                  <a:srgbClr val="F7F7F5"/>
                </a:solidFill>
                <a:latin typeface="DM Sans"/>
                <a:ea typeface="DM Sans"/>
                <a:cs typeface="DM Sans"/>
              </a:rPr>
              <a:t>ARKIV</a:t>
            </a:r>
          </a:p>
          <a:p xmlns:a="http://schemas.openxmlformats.org/drawingml/2006/main">
            <a:pPr>
              <a:defRPr sz="11325" b="0">
                <a:solidFill>
                  <a:srgbClr val="F7F7F5"/>
                </a:solidFill>
                <a:latin typeface="DM Sans"/>
                <a:ea typeface="DM Sans"/>
                <a:cs typeface="DM Sans"/>
              </a:defRPr>
            </a:pPr>
            <a:r>
              <a:rPr sz="11325" b="0">
                <a:solidFill>
                  <a:srgbClr val="F7F7F5"/>
                </a:solidFill>
                <a:latin typeface="DM Sans"/>
                <a:ea typeface="DM Sans"/>
                <a:cs typeface="DM Sans"/>
              </a:rPr>
              <a:t>GRAPH</a:t>
            </a:r>
          </a:p>
        </p:txBody>
      </p:sp>
      <p:sp>
        <p:nvSpPr>
          <p:cNvPr id="7" name="">
            <a:extLst xmlns:a="http://schemas.openxmlformats.org/drawingml/2006/main">
              <a:ext uri="{FF2B5EF4-FFF2-40B4-BE49-F238E27FC236}">
                <a16:creationId xmlns:a16="http://schemas.microsoft.com/office/drawing/2014/main" id="{C1A6C95A-2939-4E19-8F26-C2F4BFD08C8D}"/>
              </a:ext>
            </a:extLst>
          </p:cNvPr>
          <p:cNvSpPr>
            <a:spLocks xmlns:a="http://schemas.openxmlformats.org/drawingml/2006/main" noGrp="1"/>
          </p:cNvSpPr>
          <p:nvPr/>
        </p:nvSpPr>
        <p:spPr>
          <a:xfrm xmlns:a="http://schemas.openxmlformats.org/drawingml/2006/main">
            <a:off x="1095375" y="6400800"/>
            <a:ext cx="84296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125" b="0">
                <a:solidFill>
                  <a:srgbClr val="F7F7F5"/>
                </a:solidFill>
                <a:latin typeface="DM Sans"/>
                <a:ea typeface="DM Sans"/>
                <a:cs typeface="DM Sans"/>
              </a:defRPr>
            </a:defPPr>
          </a:lstStyle>
          <a:p xmlns:a="http://schemas.openxmlformats.org/drawingml/2006/main">
            <a:pPr>
              <a:defRPr sz="4125" b="0">
                <a:solidFill>
                  <a:srgbClr val="F7F7F5"/>
                </a:solidFill>
                <a:latin typeface="DM Sans"/>
                <a:ea typeface="DM Sans"/>
                <a:cs typeface="DM Sans"/>
              </a:defRPr>
            </a:pPr>
            <a:r>
              <a:rPr sz="4125" b="0">
                <a:solidFill>
                  <a:srgbClr val="F7F7F5"/>
                </a:solidFill>
                <a:latin typeface="DM Sans"/>
                <a:ea typeface="DM Sans"/>
                <a:cs typeface="DM Sans"/>
              </a:rPr>
              <a:t>Connected evidence</a:t>
            </a:r>
          </a:p>
          <a:p xmlns:a="http://schemas.openxmlformats.org/drawingml/2006/main">
            <a:pPr>
              <a:defRPr sz="4125" b="0">
                <a:solidFill>
                  <a:srgbClr val="F7F7F5"/>
                </a:solidFill>
                <a:latin typeface="DM Sans"/>
                <a:ea typeface="DM Sans"/>
                <a:cs typeface="DM Sans"/>
              </a:defRPr>
            </a:pPr>
            <a:r>
              <a:rPr sz="4125" b="0">
                <a:solidFill>
                  <a:srgbClr val="F7F7F5"/>
                </a:solidFill>
                <a:latin typeface="DM Sans"/>
                <a:ea typeface="DM Sans"/>
                <a:cs typeface="DM Sans"/>
              </a:rPr>
              <a:t>for AI tools</a:t>
            </a:r>
          </a:p>
        </p:txBody>
      </p:sp>
      <p:sp>
        <p:nvSpPr>
          <p:cNvPr id="8" name="">
            <a:extLst xmlns:a="http://schemas.openxmlformats.org/drawingml/2006/main">
              <a:ext uri="{FF2B5EF4-FFF2-40B4-BE49-F238E27FC236}">
                <a16:creationId xmlns:a16="http://schemas.microsoft.com/office/drawing/2014/main" id="{5484978B-B86E-4EAA-8533-4B54796778D8}"/>
              </a:ext>
            </a:extLst>
          </p:cNvPr>
          <p:cNvSpPr>
            <a:spLocks xmlns:a="http://schemas.openxmlformats.org/drawingml/2006/main" noGrp="1"/>
          </p:cNvSpPr>
          <p:nvPr/>
        </p:nvSpPr>
        <p:spPr>
          <a:xfrm xmlns:a="http://schemas.openxmlformats.org/drawingml/2006/main">
            <a:off x="1095375" y="8248650"/>
            <a:ext cx="1000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7FB8F4"/>
                </a:solidFill>
                <a:latin typeface="DM Sans"/>
                <a:ea typeface="DM Sans"/>
                <a:cs typeface="DM Sans"/>
              </a:defRPr>
            </a:defPPr>
          </a:lstStyle>
          <a:p xmlns:a="http://schemas.openxmlformats.org/drawingml/2006/main">
            <a:pPr>
              <a:defRPr sz="2325" b="0">
                <a:solidFill>
                  <a:srgbClr val="7FB8F4"/>
                </a:solidFill>
                <a:latin typeface="DM Sans"/>
                <a:ea typeface="DM Sans"/>
                <a:cs typeface="DM Sans"/>
              </a:defRPr>
            </a:pPr>
            <a:r>
              <a:rPr sz="2325" b="0">
                <a:solidFill>
                  <a:srgbClr val="7FB8F4"/>
                </a:solidFill>
                <a:latin typeface="DM Sans"/>
                <a:ea typeface="DM Sans"/>
                <a:cs typeface="DM Sans"/>
              </a:rPr>
              <a:t>MIT TypeScript SDK  /  CLI  /  MCP</a:t>
            </a:r>
          </a:p>
        </p:txBody>
      </p:sp>
      <p:sp>
        <p:nvSpPr>
          <p:cNvPr id="9" name="">
            <a:extLst xmlns:a="http://schemas.openxmlformats.org/drawingml/2006/main">
              <a:ext uri="{FF2B5EF4-FFF2-40B4-BE49-F238E27FC236}">
                <a16:creationId xmlns:a16="http://schemas.microsoft.com/office/drawing/2014/main" id="{68E8686D-459E-406D-BD52-B272EB27675A}"/>
              </a:ext>
            </a:extLst>
          </p:cNvPr>
          <p:cNvSpPr>
            <a:spLocks xmlns:a="http://schemas.openxmlformats.org/drawingml/2006/main" noGrp="1"/>
          </p:cNvSpPr>
          <p:nvPr/>
        </p:nvSpPr>
        <p:spPr>
          <a:xfrm xmlns:a="http://schemas.openxmlformats.org/drawingml/2006/main">
            <a:off x="1095375" y="88487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B7BDC7"/>
                </a:solidFill>
                <a:latin typeface="DM Sans"/>
                <a:ea typeface="DM Sans"/>
                <a:cs typeface="DM Sans"/>
              </a:defRPr>
            </a:defPPr>
          </a:lstStyle>
          <a:p xmlns:a="http://schemas.openxmlformats.org/drawingml/2006/main">
            <a:pPr>
              <a:defRPr sz="2175" b="0">
                <a:solidFill>
                  <a:srgbClr val="B7BDC7"/>
                </a:solidFill>
                <a:latin typeface="DM Sans"/>
                <a:ea typeface="DM Sans"/>
                <a:cs typeface="DM Sans"/>
              </a:defRPr>
            </a:pPr>
            <a:r>
              <a:rPr sz="2175" b="0">
                <a:solidFill>
                  <a:srgbClr val="B7BDC7"/>
                </a:solidFill>
                <a:latin typeface="DM Sans"/>
                <a:ea typeface="DM Sans"/>
                <a:cs typeface="DM Sans"/>
              </a:rPr>
              <a:t>AI Passport: the working reference app</a:t>
            </a:r>
          </a:p>
        </p:txBody>
      </p:sp>
    </p:spTree>
    <p:extLst>
      <p:ext uri="{BB962C8B-B14F-4D97-AF65-F5344CB8AC3E}">
        <p14:creationId xmlns:p14="http://schemas.microsoft.com/office/powerpoint/2010/main" val="1597999223"/>
      </p:ext>
    </p:extLst>
  </p:cSld>
</p:sld>
</file>

<file path=ppt/slides/slide2.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8DA8C996-806D-4684-BBA9-8FDC683CEFE9}"/>
              </a:ext>
            </a:extLst>
          </p:cNvPr>
          <p:cNvPicPr>
            <a:picLocks xmlns:a="http://schemas.openxmlformats.org/drawingml/2006/main" noChangeAspect="1"/>
          </p:cNvPicPr>
          <p:nvPr/>
        </p:nvPicPr>
        <p:blipFill>
          <a:blip xmlns:r="http://schemas.openxmlformats.org/officeDocument/2006/relationships" xmlns:a="http://schemas.openxmlformats.org/drawingml/2006/main" r:embed="Rbbdf01f56d2842e9"/>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69EF7A4-C2C3-4093-8E5F-005555BFB6FB}"/>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3" name="">
            <a:extLst xmlns:a="http://schemas.openxmlformats.org/drawingml/2006/main">
              <a:ext uri="{FF2B5EF4-FFF2-40B4-BE49-F238E27FC236}">
                <a16:creationId xmlns:a16="http://schemas.microsoft.com/office/drawing/2014/main" id="{C5A17C7B-309C-4812-95E5-0EAC16FF1127}"/>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02 / 08</a:t>
            </a:r>
          </a:p>
        </p:txBody>
      </p:sp>
      <p:sp>
        <p:nvSpPr>
          <p:cNvPr id="4" name="">
            <a:extLst xmlns:a="http://schemas.openxmlformats.org/drawingml/2006/main">
              <a:ext uri="{FF2B5EF4-FFF2-40B4-BE49-F238E27FC236}">
                <a16:creationId xmlns:a16="http://schemas.microsoft.com/office/drawing/2014/main" id="{725208B9-A7B5-466F-919F-428767234273}"/>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5" name="">
            <a:extLst xmlns:a="http://schemas.openxmlformats.org/drawingml/2006/main">
              <a:ext uri="{FF2B5EF4-FFF2-40B4-BE49-F238E27FC236}">
                <a16:creationId xmlns:a16="http://schemas.microsoft.com/office/drawing/2014/main" id="{989FF5DA-2CE1-42A8-8322-D25AE5EF6D86}"/>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6" name="">
            <a:extLst xmlns:a="http://schemas.openxmlformats.org/drawingml/2006/main">
              <a:ext uri="{FF2B5EF4-FFF2-40B4-BE49-F238E27FC236}">
                <a16:creationId xmlns:a16="http://schemas.microsoft.com/office/drawing/2014/main" id="{29601A7E-F263-4EAE-AEFC-10B9D7149A84}"/>
              </a:ext>
            </a:extLst>
          </p:cNvPr>
          <p:cNvSpPr>
            <a:spLocks xmlns:a="http://schemas.openxmlformats.org/drawingml/2006/main" noGrp="1"/>
          </p:cNvSpPr>
          <p:nvPr/>
        </p:nvSpPr>
        <p:spPr>
          <a:xfrm xmlns:a="http://schemas.openxmlformats.org/drawingml/2006/main">
            <a:off x="1047750" y="1581150"/>
            <a:ext cx="16002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450" b="0">
                <a:solidFill>
                  <a:srgbClr val="F7F7F5"/>
                </a:solidFill>
                <a:latin typeface="DM Sans"/>
                <a:ea typeface="DM Sans"/>
                <a:cs typeface="DM Sans"/>
              </a:defRPr>
            </a:defPPr>
          </a:lstStyle>
          <a:p xmlns:a="http://schemas.openxmlformats.org/drawingml/2006/main">
            <a:pPr>
              <a:defRPr sz="6450" b="0">
                <a:solidFill>
                  <a:srgbClr val="F7F7F5"/>
                </a:solidFill>
                <a:latin typeface="DM Sans"/>
                <a:ea typeface="DM Sans"/>
                <a:cs typeface="DM Sans"/>
              </a:defRPr>
            </a:pPr>
            <a:r>
              <a:rPr sz="6450" b="0">
                <a:solidFill>
                  <a:srgbClr val="F7F7F5"/>
                </a:solidFill>
                <a:latin typeface="DM Sans"/>
                <a:ea typeface="DM Sans"/>
                <a:cs typeface="DM Sans"/>
              </a:rPr>
              <a:t>The problem</a:t>
            </a:r>
          </a:p>
        </p:txBody>
      </p:sp>
      <p:sp>
        <p:nvSpPr>
          <p:cNvPr id="7" name="">
            <a:extLst xmlns:a="http://schemas.openxmlformats.org/drawingml/2006/main">
              <a:ext uri="{FF2B5EF4-FFF2-40B4-BE49-F238E27FC236}">
                <a16:creationId xmlns:a16="http://schemas.microsoft.com/office/drawing/2014/main" id="{41EE1AE8-FBA0-4E8D-A448-0E551D924B42}"/>
              </a:ext>
            </a:extLst>
          </p:cNvPr>
          <p:cNvSpPr>
            <a:spLocks xmlns:a="http://schemas.openxmlformats.org/drawingml/2006/main" noGrp="1"/>
          </p:cNvSpPr>
          <p:nvPr/>
        </p:nvSpPr>
        <p:spPr>
          <a:xfrm xmlns:a="http://schemas.openxmlformats.org/drawingml/2006/main">
            <a:off x="1047750" y="3333750"/>
            <a:ext cx="8572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725" b="0">
                <a:solidFill>
                  <a:srgbClr val="F7F7F5"/>
                </a:solidFill>
                <a:latin typeface="DM Sans"/>
                <a:ea typeface="DM Sans"/>
                <a:cs typeface="DM Sans"/>
              </a:defRPr>
            </a:defPPr>
          </a:lstStyle>
          <a:p xmlns:a="http://schemas.openxmlformats.org/drawingml/2006/main">
            <a:pPr>
              <a:defRPr sz="4725" b="0">
                <a:solidFill>
                  <a:srgbClr val="F7F7F5"/>
                </a:solidFill>
                <a:latin typeface="DM Sans"/>
                <a:ea typeface="DM Sans"/>
                <a:cs typeface="DM Sans"/>
              </a:defRPr>
            </a:pPr>
            <a:r>
              <a:rPr sz="4725" b="0">
                <a:solidFill>
                  <a:srgbClr val="F7F7F5"/>
                </a:solidFill>
                <a:latin typeface="DM Sans"/>
                <a:ea typeface="DM Sans"/>
                <a:cs typeface="DM Sans"/>
              </a:rPr>
              <a:t>A copied approval</a:t>
            </a:r>
          </a:p>
          <a:p xmlns:a="http://schemas.openxmlformats.org/drawingml/2006/main">
            <a:pPr>
              <a:defRPr sz="4725" b="0">
                <a:solidFill>
                  <a:srgbClr val="F7F7F5"/>
                </a:solidFill>
                <a:latin typeface="DM Sans"/>
                <a:ea typeface="DM Sans"/>
                <a:cs typeface="DM Sans"/>
              </a:defRPr>
            </a:pPr>
            <a:r>
              <a:rPr sz="4725" b="0">
                <a:solidFill>
                  <a:srgbClr val="F7F7F5"/>
                </a:solidFill>
                <a:latin typeface="DM Sans"/>
                <a:ea typeface="DM Sans"/>
                <a:cs typeface="DM Sans"/>
              </a:rPr>
              <a:t>can outlive its review</a:t>
            </a:r>
          </a:p>
        </p:txBody>
      </p:sp>
      <p:sp>
        <p:nvSpPr>
          <p:cNvPr id="8" name="">
            <a:extLst xmlns:a="http://schemas.openxmlformats.org/drawingml/2006/main">
              <a:ext uri="{FF2B5EF4-FFF2-40B4-BE49-F238E27FC236}">
                <a16:creationId xmlns:a16="http://schemas.microsoft.com/office/drawing/2014/main" id="{CD224CFB-B58B-4BE5-A9ED-30C01637CC79}"/>
              </a:ext>
            </a:extLst>
          </p:cNvPr>
          <p:cNvSpPr>
            <a:spLocks xmlns:a="http://schemas.openxmlformats.org/drawingml/2006/main" noGrp="1"/>
          </p:cNvSpPr>
          <p:nvPr/>
        </p:nvSpPr>
        <p:spPr>
          <a:xfrm xmlns:a="http://schemas.openxmlformats.org/drawingml/2006/main">
            <a:off x="1047750" y="5410200"/>
            <a:ext cx="876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7FB8F4"/>
                </a:solidFill>
                <a:latin typeface="DM Sans"/>
                <a:ea typeface="DM Sans"/>
                <a:cs typeface="DM Sans"/>
              </a:defRPr>
            </a:defPPr>
          </a:lstStyle>
          <a:p xmlns:a="http://schemas.openxmlformats.org/drawingml/2006/main">
            <a:pPr>
              <a:defRPr sz="2325" b="0">
                <a:solidFill>
                  <a:srgbClr val="7FB8F4"/>
                </a:solidFill>
                <a:latin typeface="DM Sans"/>
                <a:ea typeface="DM Sans"/>
                <a:cs typeface="DM Sans"/>
              </a:defRPr>
            </a:pPr>
            <a:r>
              <a:rPr sz="2325" b="0">
                <a:solidFill>
                  <a:srgbClr val="7FB8F4"/>
                </a:solidFill>
                <a:latin typeface="DM Sans"/>
                <a:ea typeface="DM Sans"/>
                <a:cs typeface="DM Sans"/>
              </a:rPr>
              <a:t>AI-tool builders and security reviewers</a:t>
            </a:r>
          </a:p>
        </p:txBody>
      </p:sp>
      <p:sp>
        <p:nvSpPr>
          <p:cNvPr id="9" name="">
            <a:extLst xmlns:a="http://schemas.openxmlformats.org/drawingml/2006/main">
              <a:ext uri="{FF2B5EF4-FFF2-40B4-BE49-F238E27FC236}">
                <a16:creationId xmlns:a16="http://schemas.microsoft.com/office/drawing/2014/main" id="{C452B3E0-B8D7-4498-94CB-50C0668B9721}"/>
              </a:ext>
            </a:extLst>
          </p:cNvPr>
          <p:cNvSpPr>
            <a:spLocks xmlns:a="http://schemas.openxmlformats.org/drawingml/2006/main" noGrp="1"/>
          </p:cNvSpPr>
          <p:nvPr/>
        </p:nvSpPr>
        <p:spPr>
          <a:xfrm xmlns:a="http://schemas.openxmlformats.org/drawingml/2006/main">
            <a:off x="1047750" y="6705600"/>
            <a:ext cx="8096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B7BDC7"/>
                </a:solidFill>
                <a:latin typeface="DM Sans"/>
                <a:ea typeface="DM Sans"/>
                <a:cs typeface="DM Sans"/>
              </a:defRPr>
            </a:defPPr>
          </a:lstStyle>
          <a:p xmlns:a="http://schemas.openxmlformats.org/drawingml/2006/main">
            <a:pPr>
              <a:defRPr sz="3225" b="0">
                <a:solidFill>
                  <a:srgbClr val="B7BDC7"/>
                </a:solidFill>
                <a:latin typeface="DM Sans"/>
                <a:ea typeface="DM Sans"/>
                <a:cs typeface="DM Sans"/>
              </a:defRPr>
            </a:pPr>
            <a:r>
              <a:rPr sz="3225" b="0">
                <a:solidFill>
                  <a:srgbClr val="B7BDC7"/>
                </a:solidFill>
                <a:latin typeface="DM Sans"/>
                <a:ea typeface="DM Sans"/>
                <a:cs typeface="DM Sans"/>
              </a:rPr>
              <a:t>Bytes match.</a:t>
            </a:r>
          </a:p>
          <a:p xmlns:a="http://schemas.openxmlformats.org/drawingml/2006/main">
            <a:pPr>
              <a:defRPr sz="3225" b="0">
                <a:solidFill>
                  <a:srgbClr val="B7BDC7"/>
                </a:solidFill>
                <a:latin typeface="DM Sans"/>
                <a:ea typeface="DM Sans"/>
                <a:cs typeface="DM Sans"/>
              </a:defRPr>
            </a:pPr>
            <a:r>
              <a:rPr sz="3225" b="0">
                <a:solidFill>
                  <a:srgbClr val="B7BDC7"/>
                </a:solidFill>
                <a:latin typeface="DM Sans"/>
                <a:ea typeface="DM Sans"/>
                <a:cs typeface="DM Sans"/>
              </a:rPr>
              <a:t>Is permission still current?</a:t>
            </a:r>
          </a:p>
        </p:txBody>
      </p:sp>
      <p:sp>
        <p:nvSpPr>
          <p:cNvPr id="10" name="">
            <a:extLst xmlns:a="http://schemas.openxmlformats.org/drawingml/2006/main">
              <a:ext uri="{FF2B5EF4-FFF2-40B4-BE49-F238E27FC236}">
                <a16:creationId xmlns:a16="http://schemas.microsoft.com/office/drawing/2014/main" id="{AF225397-8CA6-4950-A794-5921518D4DB5}"/>
              </a:ext>
            </a:extLst>
          </p:cNvPr>
          <p:cNvSpPr>
            <a:spLocks xmlns:a="http://schemas.openxmlformats.org/drawingml/2006/main" noGrp="1"/>
          </p:cNvSpPr>
          <p:nvPr/>
        </p:nvSpPr>
        <p:spPr>
          <a:xfrm xmlns:a="http://schemas.openxmlformats.org/drawingml/2006/main">
            <a:off x="1047750" y="8629650"/>
            <a:ext cx="15049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7F7F5"/>
                </a:solidFill>
                <a:latin typeface="DM Sans"/>
                <a:ea typeface="DM Sans"/>
                <a:cs typeface="DM Sans"/>
              </a:defRPr>
            </a:defPPr>
          </a:lstStyle>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Hashes identify content. They do not discover current reviews.</a:t>
            </a:r>
          </a:p>
        </p:txBody>
      </p:sp>
    </p:spTree>
    <p:extLst>
      <p:ext uri="{BB962C8B-B14F-4D97-AF65-F5344CB8AC3E}">
        <p14:creationId xmlns:p14="http://schemas.microsoft.com/office/powerpoint/2010/main" val="256488086"/>
      </p:ext>
    </p:extLst>
  </p:cSld>
</p:sld>
</file>

<file path=ppt/slides/slide3.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A1B4D72-2904-4DCB-B015-6DBC9E9BDC97}"/>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2" name="">
            <a:extLst xmlns:a="http://schemas.openxmlformats.org/drawingml/2006/main">
              <a:ext uri="{FF2B5EF4-FFF2-40B4-BE49-F238E27FC236}">
                <a16:creationId xmlns:a16="http://schemas.microsoft.com/office/drawing/2014/main" id="{444DD161-8B54-4E51-8178-20A05C4A4135}"/>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03 / 08</a:t>
            </a:r>
          </a:p>
        </p:txBody>
      </p:sp>
      <p:sp>
        <p:nvSpPr>
          <p:cNvPr id="3" name="">
            <a:extLst xmlns:a="http://schemas.openxmlformats.org/drawingml/2006/main">
              <a:ext uri="{FF2B5EF4-FFF2-40B4-BE49-F238E27FC236}">
                <a16:creationId xmlns:a16="http://schemas.microsoft.com/office/drawing/2014/main" id="{D0F14979-97DA-41A2-9180-A82E03D66587}"/>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4" name="">
            <a:extLst xmlns:a="http://schemas.openxmlformats.org/drawingml/2006/main">
              <a:ext uri="{FF2B5EF4-FFF2-40B4-BE49-F238E27FC236}">
                <a16:creationId xmlns:a16="http://schemas.microsoft.com/office/drawing/2014/main" id="{A498FACF-84AC-46DB-9D1B-98B49A496E36}"/>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5" name="">
            <a:extLst xmlns:a="http://schemas.openxmlformats.org/drawingml/2006/main">
              <a:ext uri="{FF2B5EF4-FFF2-40B4-BE49-F238E27FC236}">
                <a16:creationId xmlns:a16="http://schemas.microsoft.com/office/drawing/2014/main" id="{9DB9A1F5-9EFD-4ED5-BC13-38F617A503FC}"/>
              </a:ext>
            </a:extLst>
          </p:cNvPr>
          <p:cNvSpPr>
            <a:spLocks xmlns:a="http://schemas.openxmlformats.org/drawingml/2006/main" noGrp="1"/>
          </p:cNvSpPr>
          <p:nvPr/>
        </p:nvSpPr>
        <p:spPr>
          <a:xfrm xmlns:a="http://schemas.openxmlformats.org/drawingml/2006/main">
            <a:off x="1047750" y="1581150"/>
            <a:ext cx="16002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450" b="0">
                <a:solidFill>
                  <a:srgbClr val="F7F7F5"/>
                </a:solidFill>
                <a:latin typeface="DM Sans"/>
                <a:ea typeface="DM Sans"/>
                <a:cs typeface="DM Sans"/>
              </a:defRPr>
            </a:defPPr>
          </a:lstStyle>
          <a:p xmlns:a="http://schemas.openxmlformats.org/drawingml/2006/main">
            <a:pPr>
              <a:defRPr sz="6450" b="0">
                <a:solidFill>
                  <a:srgbClr val="F7F7F5"/>
                </a:solidFill>
                <a:latin typeface="DM Sans"/>
                <a:ea typeface="DM Sans"/>
                <a:cs typeface="DM Sans"/>
              </a:defRPr>
            </a:pPr>
            <a:r>
              <a:rPr sz="6450" b="0">
                <a:solidFill>
                  <a:srgbClr val="F7F7F5"/>
                </a:solidFill>
                <a:latin typeface="DM Sans"/>
                <a:ea typeface="DM Sans"/>
                <a:cs typeface="DM Sans"/>
              </a:rPr>
              <a:t>The graph layer</a:t>
            </a:r>
          </a:p>
        </p:txBody>
      </p:sp>
      <p:sp>
        <p:nvSpPr>
          <p:cNvPr id="6" name="">
            <a:extLst xmlns:a="http://schemas.openxmlformats.org/drawingml/2006/main">
              <a:ext uri="{FF2B5EF4-FFF2-40B4-BE49-F238E27FC236}">
                <a16:creationId xmlns:a16="http://schemas.microsoft.com/office/drawing/2014/main" id="{193C31CC-1549-4E44-91BE-5F1C62B47707}"/>
              </a:ext>
            </a:extLst>
          </p:cNvPr>
          <p:cNvSpPr>
            <a:spLocks xmlns:a="http://schemas.openxmlformats.org/drawingml/2006/main" noGrp="1"/>
          </p:cNvSpPr>
          <p:nvPr/>
        </p:nvSpPr>
        <p:spPr>
          <a:xfrm xmlns:a="http://schemas.openxmlformats.org/drawingml/2006/main">
            <a:off x="1047750" y="3048000"/>
            <a:ext cx="1619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7FB8F4"/>
                </a:solidFill>
                <a:latin typeface="DM Sans"/>
                <a:ea typeface="DM Sans"/>
                <a:cs typeface="DM Sans"/>
              </a:defRPr>
            </a:defPPr>
          </a:lstStyle>
          <a:p xmlns:a="http://schemas.openxmlformats.org/drawingml/2006/main">
            <a:pPr>
              <a:defRPr sz="2850" b="0">
                <a:solidFill>
                  <a:srgbClr val="7FB8F4"/>
                </a:solidFill>
                <a:latin typeface="DM Sans"/>
                <a:ea typeface="DM Sans"/>
                <a:cs typeface="DM Sans"/>
              </a:defRPr>
            </a:pPr>
            <a:r>
              <a:rPr sz="2850" b="0">
                <a:solidFill>
                  <a:srgbClr val="7FB8F4"/>
                </a:solidFill>
                <a:latin typeface="DM Sans"/>
                <a:ea typeface="DM Sans"/>
                <a:cs typeface="DM Sans"/>
              </a:rPr>
              <a:t>Typed nodes + directed edges + a complete signed manifest</a:t>
            </a:r>
          </a:p>
        </p:txBody>
      </p:sp>
      <p:sp>
        <p:nvSpPr>
          <p:cNvPr id="7" name="">
            <a:extLst xmlns:a="http://schemas.openxmlformats.org/drawingml/2006/main">
              <a:ext uri="{FF2B5EF4-FFF2-40B4-BE49-F238E27FC236}">
                <a16:creationId xmlns:a16="http://schemas.microsoft.com/office/drawing/2014/main" id="{2DFD2218-D74A-4F83-98F5-35FAA73A5B31}"/>
              </a:ext>
            </a:extLst>
          </p:cNvPr>
          <p:cNvSpPr>
            <a:spLocks xmlns:a="http://schemas.openxmlformats.org/drawingml/2006/main" noGrp="1"/>
          </p:cNvSpPr>
          <p:nvPr/>
        </p:nvSpPr>
        <p:spPr>
          <a:xfrm xmlns:a="http://schemas.openxmlformats.org/drawingml/2006/main">
            <a:off x="1047750" y="4371975"/>
            <a:ext cx="3905250" cy="1162050"/>
          </a:xfrm>
          <a:prstGeom xmlns:a="http://schemas.openxmlformats.org/drawingml/2006/main" prst="rect">
            <a:avLst/>
          </a:prstGeom>
          <a:solidFill xmlns:a="http://schemas.openxmlformats.org/drawingml/2006/main">
            <a:srgbClr val="0C1723"/>
          </a:solidFill>
          <a:ln xmlns:a="http://schemas.openxmlformats.org/drawingml/2006/main" w="19050">
            <a:solidFill>
              <a:srgbClr val="7FB8F4"/>
            </a:solidFill>
          </a:ln>
        </p:spPr>
      </p:sp>
      <p:sp>
        <p:nvSpPr>
          <p:cNvPr id="8" name="">
            <a:extLst xmlns:a="http://schemas.openxmlformats.org/drawingml/2006/main">
              <a:ext uri="{FF2B5EF4-FFF2-40B4-BE49-F238E27FC236}">
                <a16:creationId xmlns:a16="http://schemas.microsoft.com/office/drawing/2014/main" id="{4776451C-5D60-4FCD-8E7B-81F8F3890478}"/>
              </a:ext>
            </a:extLst>
          </p:cNvPr>
          <p:cNvSpPr>
            <a:spLocks xmlns:a="http://schemas.openxmlformats.org/drawingml/2006/main" noGrp="1"/>
          </p:cNvSpPr>
          <p:nvPr/>
        </p:nvSpPr>
        <p:spPr>
          <a:xfrm xmlns:a="http://schemas.openxmlformats.org/drawingml/2006/main">
            <a:off x="1381125" y="460057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F7F7F5"/>
                </a:solidFill>
                <a:latin typeface="DM Sans"/>
                <a:ea typeface="DM Sans"/>
                <a:cs typeface="DM Sans"/>
              </a:defRPr>
            </a:defPPr>
          </a:lstStyle>
          <a:p xmlns:a="http://schemas.openxmlformats.org/drawingml/2006/main">
            <a:pPr>
              <a:defRPr sz="3225" b="0">
                <a:solidFill>
                  <a:srgbClr val="F7F7F5"/>
                </a:solidFill>
                <a:latin typeface="DM Sans"/>
                <a:ea typeface="DM Sans"/>
                <a:cs typeface="DM Sans"/>
              </a:defRPr>
            </a:pPr>
            <a:r>
              <a:rPr sz="3225" b="0">
                <a:solidFill>
                  <a:srgbClr val="F7F7F5"/>
                </a:solidFill>
                <a:latin typeface="DM Sans"/>
                <a:ea typeface="DM Sans"/>
                <a:cs typeface="DM Sans"/>
              </a:rPr>
              <a:t>Source</a:t>
            </a:r>
          </a:p>
        </p:txBody>
      </p:sp>
      <p:sp>
        <p:nvSpPr>
          <p:cNvPr id="9" name="">
            <a:extLst xmlns:a="http://schemas.openxmlformats.org/drawingml/2006/main">
              <a:ext uri="{FF2B5EF4-FFF2-40B4-BE49-F238E27FC236}">
                <a16:creationId xmlns:a16="http://schemas.microsoft.com/office/drawing/2014/main" id="{E84BB3F1-0839-4E6B-93CC-5AB9664CFDFE}"/>
              </a:ext>
            </a:extLst>
          </p:cNvPr>
          <p:cNvSpPr>
            <a:spLocks xmlns:a="http://schemas.openxmlformats.org/drawingml/2006/main" noGrp="1"/>
          </p:cNvSpPr>
          <p:nvPr/>
        </p:nvSpPr>
        <p:spPr>
          <a:xfrm xmlns:a="http://schemas.openxmlformats.org/drawingml/2006/main">
            <a:off x="6743700" y="4371975"/>
            <a:ext cx="3905250" cy="1162050"/>
          </a:xfrm>
          <a:prstGeom xmlns:a="http://schemas.openxmlformats.org/drawingml/2006/main" prst="rect">
            <a:avLst/>
          </a:prstGeom>
          <a:solidFill xmlns:a="http://schemas.openxmlformats.org/drawingml/2006/main">
            <a:srgbClr val="0C1723"/>
          </a:solidFill>
          <a:ln xmlns:a="http://schemas.openxmlformats.org/drawingml/2006/main" w="19050">
            <a:solidFill>
              <a:srgbClr val="7FB8F4"/>
            </a:solidFill>
          </a:ln>
        </p:spPr>
      </p:sp>
      <p:sp>
        <p:nvSpPr>
          <p:cNvPr id="10" name="">
            <a:extLst xmlns:a="http://schemas.openxmlformats.org/drawingml/2006/main">
              <a:ext uri="{FF2B5EF4-FFF2-40B4-BE49-F238E27FC236}">
                <a16:creationId xmlns:a16="http://schemas.microsoft.com/office/drawing/2014/main" id="{E6C9E09F-5873-4427-AC19-E7C015984A90}"/>
              </a:ext>
            </a:extLst>
          </p:cNvPr>
          <p:cNvSpPr>
            <a:spLocks xmlns:a="http://schemas.openxmlformats.org/drawingml/2006/main" noGrp="1"/>
          </p:cNvSpPr>
          <p:nvPr/>
        </p:nvSpPr>
        <p:spPr>
          <a:xfrm xmlns:a="http://schemas.openxmlformats.org/drawingml/2006/main">
            <a:off x="7077075" y="460057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F7F7F5"/>
                </a:solidFill>
                <a:latin typeface="DM Sans"/>
                <a:ea typeface="DM Sans"/>
                <a:cs typeface="DM Sans"/>
              </a:defRPr>
            </a:defPPr>
          </a:lstStyle>
          <a:p xmlns:a="http://schemas.openxmlformats.org/drawingml/2006/main">
            <a:pPr>
              <a:defRPr sz="3225" b="0">
                <a:solidFill>
                  <a:srgbClr val="F7F7F5"/>
                </a:solidFill>
                <a:latin typeface="DM Sans"/>
                <a:ea typeface="DM Sans"/>
                <a:cs typeface="DM Sans"/>
              </a:defRPr>
            </a:pPr>
            <a:r>
              <a:rPr sz="3225" b="0">
                <a:solidFill>
                  <a:srgbClr val="F7F7F5"/>
                </a:solidFill>
                <a:latin typeface="DM Sans"/>
                <a:ea typeface="DM Sans"/>
                <a:cs typeface="DM Sans"/>
              </a:rPr>
              <a:t>Context</a:t>
            </a:r>
          </a:p>
        </p:txBody>
      </p:sp>
      <p:sp>
        <p:nvSpPr>
          <p:cNvPr id="11" name="">
            <a:extLst xmlns:a="http://schemas.openxmlformats.org/drawingml/2006/main">
              <a:ext uri="{FF2B5EF4-FFF2-40B4-BE49-F238E27FC236}">
                <a16:creationId xmlns:a16="http://schemas.microsoft.com/office/drawing/2014/main" id="{3F4AE9F7-82B6-4E87-851A-8263B1B16740}"/>
              </a:ext>
            </a:extLst>
          </p:cNvPr>
          <p:cNvSpPr>
            <a:spLocks xmlns:a="http://schemas.openxmlformats.org/drawingml/2006/main" noGrp="1"/>
          </p:cNvSpPr>
          <p:nvPr/>
        </p:nvSpPr>
        <p:spPr>
          <a:xfrm xmlns:a="http://schemas.openxmlformats.org/drawingml/2006/main">
            <a:off x="12430125" y="4371975"/>
            <a:ext cx="3905250" cy="1162050"/>
          </a:xfrm>
          <a:prstGeom xmlns:a="http://schemas.openxmlformats.org/drawingml/2006/main" prst="rect">
            <a:avLst/>
          </a:prstGeom>
          <a:solidFill xmlns:a="http://schemas.openxmlformats.org/drawingml/2006/main">
            <a:srgbClr val="1B1711"/>
          </a:solidFill>
          <a:ln xmlns:a="http://schemas.openxmlformats.org/drawingml/2006/main" w="19050">
            <a:solidFill>
              <a:srgbClr val="E2B777"/>
            </a:solidFill>
          </a:ln>
        </p:spPr>
      </p:sp>
      <p:sp>
        <p:nvSpPr>
          <p:cNvPr id="12" name="">
            <a:extLst xmlns:a="http://schemas.openxmlformats.org/drawingml/2006/main">
              <a:ext uri="{FF2B5EF4-FFF2-40B4-BE49-F238E27FC236}">
                <a16:creationId xmlns:a16="http://schemas.microsoft.com/office/drawing/2014/main" id="{B5B3F6CB-888C-4EE0-89DE-07A4017AFAB0}"/>
              </a:ext>
            </a:extLst>
          </p:cNvPr>
          <p:cNvSpPr>
            <a:spLocks xmlns:a="http://schemas.openxmlformats.org/drawingml/2006/main" noGrp="1"/>
          </p:cNvSpPr>
          <p:nvPr/>
        </p:nvSpPr>
        <p:spPr>
          <a:xfrm xmlns:a="http://schemas.openxmlformats.org/drawingml/2006/main">
            <a:off x="12763500" y="460057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F7F7F5"/>
                </a:solidFill>
                <a:latin typeface="DM Sans"/>
                <a:ea typeface="DM Sans"/>
                <a:cs typeface="DM Sans"/>
              </a:defRPr>
            </a:defPPr>
          </a:lstStyle>
          <a:p xmlns:a="http://schemas.openxmlformats.org/drawingml/2006/main">
            <a:pPr>
              <a:defRPr sz="3225" b="0">
                <a:solidFill>
                  <a:srgbClr val="F7F7F5"/>
                </a:solidFill>
                <a:latin typeface="DM Sans"/>
                <a:ea typeface="DM Sans"/>
                <a:cs typeface="DM Sans"/>
              </a:defRPr>
            </a:pPr>
            <a:r>
              <a:rPr sz="3225" b="0">
                <a:solidFill>
                  <a:srgbClr val="F7F7F5"/>
                </a:solidFill>
                <a:latin typeface="DM Sans"/>
                <a:ea typeface="DM Sans"/>
                <a:cs typeface="DM Sans"/>
              </a:rPr>
              <a:t>Tool</a:t>
            </a:r>
          </a:p>
        </p:txBody>
      </p:sp>
      <p:sp>
        <p:nvSpPr>
          <p:cNvPr id="13" name="">
            <a:extLst xmlns:a="http://schemas.openxmlformats.org/drawingml/2006/main">
              <a:ext uri="{FF2B5EF4-FFF2-40B4-BE49-F238E27FC236}">
                <a16:creationId xmlns:a16="http://schemas.microsoft.com/office/drawing/2014/main" id="{674D22DC-91DA-408A-8545-7F7D1EF5E619}"/>
              </a:ext>
            </a:extLst>
          </p:cNvPr>
          <p:cNvSpPr>
            <a:spLocks xmlns:a="http://schemas.openxmlformats.org/drawingml/2006/main" noGrp="1"/>
          </p:cNvSpPr>
          <p:nvPr/>
        </p:nvSpPr>
        <p:spPr>
          <a:xfrm xmlns:a="http://schemas.openxmlformats.org/drawingml/2006/main">
            <a:off x="4962525" y="4972050"/>
            <a:ext cx="1781175" cy="19050"/>
          </a:xfrm>
          <a:prstGeom xmlns:a="http://schemas.openxmlformats.org/drawingml/2006/main" prst="rect">
            <a:avLst/>
          </a:prstGeom>
          <a:solidFill xmlns:a="http://schemas.openxmlformats.org/drawingml/2006/main">
            <a:srgbClr val="7FB8F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0E0D921-20D1-442C-9842-70A18084B025}"/>
              </a:ext>
            </a:extLst>
          </p:cNvPr>
          <p:cNvSpPr>
            <a:spLocks xmlns:a="http://schemas.openxmlformats.org/drawingml/2006/main" noGrp="1"/>
          </p:cNvSpPr>
          <p:nvPr/>
        </p:nvSpPr>
        <p:spPr>
          <a:xfrm xmlns:a="http://schemas.openxmlformats.org/drawingml/2006/main">
            <a:off x="5219700" y="4438650"/>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B7BDC7"/>
                </a:solidFill>
                <a:latin typeface="DM Sans"/>
                <a:ea typeface="DM Sans"/>
                <a:cs typeface="DM Sans"/>
              </a:defRPr>
            </a:defPPr>
          </a:lstStyle>
          <a:p xmlns:a="http://schemas.openxmlformats.org/drawingml/2006/main">
            <a:pPr>
              <a:defRPr sz="2100" b="0">
                <a:solidFill>
                  <a:srgbClr val="B7BDC7"/>
                </a:solidFill>
                <a:latin typeface="DM Sans"/>
                <a:ea typeface="DM Sans"/>
                <a:cs typeface="DM Sans"/>
              </a:defRPr>
            </a:pPr>
            <a:r>
              <a:rPr sz="2100" b="0">
                <a:solidFill>
                  <a:srgbClr val="B7BDC7"/>
                </a:solidFill>
                <a:latin typeface="DM Sans"/>
                <a:ea typeface="DM Sans"/>
                <a:cs typeface="DM Sans"/>
              </a:rPr>
              <a:t>← cites</a:t>
            </a:r>
          </a:p>
        </p:txBody>
      </p:sp>
      <p:sp>
        <p:nvSpPr>
          <p:cNvPr id="15" name="">
            <a:extLst xmlns:a="http://schemas.openxmlformats.org/drawingml/2006/main">
              <a:ext uri="{FF2B5EF4-FFF2-40B4-BE49-F238E27FC236}">
                <a16:creationId xmlns:a16="http://schemas.microsoft.com/office/drawing/2014/main" id="{4321321E-1A03-41F2-B427-594E93F6ACDA}"/>
              </a:ext>
            </a:extLst>
          </p:cNvPr>
          <p:cNvSpPr>
            <a:spLocks xmlns:a="http://schemas.openxmlformats.org/drawingml/2006/main" noGrp="1"/>
          </p:cNvSpPr>
          <p:nvPr/>
        </p:nvSpPr>
        <p:spPr>
          <a:xfrm xmlns:a="http://schemas.openxmlformats.org/drawingml/2006/main">
            <a:off x="10658475" y="4972050"/>
            <a:ext cx="1771650" cy="19050"/>
          </a:xfrm>
          <a:prstGeom xmlns:a="http://schemas.openxmlformats.org/drawingml/2006/main" prst="rect">
            <a:avLst/>
          </a:prstGeom>
          <a:solidFill xmlns:a="http://schemas.openxmlformats.org/drawingml/2006/main">
            <a:srgbClr val="E2B77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A4F8C76-94C0-4C93-83D1-C8B7F829D34E}"/>
              </a:ext>
            </a:extLst>
          </p:cNvPr>
          <p:cNvSpPr>
            <a:spLocks xmlns:a="http://schemas.openxmlformats.org/drawingml/2006/main" noGrp="1"/>
          </p:cNvSpPr>
          <p:nvPr/>
        </p:nvSpPr>
        <p:spPr>
          <a:xfrm xmlns:a="http://schemas.openxmlformats.org/drawingml/2006/main">
            <a:off x="10915650" y="4438650"/>
            <a:ext cx="1619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B7BDC7"/>
                </a:solidFill>
                <a:latin typeface="DM Sans"/>
                <a:ea typeface="DM Sans"/>
                <a:cs typeface="DM Sans"/>
              </a:defRPr>
            </a:defPPr>
          </a:lstStyle>
          <a:p xmlns:a="http://schemas.openxmlformats.org/drawingml/2006/main">
            <a:pPr>
              <a:defRPr sz="2100" b="0">
                <a:solidFill>
                  <a:srgbClr val="B7BDC7"/>
                </a:solidFill>
                <a:latin typeface="DM Sans"/>
                <a:ea typeface="DM Sans"/>
                <a:cs typeface="DM Sans"/>
              </a:defRPr>
            </a:pPr>
            <a:r>
              <a:rPr sz="2100" b="0">
                <a:solidFill>
                  <a:srgbClr val="B7BDC7"/>
                </a:solidFill>
                <a:latin typeface="DM Sans"/>
                <a:ea typeface="DM Sans"/>
                <a:cs typeface="DM Sans"/>
              </a:rPr>
              <a:t>uses →</a:t>
            </a:r>
          </a:p>
        </p:txBody>
      </p:sp>
      <p:sp>
        <p:nvSpPr>
          <p:cNvPr id="17" name="">
            <a:extLst xmlns:a="http://schemas.openxmlformats.org/drawingml/2006/main">
              <a:ext uri="{FF2B5EF4-FFF2-40B4-BE49-F238E27FC236}">
                <a16:creationId xmlns:a16="http://schemas.microsoft.com/office/drawing/2014/main" id="{210772AD-4F12-4085-BF09-D5C14A9DB7AA}"/>
              </a:ext>
            </a:extLst>
          </p:cNvPr>
          <p:cNvSpPr>
            <a:spLocks xmlns:a="http://schemas.openxmlformats.org/drawingml/2006/main" noGrp="1"/>
          </p:cNvSpPr>
          <p:nvPr/>
        </p:nvSpPr>
        <p:spPr>
          <a:xfrm xmlns:a="http://schemas.openxmlformats.org/drawingml/2006/main">
            <a:off x="1047750" y="5819775"/>
            <a:ext cx="1581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B7BDC7"/>
                </a:solidFill>
                <a:latin typeface="DM Sans"/>
                <a:ea typeface="DM Sans"/>
                <a:cs typeface="DM Sans"/>
              </a:defRPr>
            </a:defPPr>
          </a:lstStyle>
          <a:p xmlns:a="http://schemas.openxmlformats.org/drawingml/2006/main">
            <a:pPr>
              <a:defRPr sz="2175" b="0">
                <a:solidFill>
                  <a:srgbClr val="B7BDC7"/>
                </a:solidFill>
                <a:latin typeface="DM Sans"/>
                <a:ea typeface="DM Sans"/>
                <a:cs typeface="DM Sans"/>
              </a:defRPr>
            </a:pPr>
            <a:r>
              <a:rPr sz="2175" b="0">
                <a:solidFill>
                  <a:srgbClr val="B7BDC7"/>
                </a:solidFill>
                <a:latin typeface="DM Sans"/>
                <a:ea typeface="DM Sans"/>
                <a:cs typeface="DM Sans"/>
              </a:rPr>
              <a:t>Node: id · type · digest     Edge: from · to · relation</a:t>
            </a:r>
          </a:p>
        </p:txBody>
      </p:sp>
      <p:sp>
        <p:nvSpPr>
          <p:cNvPr id="18" name="">
            <a:extLst xmlns:a="http://schemas.openxmlformats.org/drawingml/2006/main">
              <a:ext uri="{FF2B5EF4-FFF2-40B4-BE49-F238E27FC236}">
                <a16:creationId xmlns:a16="http://schemas.microsoft.com/office/drawing/2014/main" id="{40A6AB66-D030-4945-A5E7-AB59A576AB61}"/>
              </a:ext>
            </a:extLst>
          </p:cNvPr>
          <p:cNvSpPr>
            <a:spLocks xmlns:a="http://schemas.openxmlformats.org/drawingml/2006/main" noGrp="1"/>
          </p:cNvSpPr>
          <p:nvPr/>
        </p:nvSpPr>
        <p:spPr>
          <a:xfrm xmlns:a="http://schemas.openxmlformats.org/drawingml/2006/main">
            <a:off x="1047750" y="6276975"/>
            <a:ext cx="1581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B7BDC7"/>
                </a:solidFill>
                <a:latin typeface="DM Sans"/>
                <a:ea typeface="DM Sans"/>
                <a:cs typeface="DM Sans"/>
              </a:defRPr>
            </a:defPPr>
          </a:lstStyle>
          <a:p xmlns:a="http://schemas.openxmlformats.org/drawingml/2006/main">
            <a:pPr>
              <a:defRPr sz="2025" b="0">
                <a:solidFill>
                  <a:srgbClr val="B7BDC7"/>
                </a:solidFill>
                <a:latin typeface="DM Sans"/>
                <a:ea typeface="DM Sans"/>
                <a:cs typeface="DM Sans"/>
              </a:defRPr>
            </a:pPr>
            <a:r>
              <a:rPr sz="2025" b="0">
                <a:solidFill>
                  <a:srgbClr val="B7BDC7"/>
                </a:solidFill>
                <a:latin typeface="DM Sans"/>
                <a:ea typeface="DM Sans"/>
                <a:cs typeface="DM Sans"/>
              </a:rPr>
              <a:t>Manifest: every member + signature + deadline</a:t>
            </a:r>
          </a:p>
        </p:txBody>
      </p:sp>
      <p:sp>
        <p:nvSpPr>
          <p:cNvPr id="19" name="">
            <a:extLst xmlns:a="http://schemas.openxmlformats.org/drawingml/2006/main">
              <a:ext uri="{FF2B5EF4-FFF2-40B4-BE49-F238E27FC236}">
                <a16:creationId xmlns:a16="http://schemas.microsoft.com/office/drawing/2014/main" id="{980EBDF4-F7EB-4B24-B5BF-9561B0977B80}"/>
              </a:ext>
            </a:extLst>
          </p:cNvPr>
          <p:cNvSpPr>
            <a:spLocks xmlns:a="http://schemas.openxmlformats.org/drawingml/2006/main" noGrp="1"/>
          </p:cNvSpPr>
          <p:nvPr/>
        </p:nvSpPr>
        <p:spPr>
          <a:xfrm xmlns:a="http://schemas.openxmlformats.org/drawingml/2006/main">
            <a:off x="1047750" y="6838950"/>
            <a:ext cx="16192500" cy="19050"/>
          </a:xfrm>
          <a:prstGeom xmlns:a="http://schemas.openxmlformats.org/drawingml/2006/main" prst="rect">
            <a:avLst/>
          </a:prstGeom>
          <a:solidFill xmlns:a="http://schemas.openxmlformats.org/drawingml/2006/main">
            <a:srgbClr val="34425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C7234D1-B2E1-4D0B-B3FA-3F109BAD83A3}"/>
              </a:ext>
            </a:extLst>
          </p:cNvPr>
          <p:cNvSpPr>
            <a:spLocks xmlns:a="http://schemas.openxmlformats.org/drawingml/2006/main" noGrp="1"/>
          </p:cNvSpPr>
          <p:nvPr/>
        </p:nvSpPr>
        <p:spPr>
          <a:xfrm xmlns:a="http://schemas.openxmlformats.org/drawingml/2006/main">
            <a:off x="1047750" y="7248525"/>
            <a:ext cx="4524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7FB8F4"/>
                </a:solidFill>
                <a:latin typeface="DM Sans"/>
                <a:ea typeface="DM Sans"/>
                <a:cs typeface="DM Sans"/>
              </a:defRPr>
            </a:defPPr>
          </a:lstStyle>
          <a:p xmlns:a="http://schemas.openxmlformats.org/drawingml/2006/main">
            <a:pPr>
              <a:defRPr sz="2400" b="0">
                <a:solidFill>
                  <a:srgbClr val="7FB8F4"/>
                </a:solidFill>
                <a:latin typeface="DM Sans"/>
                <a:ea typeface="DM Sans"/>
                <a:cs typeface="DM Sans"/>
              </a:defRPr>
            </a:pPr>
            <a:r>
              <a:rPr sz="2400" b="0">
                <a:solidFill>
                  <a:srgbClr val="7FB8F4"/>
                </a:solidFill>
                <a:latin typeface="DM Sans"/>
                <a:ea typeface="DM Sans"/>
                <a:cs typeface="DM Sans"/>
              </a:rPr>
              <a:t>ARKIV</a:t>
            </a:r>
          </a:p>
        </p:txBody>
      </p:sp>
      <p:sp>
        <p:nvSpPr>
          <p:cNvPr id="21" name="">
            <a:extLst xmlns:a="http://schemas.openxmlformats.org/drawingml/2006/main">
              <a:ext uri="{FF2B5EF4-FFF2-40B4-BE49-F238E27FC236}">
                <a16:creationId xmlns:a16="http://schemas.microsoft.com/office/drawing/2014/main" id="{CDF2CC46-10DB-4D88-A38C-61A6623237B3}"/>
              </a:ext>
            </a:extLst>
          </p:cNvPr>
          <p:cNvSpPr>
            <a:spLocks xmlns:a="http://schemas.openxmlformats.org/drawingml/2006/main" noGrp="1"/>
          </p:cNvSpPr>
          <p:nvPr/>
        </p:nvSpPr>
        <p:spPr>
          <a:xfrm xmlns:a="http://schemas.openxmlformats.org/drawingml/2006/main">
            <a:off x="1047750" y="79724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7F7F5"/>
                </a:solidFill>
                <a:latin typeface="DM Sans"/>
                <a:ea typeface="DM Sans"/>
                <a:cs typeface="DM Sans"/>
              </a:defRPr>
            </a:defPPr>
          </a:lstStyle>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Indexed public entities</a:t>
            </a:r>
          </a:p>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Creator + expiry + queries</a:t>
            </a:r>
          </a:p>
        </p:txBody>
      </p:sp>
      <p:sp>
        <p:nvSpPr>
          <p:cNvPr id="22" name="">
            <a:extLst xmlns:a="http://schemas.openxmlformats.org/drawingml/2006/main">
              <a:ext uri="{FF2B5EF4-FFF2-40B4-BE49-F238E27FC236}">
                <a16:creationId xmlns:a16="http://schemas.microsoft.com/office/drawing/2014/main" id="{A6F1B044-23D4-4690-8D65-4762F05D3F05}"/>
              </a:ext>
            </a:extLst>
          </p:cNvPr>
          <p:cNvSpPr>
            <a:spLocks xmlns:a="http://schemas.openxmlformats.org/drawingml/2006/main" noGrp="1"/>
          </p:cNvSpPr>
          <p:nvPr/>
        </p:nvSpPr>
        <p:spPr>
          <a:xfrm xmlns:a="http://schemas.openxmlformats.org/drawingml/2006/main">
            <a:off x="6762750" y="7248525"/>
            <a:ext cx="4524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7FB8F4"/>
                </a:solidFill>
                <a:latin typeface="DM Sans"/>
                <a:ea typeface="DM Sans"/>
                <a:cs typeface="DM Sans"/>
              </a:defRPr>
            </a:defPPr>
          </a:lstStyle>
          <a:p xmlns:a="http://schemas.openxmlformats.org/drawingml/2006/main">
            <a:pPr>
              <a:defRPr sz="2400" b="0">
                <a:solidFill>
                  <a:srgbClr val="7FB8F4"/>
                </a:solidFill>
                <a:latin typeface="DM Sans"/>
                <a:ea typeface="DM Sans"/>
                <a:cs typeface="DM Sans"/>
              </a:defRPr>
            </a:pPr>
            <a:r>
              <a:rPr sz="2400" b="0">
                <a:solidFill>
                  <a:srgbClr val="7FB8F4"/>
                </a:solidFill>
                <a:latin typeface="DM Sans"/>
                <a:ea typeface="DM Sans"/>
                <a:cs typeface="DM Sans"/>
              </a:rPr>
              <a:t>GRAPH SDK</a:t>
            </a:r>
          </a:p>
        </p:txBody>
      </p:sp>
      <p:sp>
        <p:nvSpPr>
          <p:cNvPr id="23" name="">
            <a:extLst xmlns:a="http://schemas.openxmlformats.org/drawingml/2006/main">
              <a:ext uri="{FF2B5EF4-FFF2-40B4-BE49-F238E27FC236}">
                <a16:creationId xmlns:a16="http://schemas.microsoft.com/office/drawing/2014/main" id="{4DD6800C-1BE0-459F-A468-45341CB6F8A3}"/>
              </a:ext>
            </a:extLst>
          </p:cNvPr>
          <p:cNvSpPr>
            <a:spLocks xmlns:a="http://schemas.openxmlformats.org/drawingml/2006/main" noGrp="1"/>
          </p:cNvSpPr>
          <p:nvPr/>
        </p:nvSpPr>
        <p:spPr>
          <a:xfrm xmlns:a="http://schemas.openxmlformats.org/drawingml/2006/main">
            <a:off x="6762750" y="79724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7F7F5"/>
                </a:solidFill>
                <a:latin typeface="DM Sans"/>
                <a:ea typeface="DM Sans"/>
                <a:cs typeface="DM Sans"/>
              </a:defRPr>
            </a:defPPr>
          </a:lstStyle>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Signed membership</a:t>
            </a:r>
          </a:p>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Bounded local traversal</a:t>
            </a:r>
          </a:p>
        </p:txBody>
      </p:sp>
      <p:sp>
        <p:nvSpPr>
          <p:cNvPr id="24" name="">
            <a:extLst xmlns:a="http://schemas.openxmlformats.org/drawingml/2006/main">
              <a:ext uri="{FF2B5EF4-FFF2-40B4-BE49-F238E27FC236}">
                <a16:creationId xmlns:a16="http://schemas.microsoft.com/office/drawing/2014/main" id="{339517B7-4932-4EC3-AB3E-C56B5A61FA83}"/>
              </a:ext>
            </a:extLst>
          </p:cNvPr>
          <p:cNvSpPr>
            <a:spLocks xmlns:a="http://schemas.openxmlformats.org/drawingml/2006/main" noGrp="1"/>
          </p:cNvSpPr>
          <p:nvPr/>
        </p:nvSpPr>
        <p:spPr>
          <a:xfrm xmlns:a="http://schemas.openxmlformats.org/drawingml/2006/main">
            <a:off x="12430125" y="72485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E2B777"/>
                </a:solidFill>
                <a:latin typeface="DM Sans"/>
                <a:ea typeface="DM Sans"/>
                <a:cs typeface="DM Sans"/>
              </a:defRPr>
            </a:defPPr>
          </a:lstStyle>
          <a:p xmlns:a="http://schemas.openxmlformats.org/drawingml/2006/main">
            <a:pPr>
              <a:defRPr sz="2400" b="0">
                <a:solidFill>
                  <a:srgbClr val="E2B777"/>
                </a:solidFill>
                <a:latin typeface="DM Sans"/>
                <a:ea typeface="DM Sans"/>
                <a:cs typeface="DM Sans"/>
              </a:defRPr>
            </a:pPr>
            <a:r>
              <a:rPr sz="2400" b="0">
                <a:solidFill>
                  <a:srgbClr val="E2B777"/>
                </a:solidFill>
                <a:latin typeface="DM Sans"/>
                <a:ea typeface="DM Sans"/>
                <a:cs typeface="DM Sans"/>
              </a:rPr>
              <a:t>AI PASSPORT</a:t>
            </a:r>
          </a:p>
        </p:txBody>
      </p:sp>
      <p:sp>
        <p:nvSpPr>
          <p:cNvPr id="25" name="">
            <a:extLst xmlns:a="http://schemas.openxmlformats.org/drawingml/2006/main">
              <a:ext uri="{FF2B5EF4-FFF2-40B4-BE49-F238E27FC236}">
                <a16:creationId xmlns:a16="http://schemas.microsoft.com/office/drawing/2014/main" id="{3E3B50C3-4BF9-4FFA-B98C-ADF956F043AE}"/>
              </a:ext>
            </a:extLst>
          </p:cNvPr>
          <p:cNvSpPr>
            <a:spLocks xmlns:a="http://schemas.openxmlformats.org/drawingml/2006/main" noGrp="1"/>
          </p:cNvSpPr>
          <p:nvPr/>
        </p:nvSpPr>
        <p:spPr>
          <a:xfrm xmlns:a="http://schemas.openxmlformats.org/drawingml/2006/main">
            <a:off x="12430125" y="79724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7F7F5"/>
                </a:solidFill>
                <a:latin typeface="DM Sans"/>
                <a:ea typeface="DM Sans"/>
                <a:cs typeface="DM Sans"/>
              </a:defRPr>
            </a:defPPr>
          </a:lstStyle>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Review admission</a:t>
            </a:r>
          </a:p>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Context + source checks</a:t>
            </a:r>
          </a:p>
        </p:txBody>
      </p:sp>
    </p:spTree>
    <p:extLst>
      <p:ext uri="{BB962C8B-B14F-4D97-AF65-F5344CB8AC3E}">
        <p14:creationId xmlns:p14="http://schemas.microsoft.com/office/powerpoint/2010/main" val="1025096410"/>
      </p:ext>
    </p:extLst>
  </p:cSld>
</p:sld>
</file>

<file path=ppt/slides/slide4.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96FDB1CB-3CA2-411E-954F-599EF6514129}"/>
              </a:ext>
            </a:extLst>
          </p:cNvPr>
          <p:cNvPicPr>
            <a:picLocks xmlns:a="http://schemas.openxmlformats.org/drawingml/2006/main" noChangeAspect="1"/>
          </p:cNvPicPr>
          <p:nvPr/>
        </p:nvPicPr>
        <p:blipFill>
          <a:blip xmlns:r="http://schemas.openxmlformats.org/officeDocument/2006/relationships" xmlns:a="http://schemas.openxmlformats.org/drawingml/2006/main" r:embed="R3663251f30fb436d"/>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0B07BF-06F6-4190-B1CA-7BE0210DFE50}"/>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3" name="">
            <a:extLst xmlns:a="http://schemas.openxmlformats.org/drawingml/2006/main">
              <a:ext uri="{FF2B5EF4-FFF2-40B4-BE49-F238E27FC236}">
                <a16:creationId xmlns:a16="http://schemas.microsoft.com/office/drawing/2014/main" id="{AB7789F3-9A49-48D4-81E3-DBF6A502C8D7}"/>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04 / 08</a:t>
            </a:r>
          </a:p>
        </p:txBody>
      </p:sp>
      <p:sp>
        <p:nvSpPr>
          <p:cNvPr id="4" name="">
            <a:extLst xmlns:a="http://schemas.openxmlformats.org/drawingml/2006/main">
              <a:ext uri="{FF2B5EF4-FFF2-40B4-BE49-F238E27FC236}">
                <a16:creationId xmlns:a16="http://schemas.microsoft.com/office/drawing/2014/main" id="{425F923E-09DC-428C-8C04-E498DBE70125}"/>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5" name="">
            <a:extLst xmlns:a="http://schemas.openxmlformats.org/drawingml/2006/main">
              <a:ext uri="{FF2B5EF4-FFF2-40B4-BE49-F238E27FC236}">
                <a16:creationId xmlns:a16="http://schemas.microsoft.com/office/drawing/2014/main" id="{5F7BA71D-C0B0-476B-876B-2E807B52591C}"/>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6" name="">
            <a:extLst xmlns:a="http://schemas.openxmlformats.org/drawingml/2006/main">
              <a:ext uri="{FF2B5EF4-FFF2-40B4-BE49-F238E27FC236}">
                <a16:creationId xmlns:a16="http://schemas.microsoft.com/office/drawing/2014/main" id="{0ADCB589-93F6-496B-AD62-3B09DEBC0846}"/>
              </a:ext>
            </a:extLst>
          </p:cNvPr>
          <p:cNvSpPr>
            <a:spLocks xmlns:a="http://schemas.openxmlformats.org/drawingml/2006/main" noGrp="1"/>
          </p:cNvSpPr>
          <p:nvPr/>
        </p:nvSpPr>
        <p:spPr>
          <a:xfrm xmlns:a="http://schemas.openxmlformats.org/drawingml/2006/main">
            <a:off x="1047750" y="1581150"/>
            <a:ext cx="16002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450" b="0">
                <a:solidFill>
                  <a:srgbClr val="F7F7F5"/>
                </a:solidFill>
                <a:latin typeface="DM Sans"/>
                <a:ea typeface="DM Sans"/>
                <a:cs typeface="DM Sans"/>
              </a:defRPr>
            </a:defPPr>
          </a:lstStyle>
          <a:p xmlns:a="http://schemas.openxmlformats.org/drawingml/2006/main">
            <a:pPr>
              <a:defRPr sz="6450" b="0">
                <a:solidFill>
                  <a:srgbClr val="F7F7F5"/>
                </a:solidFill>
                <a:latin typeface="DM Sans"/>
                <a:ea typeface="DM Sans"/>
                <a:cs typeface="DM Sans"/>
              </a:defRPr>
            </a:pPr>
            <a:r>
              <a:rPr sz="6450" b="0">
                <a:solidFill>
                  <a:srgbClr val="F7F7F5"/>
                </a:solidFill>
                <a:latin typeface="DM Sans"/>
                <a:ea typeface="DM Sans"/>
                <a:cs typeface="DM Sans"/>
              </a:rPr>
              <a:t>Current evidence, each request</a:t>
            </a:r>
          </a:p>
        </p:txBody>
      </p:sp>
      <p:sp>
        <p:nvSpPr>
          <p:cNvPr id="7" name="">
            <a:extLst xmlns:a="http://schemas.openxmlformats.org/drawingml/2006/main">
              <a:ext uri="{FF2B5EF4-FFF2-40B4-BE49-F238E27FC236}">
                <a16:creationId xmlns:a16="http://schemas.microsoft.com/office/drawing/2014/main" id="{BAE512AB-79D6-4581-B543-006F8D5D5838}"/>
              </a:ext>
            </a:extLst>
          </p:cNvPr>
          <p:cNvSpPr>
            <a:spLocks xmlns:a="http://schemas.openxmlformats.org/drawingml/2006/main" noGrp="1"/>
          </p:cNvSpPr>
          <p:nvPr/>
        </p:nvSpPr>
        <p:spPr>
          <a:xfrm xmlns:a="http://schemas.openxmlformats.org/drawingml/2006/main">
            <a:off x="1047750" y="3371850"/>
            <a:ext cx="990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0">
                <a:solidFill>
                  <a:srgbClr val="F7F7F5"/>
                </a:solidFill>
                <a:latin typeface="DM Sans"/>
                <a:ea typeface="DM Sans"/>
                <a:cs typeface="DM Sans"/>
              </a:defRPr>
            </a:defPPr>
          </a:lstStyle>
          <a:p xmlns:a="http://schemas.openxmlformats.org/drawingml/2006/main">
            <a:pPr>
              <a:defRPr sz="3450" b="0">
                <a:solidFill>
                  <a:srgbClr val="F7F7F5"/>
                </a:solidFill>
                <a:latin typeface="DM Sans"/>
                <a:ea typeface="DM Sans"/>
                <a:cs typeface="DM Sans"/>
              </a:defRPr>
            </a:pPr>
            <a:r>
              <a:rPr sz="3450" b="0">
                <a:solidFill>
                  <a:srgbClr val="F7F7F5"/>
                </a:solidFill>
                <a:latin typeface="DM Sans"/>
                <a:ea typeface="DM Sans"/>
                <a:cs typeface="DM Sans"/>
              </a:rPr>
              <a:t>Authenticated root updates</a:t>
            </a:r>
          </a:p>
        </p:txBody>
      </p:sp>
      <p:sp>
        <p:nvSpPr>
          <p:cNvPr id="8" name="">
            <a:extLst xmlns:a="http://schemas.openxmlformats.org/drawingml/2006/main">
              <a:ext uri="{FF2B5EF4-FFF2-40B4-BE49-F238E27FC236}">
                <a16:creationId xmlns:a16="http://schemas.microsoft.com/office/drawing/2014/main" id="{EF32DCD7-8818-43A0-87E1-B8415979D899}"/>
              </a:ext>
            </a:extLst>
          </p:cNvPr>
          <p:cNvSpPr>
            <a:spLocks xmlns:a="http://schemas.openxmlformats.org/drawingml/2006/main" noGrp="1"/>
          </p:cNvSpPr>
          <p:nvPr/>
        </p:nvSpPr>
        <p:spPr>
          <a:xfrm xmlns:a="http://schemas.openxmlformats.org/drawingml/2006/main">
            <a:off x="1047750" y="42005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7FB8F4"/>
                </a:solidFill>
                <a:latin typeface="DM Sans"/>
                <a:ea typeface="DM Sans"/>
                <a:cs typeface="DM Sans"/>
              </a:defRPr>
            </a:defPPr>
          </a:lstStyle>
          <a:p xmlns:a="http://schemas.openxmlformats.org/drawingml/2006/main">
            <a:pPr>
              <a:defRPr sz="2400" b="0">
                <a:solidFill>
                  <a:srgbClr val="7FB8F4"/>
                </a:solidFill>
                <a:latin typeface="DM Sans"/>
                <a:ea typeface="DM Sans"/>
                <a:cs typeface="DM Sans"/>
              </a:defRPr>
            </a:pPr>
            <a:r>
              <a:rPr sz="2400" b="0">
                <a:solidFill>
                  <a:srgbClr val="7FB8F4"/>
                </a:solidFill>
                <a:latin typeface="DM Sans"/>
                <a:ea typeface="DM Sans"/>
                <a:cs typeface="DM Sans"/>
              </a:rPr>
              <a:t>2 signed revisions · 8 entities · 1 transaction</a:t>
            </a:r>
          </a:p>
        </p:txBody>
      </p:sp>
      <p:sp>
        <p:nvSpPr>
          <p:cNvPr id="9" name="">
            <a:extLst xmlns:a="http://schemas.openxmlformats.org/drawingml/2006/main">
              <a:ext uri="{FF2B5EF4-FFF2-40B4-BE49-F238E27FC236}">
                <a16:creationId xmlns:a16="http://schemas.microsoft.com/office/drawing/2014/main" id="{EF76AD1A-D8BD-4A28-BEA7-3FD41DFF83C7}"/>
              </a:ext>
            </a:extLst>
          </p:cNvPr>
          <p:cNvSpPr>
            <a:spLocks xmlns:a="http://schemas.openxmlformats.org/drawingml/2006/main" noGrp="1"/>
          </p:cNvSpPr>
          <p:nvPr/>
        </p:nvSpPr>
        <p:spPr>
          <a:xfrm xmlns:a="http://schemas.openxmlformats.org/drawingml/2006/main">
            <a:off x="1047750" y="5572125"/>
            <a:ext cx="866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0">
                <a:solidFill>
                  <a:srgbClr val="F7F7F5"/>
                </a:solidFill>
                <a:latin typeface="DM Sans"/>
                <a:ea typeface="DM Sans"/>
                <a:cs typeface="DM Sans"/>
              </a:defRPr>
            </a:defPPr>
          </a:lstStyle>
          <a:p xmlns:a="http://schemas.openxmlformats.org/drawingml/2006/main">
            <a:pPr>
              <a:defRPr sz="3450" b="0">
                <a:solidFill>
                  <a:srgbClr val="F7F7F5"/>
                </a:solidFill>
                <a:latin typeface="DM Sans"/>
                <a:ea typeface="DM Sans"/>
                <a:cs typeface="DM Sans"/>
              </a:defRPr>
            </a:pPr>
            <a:r>
              <a:rPr sz="3450" b="0">
                <a:solidFill>
                  <a:srgbClr val="F7F7F5"/>
                </a:solidFill>
                <a:latin typeface="DM Sans"/>
                <a:ea typeface="DM Sans"/>
                <a:cs typeface="DM Sans"/>
              </a:rPr>
              <a:t>Review withdrawal</a:t>
            </a:r>
          </a:p>
        </p:txBody>
      </p:sp>
      <p:sp>
        <p:nvSpPr>
          <p:cNvPr id="10" name="">
            <a:extLst xmlns:a="http://schemas.openxmlformats.org/drawingml/2006/main">
              <a:ext uri="{FF2B5EF4-FFF2-40B4-BE49-F238E27FC236}">
                <a16:creationId xmlns:a16="http://schemas.microsoft.com/office/drawing/2014/main" id="{79EBFB19-C2FF-44F6-A890-3377BEDF9200}"/>
              </a:ext>
            </a:extLst>
          </p:cNvPr>
          <p:cNvSpPr>
            <a:spLocks xmlns:a="http://schemas.openxmlformats.org/drawingml/2006/main" noGrp="1"/>
          </p:cNvSpPr>
          <p:nvPr/>
        </p:nvSpPr>
        <p:spPr>
          <a:xfrm xmlns:a="http://schemas.openxmlformats.org/drawingml/2006/main">
            <a:off x="1047750" y="6438900"/>
            <a:ext cx="809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0">
                <a:solidFill>
                  <a:srgbClr val="7FB8F4"/>
                </a:solidFill>
                <a:latin typeface="DM Sans"/>
                <a:ea typeface="DM Sans"/>
                <a:cs typeface="DM Sans"/>
              </a:defRPr>
            </a:defPPr>
          </a:lstStyle>
          <a:p xmlns:a="http://schemas.openxmlformats.org/drawingml/2006/main">
            <a:pPr>
              <a:defRPr sz="2775" b="0">
                <a:solidFill>
                  <a:srgbClr val="7FB8F4"/>
                </a:solidFill>
                <a:latin typeface="DM Sans"/>
                <a:ea typeface="DM Sans"/>
                <a:cs typeface="DM Sans"/>
              </a:defRPr>
            </a:pPr>
            <a:r>
              <a:rPr sz="2775" b="0">
                <a:solidFill>
                  <a:srgbClr val="7FB8F4"/>
                </a:solidFill>
                <a:latin typeface="DM Sans"/>
                <a:ea typeface="DM Sans"/>
                <a:cs typeface="DM Sans"/>
              </a:rPr>
              <a:t>A accepts     B accepts</a:t>
            </a:r>
          </a:p>
        </p:txBody>
      </p:sp>
      <p:sp>
        <p:nvSpPr>
          <p:cNvPr id="11" name="">
            <a:extLst xmlns:a="http://schemas.openxmlformats.org/drawingml/2006/main">
              <a:ext uri="{FF2B5EF4-FFF2-40B4-BE49-F238E27FC236}">
                <a16:creationId xmlns:a16="http://schemas.microsoft.com/office/drawing/2014/main" id="{33E25E91-ABA1-4BC6-A227-75105388EA35}"/>
              </a:ext>
            </a:extLst>
          </p:cNvPr>
          <p:cNvSpPr>
            <a:spLocks xmlns:a="http://schemas.openxmlformats.org/drawingml/2006/main" noGrp="1"/>
          </p:cNvSpPr>
          <p:nvPr/>
        </p:nvSpPr>
        <p:spPr>
          <a:xfrm xmlns:a="http://schemas.openxmlformats.org/drawingml/2006/main">
            <a:off x="1047750" y="7115175"/>
            <a:ext cx="809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0">
                <a:solidFill>
                  <a:srgbClr val="E2B777"/>
                </a:solidFill>
                <a:latin typeface="DM Sans"/>
                <a:ea typeface="DM Sans"/>
                <a:cs typeface="DM Sans"/>
              </a:defRPr>
            </a:defPPr>
          </a:lstStyle>
          <a:p xmlns:a="http://schemas.openxmlformats.org/drawingml/2006/main">
            <a:pPr>
              <a:defRPr sz="2775" b="0">
                <a:solidFill>
                  <a:srgbClr val="E2B777"/>
                </a:solidFill>
                <a:latin typeface="DM Sans"/>
                <a:ea typeface="DM Sans"/>
                <a:cs typeface="DM Sans"/>
              </a:defRPr>
            </a:pPr>
            <a:r>
              <a:rPr sz="2775" b="0">
                <a:solidFill>
                  <a:srgbClr val="E2B777"/>
                </a:solidFill>
                <a:latin typeface="DM Sans"/>
                <a:ea typeface="DM Sans"/>
                <a:cs typeface="DM Sans"/>
              </a:rPr>
              <a:t>Withdrawal observed</a:t>
            </a:r>
          </a:p>
        </p:txBody>
      </p:sp>
      <p:sp>
        <p:nvSpPr>
          <p:cNvPr id="12" name="">
            <a:extLst xmlns:a="http://schemas.openxmlformats.org/drawingml/2006/main">
              <a:ext uri="{FF2B5EF4-FFF2-40B4-BE49-F238E27FC236}">
                <a16:creationId xmlns:a16="http://schemas.microsoft.com/office/drawing/2014/main" id="{8A9F1B2C-393F-435B-A9A2-15E9B8B3F465}"/>
              </a:ext>
            </a:extLst>
          </p:cNvPr>
          <p:cNvSpPr>
            <a:spLocks xmlns:a="http://schemas.openxmlformats.org/drawingml/2006/main" noGrp="1"/>
          </p:cNvSpPr>
          <p:nvPr/>
        </p:nvSpPr>
        <p:spPr>
          <a:xfrm xmlns:a="http://schemas.openxmlformats.org/drawingml/2006/main">
            <a:off x="1047750" y="7791450"/>
            <a:ext cx="809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0">
                <a:solidFill>
                  <a:srgbClr val="F7F7F5"/>
                </a:solidFill>
                <a:latin typeface="DM Sans"/>
                <a:ea typeface="DM Sans"/>
                <a:cs typeface="DM Sans"/>
              </a:defRPr>
            </a:defPPr>
          </a:lstStyle>
          <a:p xmlns:a="http://schemas.openxmlformats.org/drawingml/2006/main">
            <a:pPr>
              <a:defRPr sz="2775" b="0">
                <a:solidFill>
                  <a:srgbClr val="F7F7F5"/>
                </a:solidFill>
                <a:latin typeface="DM Sans"/>
                <a:ea typeface="DM Sans"/>
                <a:cs typeface="DM Sans"/>
              </a:defRPr>
            </a:pPr>
            <a:r>
              <a:rPr sz="2775" b="0">
                <a:solidFill>
                  <a:srgbClr val="F7F7F5"/>
                </a:solidFill>
                <a:latin typeface="DM Sans"/>
                <a:ea typeface="DM Sans"/>
                <a:cs typeface="DM Sans"/>
              </a:rPr>
              <a:t>B refuses     A refuses</a:t>
            </a:r>
          </a:p>
        </p:txBody>
      </p:sp>
      <p:sp>
        <p:nvSpPr>
          <p:cNvPr id="13" name="">
            <a:extLst xmlns:a="http://schemas.openxmlformats.org/drawingml/2006/main">
              <a:ext uri="{FF2B5EF4-FFF2-40B4-BE49-F238E27FC236}">
                <a16:creationId xmlns:a16="http://schemas.microsoft.com/office/drawing/2014/main" id="{6DAE272D-BD40-47CE-B507-3B2A1E77C8E9}"/>
              </a:ext>
            </a:extLst>
          </p:cNvPr>
          <p:cNvSpPr>
            <a:spLocks xmlns:a="http://schemas.openxmlformats.org/drawingml/2006/main" noGrp="1"/>
          </p:cNvSpPr>
          <p:nvPr/>
        </p:nvSpPr>
        <p:spPr>
          <a:xfrm xmlns:a="http://schemas.openxmlformats.org/drawingml/2006/main">
            <a:off x="1047750" y="8810625"/>
            <a:ext cx="1590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B7BDC7"/>
                </a:solidFill>
                <a:latin typeface="DM Sans"/>
                <a:ea typeface="DM Sans"/>
                <a:cs typeface="DM Sans"/>
              </a:defRPr>
            </a:defPPr>
          </a:lstStyle>
          <a:p xmlns:a="http://schemas.openxmlformats.org/drawingml/2006/main">
            <a:pPr>
              <a:defRPr sz="2100" b="0">
                <a:solidFill>
                  <a:srgbClr val="B7BDC7"/>
                </a:solidFill>
                <a:latin typeface="DM Sans"/>
                <a:ea typeface="DM Sans"/>
                <a:cs typeface="DM Sans"/>
              </a:defRPr>
            </a:pPr>
            <a:r>
              <a:rPr sz="2100" b="0">
                <a:solidFill>
                  <a:srgbClr val="B7BDC7"/>
                </a:solidFill>
                <a:latin typeface="DM Sans"/>
                <a:ea typeface="DM Sans"/>
                <a:cs typeface="DM Sans"/>
              </a:rPr>
              <a:t>Actual project-run transactions. Retained history protects subsequent requests.</a:t>
            </a:r>
          </a:p>
        </p:txBody>
      </p:sp>
    </p:spTree>
    <p:extLst>
      <p:ext uri="{BB962C8B-B14F-4D97-AF65-F5344CB8AC3E}">
        <p14:creationId xmlns:p14="http://schemas.microsoft.com/office/powerpoint/2010/main" val="1256355312"/>
      </p:ext>
    </p:extLst>
  </p:cSld>
</p:sld>
</file>

<file path=ppt/slides/slide5.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036CADFB-A52D-4E2B-957B-2EC6E7F40042}"/>
              </a:ext>
            </a:extLst>
          </p:cNvPr>
          <p:cNvPicPr>
            <a:picLocks xmlns:a="http://schemas.openxmlformats.org/drawingml/2006/main" noChangeAspect="1"/>
          </p:cNvPicPr>
          <p:nvPr/>
        </p:nvPicPr>
        <p:blipFill>
          <a:blip xmlns:r="http://schemas.openxmlformats.org/officeDocument/2006/relationships" xmlns:a="http://schemas.openxmlformats.org/drawingml/2006/main" r:embed="Rd048ea0b59384b49"/>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3FD19B0-2019-446C-9CA4-4D61899F88F8}"/>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3" name="">
            <a:extLst xmlns:a="http://schemas.openxmlformats.org/drawingml/2006/main">
              <a:ext uri="{FF2B5EF4-FFF2-40B4-BE49-F238E27FC236}">
                <a16:creationId xmlns:a16="http://schemas.microsoft.com/office/drawing/2014/main" id="{1F44E94D-D017-4CA2-B672-57C5147FF345}"/>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05 / 08</a:t>
            </a:r>
          </a:p>
        </p:txBody>
      </p:sp>
      <p:sp>
        <p:nvSpPr>
          <p:cNvPr id="4" name="">
            <a:extLst xmlns:a="http://schemas.openxmlformats.org/drawingml/2006/main">
              <a:ext uri="{FF2B5EF4-FFF2-40B4-BE49-F238E27FC236}">
                <a16:creationId xmlns:a16="http://schemas.microsoft.com/office/drawing/2014/main" id="{222E0514-61A7-4F9D-AD12-E613EB870924}"/>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5" name="">
            <a:extLst xmlns:a="http://schemas.openxmlformats.org/drawingml/2006/main">
              <a:ext uri="{FF2B5EF4-FFF2-40B4-BE49-F238E27FC236}">
                <a16:creationId xmlns:a16="http://schemas.microsoft.com/office/drawing/2014/main" id="{AB971395-4368-49DD-808C-3CBF015EA4E1}"/>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6" name="">
            <a:extLst xmlns:a="http://schemas.openxmlformats.org/drawingml/2006/main">
              <a:ext uri="{FF2B5EF4-FFF2-40B4-BE49-F238E27FC236}">
                <a16:creationId xmlns:a16="http://schemas.microsoft.com/office/drawing/2014/main" id="{82D51103-E47F-4946-8294-2836D7EC5906}"/>
              </a:ext>
            </a:extLst>
          </p:cNvPr>
          <p:cNvSpPr>
            <a:spLocks xmlns:a="http://schemas.openxmlformats.org/drawingml/2006/main" noGrp="1"/>
          </p:cNvSpPr>
          <p:nvPr/>
        </p:nvSpPr>
        <p:spPr>
          <a:xfrm xmlns:a="http://schemas.openxmlformats.org/drawingml/2006/main">
            <a:off x="1047750" y="1581150"/>
            <a:ext cx="16002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450" b="0">
                <a:solidFill>
                  <a:srgbClr val="F7F7F5"/>
                </a:solidFill>
                <a:latin typeface="DM Sans"/>
                <a:ea typeface="DM Sans"/>
                <a:cs typeface="DM Sans"/>
              </a:defRPr>
            </a:defPPr>
          </a:lstStyle>
          <a:p xmlns:a="http://schemas.openxmlformats.org/drawingml/2006/main">
            <a:pPr>
              <a:defRPr sz="6450" b="0">
                <a:solidFill>
                  <a:srgbClr val="F7F7F5"/>
                </a:solidFill>
                <a:latin typeface="DM Sans"/>
                <a:ea typeface="DM Sans"/>
                <a:cs typeface="DM Sans"/>
              </a:defRPr>
            </a:pPr>
            <a:r>
              <a:rPr sz="6450" b="0">
                <a:solidFill>
                  <a:srgbClr val="F7F7F5"/>
                </a:solidFill>
                <a:latin typeface="DM Sans"/>
                <a:ea typeface="DM Sans"/>
                <a:cs typeface="DM Sans"/>
              </a:rPr>
              <a:t>One toolkit. Useful AI tools.</a:t>
            </a:r>
          </a:p>
        </p:txBody>
      </p:sp>
      <p:sp>
        <p:nvSpPr>
          <p:cNvPr id="7" name="">
            <a:extLst xmlns:a="http://schemas.openxmlformats.org/drawingml/2006/main">
              <a:ext uri="{FF2B5EF4-FFF2-40B4-BE49-F238E27FC236}">
                <a16:creationId xmlns:a16="http://schemas.microsoft.com/office/drawing/2014/main" id="{C6A1EB53-C4B1-4FC2-97EE-A06F2E556EBA}"/>
              </a:ext>
            </a:extLst>
          </p:cNvPr>
          <p:cNvSpPr>
            <a:spLocks xmlns:a="http://schemas.openxmlformats.org/drawingml/2006/main" noGrp="1"/>
          </p:cNvSpPr>
          <p:nvPr/>
        </p:nvSpPr>
        <p:spPr>
          <a:xfrm xmlns:a="http://schemas.openxmlformats.org/drawingml/2006/main">
            <a:off x="1047750" y="31051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7FB8F4"/>
                </a:solidFill>
                <a:latin typeface="DM Sans"/>
                <a:ea typeface="DM Sans"/>
                <a:cs typeface="DM Sans"/>
              </a:defRPr>
            </a:defPPr>
          </a:lstStyle>
          <a:p xmlns:a="http://schemas.openxmlformats.org/drawingml/2006/main">
            <a:pPr>
              <a:defRPr sz="2625" b="0">
                <a:solidFill>
                  <a:srgbClr val="7FB8F4"/>
                </a:solidFill>
                <a:latin typeface="DM Sans"/>
                <a:ea typeface="DM Sans"/>
                <a:cs typeface="DM Sans"/>
              </a:defRPr>
            </a:pPr>
            <a:r>
              <a:rPr sz="2625" b="0">
                <a:solidFill>
                  <a:srgbClr val="7FB8F4"/>
                </a:solidFill>
                <a:latin typeface="DM Sans"/>
                <a:ea typeface="DM Sans"/>
                <a:cs typeface="DM Sans"/>
              </a:rPr>
              <a:t>AI Passport reference app</a:t>
            </a:r>
          </a:p>
        </p:txBody>
      </p:sp>
      <p:sp>
        <p:nvSpPr>
          <p:cNvPr id="8" name="">
            <a:extLst xmlns:a="http://schemas.openxmlformats.org/drawingml/2006/main">
              <a:ext uri="{FF2B5EF4-FFF2-40B4-BE49-F238E27FC236}">
                <a16:creationId xmlns:a16="http://schemas.microsoft.com/office/drawing/2014/main" id="{AF0B8354-200D-4B57-94AB-BD7907988711}"/>
              </a:ext>
            </a:extLst>
          </p:cNvPr>
          <p:cNvSpPr>
            <a:spLocks xmlns:a="http://schemas.openxmlformats.org/drawingml/2006/main" noGrp="1"/>
          </p:cNvSpPr>
          <p:nvPr/>
        </p:nvSpPr>
        <p:spPr>
          <a:xfrm xmlns:a="http://schemas.openxmlformats.org/drawingml/2006/main">
            <a:off x="1047750" y="4324350"/>
            <a:ext cx="781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0">
                <a:solidFill>
                  <a:srgbClr val="F7F7F5"/>
                </a:solidFill>
                <a:latin typeface="DM Sans"/>
                <a:ea typeface="DM Sans"/>
                <a:cs typeface="DM Sans"/>
              </a:defRPr>
            </a:defPPr>
          </a:lstStyle>
          <a:p xmlns:a="http://schemas.openxmlformats.org/drawingml/2006/main">
            <a:pPr>
              <a:defRPr sz="3300" b="0">
                <a:solidFill>
                  <a:srgbClr val="F7F7F5"/>
                </a:solidFill>
                <a:latin typeface="DM Sans"/>
                <a:ea typeface="DM Sans"/>
                <a:cs typeface="DM Sans"/>
              </a:defRPr>
            </a:pPr>
            <a:r>
              <a:rPr sz="3300" b="0">
                <a:solidFill>
                  <a:srgbClr val="F7F7F5"/>
                </a:solidFill>
                <a:latin typeface="DM Sans"/>
                <a:ea typeface="DM Sans"/>
                <a:cs typeface="DM Sans"/>
              </a:rPr>
              <a:t>Coding handoff</a:t>
            </a:r>
          </a:p>
        </p:txBody>
      </p:sp>
      <p:sp>
        <p:nvSpPr>
          <p:cNvPr id="9" name="">
            <a:extLst xmlns:a="http://schemas.openxmlformats.org/drawingml/2006/main">
              <a:ext uri="{FF2B5EF4-FFF2-40B4-BE49-F238E27FC236}">
                <a16:creationId xmlns:a16="http://schemas.microsoft.com/office/drawing/2014/main" id="{CEA85050-C484-48DA-9EF5-282F467A88CB}"/>
              </a:ext>
            </a:extLst>
          </p:cNvPr>
          <p:cNvSpPr>
            <a:spLocks xmlns:a="http://schemas.openxmlformats.org/drawingml/2006/main" noGrp="1"/>
          </p:cNvSpPr>
          <p:nvPr/>
        </p:nvSpPr>
        <p:spPr>
          <a:xfrm xmlns:a="http://schemas.openxmlformats.org/drawingml/2006/main">
            <a:off x="1047750" y="5029200"/>
            <a:ext cx="876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B7BDC7"/>
                </a:solidFill>
                <a:latin typeface="DM Sans"/>
                <a:ea typeface="DM Sans"/>
                <a:cs typeface="DM Sans"/>
              </a:defRPr>
            </a:defPPr>
          </a:lstStyle>
          <a:p xmlns:a="http://schemas.openxmlformats.org/drawingml/2006/main">
            <a:pPr>
              <a:defRPr sz="2250" b="0">
                <a:solidFill>
                  <a:srgbClr val="B7BDC7"/>
                </a:solidFill>
                <a:latin typeface="DM Sans"/>
                <a:ea typeface="DM Sans"/>
                <a:cs typeface="DM Sans"/>
              </a:defRPr>
            </a:pPr>
            <a:r>
              <a:rPr sz="2250" b="0">
                <a:solidFill>
                  <a:srgbClr val="B7BDC7"/>
                </a:solidFill>
                <a:latin typeface="DM Sans"/>
                <a:ea typeface="DM Sans"/>
                <a:cs typeface="DM Sans"/>
              </a:rPr>
              <a:t>Reviewed context + six guard checks</a:t>
            </a:r>
          </a:p>
        </p:txBody>
      </p:sp>
      <p:sp>
        <p:nvSpPr>
          <p:cNvPr id="10" name="">
            <a:extLst xmlns:a="http://schemas.openxmlformats.org/drawingml/2006/main">
              <a:ext uri="{FF2B5EF4-FFF2-40B4-BE49-F238E27FC236}">
                <a16:creationId xmlns:a16="http://schemas.microsoft.com/office/drawing/2014/main" id="{BDC00937-D6AB-42CF-A5C6-C6B2647EF49E}"/>
              </a:ext>
            </a:extLst>
          </p:cNvPr>
          <p:cNvSpPr>
            <a:spLocks xmlns:a="http://schemas.openxmlformats.org/drawingml/2006/main" noGrp="1"/>
          </p:cNvSpPr>
          <p:nvPr/>
        </p:nvSpPr>
        <p:spPr>
          <a:xfrm xmlns:a="http://schemas.openxmlformats.org/drawingml/2006/main">
            <a:off x="1047750" y="6096000"/>
            <a:ext cx="876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0">
                <a:solidFill>
                  <a:srgbClr val="F7F7F5"/>
                </a:solidFill>
                <a:latin typeface="DM Sans"/>
                <a:ea typeface="DM Sans"/>
                <a:cs typeface="DM Sans"/>
              </a:defRPr>
            </a:defPPr>
          </a:lstStyle>
          <a:p xmlns:a="http://schemas.openxmlformats.org/drawingml/2006/main">
            <a:pPr>
              <a:defRPr sz="3300" b="0">
                <a:solidFill>
                  <a:srgbClr val="F7F7F5"/>
                </a:solidFill>
                <a:latin typeface="DM Sans"/>
                <a:ea typeface="DM Sans"/>
                <a:cs typeface="DM Sans"/>
              </a:defRPr>
            </a:pPr>
            <a:r>
              <a:rPr sz="3300" b="0">
                <a:solidFill>
                  <a:srgbClr val="F7F7F5"/>
                </a:solidFill>
                <a:latin typeface="DM Sans"/>
                <a:ea typeface="DM Sans"/>
                <a:cs typeface="DM Sans"/>
              </a:rPr>
              <a:t>India number tutor</a:t>
            </a:r>
          </a:p>
        </p:txBody>
      </p:sp>
      <p:sp>
        <p:nvSpPr>
          <p:cNvPr id="11" name="">
            <a:extLst xmlns:a="http://schemas.openxmlformats.org/drawingml/2006/main">
              <a:ext uri="{FF2B5EF4-FFF2-40B4-BE49-F238E27FC236}">
                <a16:creationId xmlns:a16="http://schemas.microsoft.com/office/drawing/2014/main" id="{EEF882AB-CFB7-4013-ADD9-FB84E481D3EF}"/>
              </a:ext>
            </a:extLst>
          </p:cNvPr>
          <p:cNvSpPr>
            <a:spLocks xmlns:a="http://schemas.openxmlformats.org/drawingml/2006/main" noGrp="1"/>
          </p:cNvSpPr>
          <p:nvPr/>
        </p:nvSpPr>
        <p:spPr>
          <a:xfrm xmlns:a="http://schemas.openxmlformats.org/drawingml/2006/main">
            <a:off x="1047750" y="6800850"/>
            <a:ext cx="876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B7BDC7"/>
                </a:solidFill>
                <a:latin typeface="DM Sans"/>
                <a:ea typeface="DM Sans"/>
                <a:cs typeface="DM Sans"/>
              </a:defRPr>
            </a:defPPr>
          </a:lstStyle>
          <a:p xmlns:a="http://schemas.openxmlformats.org/drawingml/2006/main">
            <a:pPr>
              <a:defRPr sz="2250" b="0">
                <a:solidFill>
                  <a:srgbClr val="B7BDC7"/>
                </a:solidFill>
                <a:latin typeface="DM Sans"/>
                <a:ea typeface="DM Sans"/>
                <a:cs typeface="DM Sans"/>
              </a:defRPr>
            </a:pPr>
            <a:r>
              <a:rPr sz="2250" b="0">
                <a:solidFill>
                  <a:srgbClr val="B7BDC7"/>
                </a:solidFill>
                <a:latin typeface="DM Sans"/>
                <a:ea typeface="DM Sans"/>
                <a:cs typeface="DM Sans"/>
              </a:rPr>
              <a:t>Exact paise, lakh/crore · English/Hindi</a:t>
            </a:r>
          </a:p>
        </p:txBody>
      </p:sp>
      <p:sp>
        <p:nvSpPr>
          <p:cNvPr id="12" name="">
            <a:extLst xmlns:a="http://schemas.openxmlformats.org/drawingml/2006/main">
              <a:ext uri="{FF2B5EF4-FFF2-40B4-BE49-F238E27FC236}">
                <a16:creationId xmlns:a16="http://schemas.microsoft.com/office/drawing/2014/main" id="{BA7792BE-D0A8-4496-A346-7B65F0C53C1C}"/>
              </a:ext>
            </a:extLst>
          </p:cNvPr>
          <p:cNvSpPr>
            <a:spLocks xmlns:a="http://schemas.openxmlformats.org/drawingml/2006/main" noGrp="1"/>
          </p:cNvSpPr>
          <p:nvPr/>
        </p:nvSpPr>
        <p:spPr>
          <a:xfrm xmlns:a="http://schemas.openxmlformats.org/drawingml/2006/main">
            <a:off x="1047750" y="7867650"/>
            <a:ext cx="876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0">
                <a:solidFill>
                  <a:srgbClr val="F7F7F5"/>
                </a:solidFill>
                <a:latin typeface="DM Sans"/>
                <a:ea typeface="DM Sans"/>
                <a:cs typeface="DM Sans"/>
              </a:defRPr>
            </a:defPPr>
          </a:lstStyle>
          <a:p xmlns:a="http://schemas.openxmlformats.org/drawingml/2006/main">
            <a:pPr>
              <a:defRPr sz="3300" b="0">
                <a:solidFill>
                  <a:srgbClr val="F7F7F5"/>
                </a:solidFill>
                <a:latin typeface="DM Sans"/>
                <a:ea typeface="DM Sans"/>
                <a:cs typeface="DM Sans"/>
              </a:defRPr>
            </a:pPr>
            <a:r>
              <a:rPr sz="3300" b="0">
                <a:solidFill>
                  <a:srgbClr val="F7F7F5"/>
                </a:solidFill>
                <a:latin typeface="DM Sans"/>
                <a:ea typeface="DM Sans"/>
                <a:cs typeface="DM Sans"/>
              </a:rPr>
              <a:t>UPI Safety Quest</a:t>
            </a:r>
          </a:p>
        </p:txBody>
      </p:sp>
      <p:sp>
        <p:nvSpPr>
          <p:cNvPr id="13" name="">
            <a:extLst xmlns:a="http://schemas.openxmlformats.org/drawingml/2006/main">
              <a:ext uri="{FF2B5EF4-FFF2-40B4-BE49-F238E27FC236}">
                <a16:creationId xmlns:a16="http://schemas.microsoft.com/office/drawing/2014/main" id="{680805BA-72E3-4589-8B85-9419DA3EF234}"/>
              </a:ext>
            </a:extLst>
          </p:cNvPr>
          <p:cNvSpPr>
            <a:spLocks xmlns:a="http://schemas.openxmlformats.org/drawingml/2006/main" noGrp="1"/>
          </p:cNvSpPr>
          <p:nvPr/>
        </p:nvSpPr>
        <p:spPr>
          <a:xfrm xmlns:a="http://schemas.openxmlformats.org/drawingml/2006/main">
            <a:off x="1047750" y="8572500"/>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B7BDC7"/>
                </a:solidFill>
                <a:latin typeface="DM Sans"/>
                <a:ea typeface="DM Sans"/>
                <a:cs typeface="DM Sans"/>
              </a:defRPr>
            </a:defPPr>
          </a:lstStyle>
          <a:p xmlns:a="http://schemas.openxmlformats.org/drawingml/2006/main">
            <a:pPr>
              <a:defRPr sz="2175" b="0">
                <a:solidFill>
                  <a:srgbClr val="B7BDC7"/>
                </a:solidFill>
                <a:latin typeface="DM Sans"/>
                <a:ea typeface="DM Sans"/>
                <a:cs typeface="DM Sans"/>
              </a:defRPr>
            </a:pPr>
            <a:r>
              <a:rPr sz="2175" b="0">
                <a:solidFill>
                  <a:srgbClr val="B7BDC7"/>
                </a:solidFill>
                <a:latin typeface="DM Sans"/>
                <a:ea typeface="DM Sans"/>
                <a:cs typeface="DM Sans"/>
              </a:rPr>
              <a:t>Learn with sourced guidance; no payment flow</a:t>
            </a:r>
          </a:p>
        </p:txBody>
      </p:sp>
      <p:pic>
        <p:nvPicPr>
          <p:cNvPr id="14" name="">
            <a:extLst xmlns:a="http://schemas.openxmlformats.org/drawingml/2006/main">
              <a:ext uri="{FF2B5EF4-FFF2-40B4-BE49-F238E27FC236}">
                <a16:creationId xmlns:a16="http://schemas.microsoft.com/office/drawing/2014/main" id="{D450ACDA-7A27-4925-A691-279DD18A151E}"/>
              </a:ext>
            </a:extLst>
          </p:cNvPr>
          <p:cNvPicPr>
            <a:picLocks xmlns:a="http://schemas.openxmlformats.org/drawingml/2006/main" noChangeAspect="1"/>
          </p:cNvPicPr>
          <p:nvPr/>
        </p:nvPicPr>
        <p:blipFill>
          <a:blip xmlns:r="http://schemas.openxmlformats.org/officeDocument/2006/relationships" xmlns:a="http://schemas.openxmlformats.org/drawingml/2006/main" r:embed="Re8e57cce39694d81"/>
          <a:stretch xmlns:a="http://schemas.openxmlformats.org/drawingml/2006/main"/>
        </p:blipFill>
        <p:spPr>
          <a:xfrm xmlns:a="http://schemas.openxmlformats.org/drawingml/2006/main">
            <a:off x="10096500" y="4510536"/>
            <a:ext cx="7143750" cy="2980428"/>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4681BE03-132B-4A87-A08A-1E793EC024F9}"/>
              </a:ext>
            </a:extLst>
          </p:cNvPr>
          <p:cNvSpPr>
            <a:spLocks xmlns:a="http://schemas.openxmlformats.org/drawingml/2006/main" noGrp="1"/>
          </p:cNvSpPr>
          <p:nvPr/>
        </p:nvSpPr>
        <p:spPr>
          <a:xfrm xmlns:a="http://schemas.openxmlformats.org/drawingml/2006/main">
            <a:off x="10191750" y="838200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Actual AI Passport capture</a:t>
            </a:r>
          </a:p>
        </p:txBody>
      </p:sp>
    </p:spTree>
    <p:extLst>
      <p:ext uri="{BB962C8B-B14F-4D97-AF65-F5344CB8AC3E}">
        <p14:creationId xmlns:p14="http://schemas.microsoft.com/office/powerpoint/2010/main" val="422471645"/>
      </p:ext>
    </p:extLst>
  </p:cSld>
</p:sld>
</file>

<file path=ppt/slides/slide6.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E08934F8-5591-4033-8C4F-AAD011907369}"/>
              </a:ext>
            </a:extLst>
          </p:cNvPr>
          <p:cNvPicPr>
            <a:picLocks xmlns:a="http://schemas.openxmlformats.org/drawingml/2006/main" noChangeAspect="1"/>
          </p:cNvPicPr>
          <p:nvPr/>
        </p:nvPicPr>
        <p:blipFill>
          <a:blip xmlns:r="http://schemas.openxmlformats.org/officeDocument/2006/relationships" xmlns:a="http://schemas.openxmlformats.org/drawingml/2006/main" r:embed="R7e568a7dcada47d8"/>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F874B9-9FB3-4B38-8C87-DA457DC73C8D}"/>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3" name="">
            <a:extLst xmlns:a="http://schemas.openxmlformats.org/drawingml/2006/main">
              <a:ext uri="{FF2B5EF4-FFF2-40B4-BE49-F238E27FC236}">
                <a16:creationId xmlns:a16="http://schemas.microsoft.com/office/drawing/2014/main" id="{A67D1964-7EB8-486A-B736-D7382AE36E31}"/>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06 / 08</a:t>
            </a:r>
          </a:p>
        </p:txBody>
      </p:sp>
      <p:sp>
        <p:nvSpPr>
          <p:cNvPr id="4" name="">
            <a:extLst xmlns:a="http://schemas.openxmlformats.org/drawingml/2006/main">
              <a:ext uri="{FF2B5EF4-FFF2-40B4-BE49-F238E27FC236}">
                <a16:creationId xmlns:a16="http://schemas.microsoft.com/office/drawing/2014/main" id="{BC31BEAA-25D1-4728-9C31-021D7A65CF34}"/>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5" name="">
            <a:extLst xmlns:a="http://schemas.openxmlformats.org/drawingml/2006/main">
              <a:ext uri="{FF2B5EF4-FFF2-40B4-BE49-F238E27FC236}">
                <a16:creationId xmlns:a16="http://schemas.microsoft.com/office/drawing/2014/main" id="{53242C69-01C9-4A91-B0F8-2FBF2E334323}"/>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6" name="">
            <a:extLst xmlns:a="http://schemas.openxmlformats.org/drawingml/2006/main">
              <a:ext uri="{FF2B5EF4-FFF2-40B4-BE49-F238E27FC236}">
                <a16:creationId xmlns:a16="http://schemas.microsoft.com/office/drawing/2014/main" id="{B8818D39-C7F9-4E2D-A5D2-807203B9E7D1}"/>
              </a:ext>
            </a:extLst>
          </p:cNvPr>
          <p:cNvSpPr>
            <a:spLocks xmlns:a="http://schemas.openxmlformats.org/drawingml/2006/main" noGrp="1"/>
          </p:cNvSpPr>
          <p:nvPr/>
        </p:nvSpPr>
        <p:spPr>
          <a:xfrm xmlns:a="http://schemas.openxmlformats.org/drawingml/2006/main">
            <a:off x="1047750" y="1581150"/>
            <a:ext cx="16002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450" b="0">
                <a:solidFill>
                  <a:srgbClr val="F7F7F5"/>
                </a:solidFill>
                <a:latin typeface="DM Sans"/>
                <a:ea typeface="DM Sans"/>
                <a:cs typeface="DM Sans"/>
              </a:defRPr>
            </a:defPPr>
          </a:lstStyle>
          <a:p xmlns:a="http://schemas.openxmlformats.org/drawingml/2006/main">
            <a:pPr>
              <a:defRPr sz="6450" b="0">
                <a:solidFill>
                  <a:srgbClr val="F7F7F5"/>
                </a:solidFill>
                <a:latin typeface="DM Sans"/>
                <a:ea typeface="DM Sans"/>
                <a:cs typeface="DM Sans"/>
              </a:defRPr>
            </a:pPr>
            <a:r>
              <a:rPr sz="6450" b="0">
                <a:solidFill>
                  <a:srgbClr val="F7F7F5"/>
                </a:solidFill>
                <a:latin typeface="DM Sans"/>
                <a:ea typeface="DM Sans"/>
                <a:cs typeface="DM Sans"/>
              </a:rPr>
              <a:t>Why Arkiv. Why this layer.</a:t>
            </a:r>
          </a:p>
        </p:txBody>
      </p:sp>
      <p:sp>
        <p:nvSpPr>
          <p:cNvPr id="7" name="">
            <a:extLst xmlns:a="http://schemas.openxmlformats.org/drawingml/2006/main">
              <a:ext uri="{FF2B5EF4-FFF2-40B4-BE49-F238E27FC236}">
                <a16:creationId xmlns:a16="http://schemas.microsoft.com/office/drawing/2014/main" id="{8F54527E-4F04-4FE3-AFC7-E05F011A8EAD}"/>
              </a:ext>
            </a:extLst>
          </p:cNvPr>
          <p:cNvSpPr>
            <a:spLocks xmlns:a="http://schemas.openxmlformats.org/drawingml/2006/main" noGrp="1"/>
          </p:cNvSpPr>
          <p:nvPr/>
        </p:nvSpPr>
        <p:spPr>
          <a:xfrm xmlns:a="http://schemas.openxmlformats.org/drawingml/2006/main">
            <a:off x="1047750" y="3343275"/>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525" b="0">
                <a:solidFill>
                  <a:srgbClr val="F7F7F5"/>
                </a:solidFill>
                <a:latin typeface="DM Sans"/>
                <a:ea typeface="DM Sans"/>
                <a:cs typeface="DM Sans"/>
              </a:defRPr>
            </a:defPPr>
          </a:lstStyle>
          <a:p xmlns:a="http://schemas.openxmlformats.org/drawingml/2006/main">
            <a:pPr>
              <a:defRPr sz="3525" b="0">
                <a:solidFill>
                  <a:srgbClr val="F7F7F5"/>
                </a:solidFill>
                <a:latin typeface="DM Sans"/>
                <a:ea typeface="DM Sans"/>
                <a:cs typeface="DM Sans"/>
              </a:defRPr>
            </a:pPr>
            <a:r>
              <a:rPr sz="3525" b="0">
                <a:solidFill>
                  <a:srgbClr val="F7F7F5"/>
                </a:solidFill>
                <a:latin typeface="DM Sans"/>
                <a:ea typeface="DM Sans"/>
                <a:cs typeface="DM Sans"/>
              </a:rPr>
              <a:t>Shared, attributable discovery</a:t>
            </a:r>
          </a:p>
        </p:txBody>
      </p:sp>
      <p:sp>
        <p:nvSpPr>
          <p:cNvPr id="8" name="">
            <a:extLst xmlns:a="http://schemas.openxmlformats.org/drawingml/2006/main">
              <a:ext uri="{FF2B5EF4-FFF2-40B4-BE49-F238E27FC236}">
                <a16:creationId xmlns:a16="http://schemas.microsoft.com/office/drawing/2014/main" id="{45BA74F5-D5ED-45FD-AB5E-7A97E376AD0E}"/>
              </a:ext>
            </a:extLst>
          </p:cNvPr>
          <p:cNvSpPr>
            <a:spLocks xmlns:a="http://schemas.openxmlformats.org/drawingml/2006/main" noGrp="1"/>
          </p:cNvSpPr>
          <p:nvPr/>
        </p:nvSpPr>
        <p:spPr>
          <a:xfrm xmlns:a="http://schemas.openxmlformats.org/drawingml/2006/main">
            <a:off x="1047750" y="42005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7FB8F4"/>
                </a:solidFill>
                <a:latin typeface="DM Sans"/>
                <a:ea typeface="DM Sans"/>
                <a:cs typeface="DM Sans"/>
              </a:defRPr>
            </a:defPPr>
          </a:lstStyle>
          <a:p xmlns:a="http://schemas.openxmlformats.org/drawingml/2006/main">
            <a:pPr>
              <a:defRPr sz="2400" b="0">
                <a:solidFill>
                  <a:srgbClr val="7FB8F4"/>
                </a:solidFill>
                <a:latin typeface="DM Sans"/>
                <a:ea typeface="DM Sans"/>
                <a:cs typeface="DM Sans"/>
              </a:defRPr>
            </a:pPr>
            <a:r>
              <a:rPr sz="2400" b="0">
                <a:solidFill>
                  <a:srgbClr val="7FB8F4"/>
                </a:solidFill>
                <a:latin typeface="DM Sans"/>
                <a:ea typeface="DM Sans"/>
                <a:cs typeface="DM Sans"/>
              </a:rPr>
              <a:t>Readers work without my application API</a:t>
            </a:r>
          </a:p>
        </p:txBody>
      </p:sp>
      <p:sp>
        <p:nvSpPr>
          <p:cNvPr id="9" name="">
            <a:extLst xmlns:a="http://schemas.openxmlformats.org/drawingml/2006/main">
              <a:ext uri="{FF2B5EF4-FFF2-40B4-BE49-F238E27FC236}">
                <a16:creationId xmlns:a16="http://schemas.microsoft.com/office/drawing/2014/main" id="{E820140E-3A8B-44A0-983E-AB560FE07549}"/>
              </a:ext>
            </a:extLst>
          </p:cNvPr>
          <p:cNvSpPr>
            <a:spLocks xmlns:a="http://schemas.openxmlformats.org/drawingml/2006/main" noGrp="1"/>
          </p:cNvSpPr>
          <p:nvPr/>
        </p:nvSpPr>
        <p:spPr>
          <a:xfrm xmlns:a="http://schemas.openxmlformats.org/drawingml/2006/main">
            <a:off x="1047750" y="5448300"/>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F7F7F5"/>
                </a:solidFill>
                <a:latin typeface="DM Sans"/>
                <a:ea typeface="DM Sans"/>
                <a:cs typeface="DM Sans"/>
              </a:defRPr>
            </a:defPPr>
          </a:lstStyle>
          <a:p xmlns:a="http://schemas.openxmlformats.org/drawingml/2006/main">
            <a:pPr>
              <a:defRPr sz="3225" b="0">
                <a:solidFill>
                  <a:srgbClr val="F7F7F5"/>
                </a:solidFill>
                <a:latin typeface="DM Sans"/>
                <a:ea typeface="DM Sans"/>
                <a:cs typeface="DM Sans"/>
              </a:defRPr>
            </a:pPr>
            <a:r>
              <a:rPr sz="3225" b="0">
                <a:solidFill>
                  <a:srgbClr val="F7F7F5"/>
                </a:solidFill>
                <a:latin typeface="DM Sans"/>
                <a:ea typeface="DM Sans"/>
                <a:cs typeface="DM Sans"/>
              </a:rPr>
              <a:t>What Arkiv gains</a:t>
            </a:r>
          </a:p>
        </p:txBody>
      </p:sp>
      <p:sp>
        <p:nvSpPr>
          <p:cNvPr id="10" name="">
            <a:extLst xmlns:a="http://schemas.openxmlformats.org/drawingml/2006/main">
              <a:ext uri="{FF2B5EF4-FFF2-40B4-BE49-F238E27FC236}">
                <a16:creationId xmlns:a16="http://schemas.microsoft.com/office/drawing/2014/main" id="{70477E95-7148-4140-838B-CB06FA801C8B}"/>
              </a:ext>
            </a:extLst>
          </p:cNvPr>
          <p:cNvSpPr>
            <a:spLocks xmlns:a="http://schemas.openxmlformats.org/drawingml/2006/main" noGrp="1"/>
          </p:cNvSpPr>
          <p:nvPr/>
        </p:nvSpPr>
        <p:spPr>
          <a:xfrm xmlns:a="http://schemas.openxmlformats.org/drawingml/2006/main">
            <a:off x="1047750" y="6200775"/>
            <a:ext cx="10096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F7F7F5"/>
                </a:solidFill>
                <a:latin typeface="DM Sans"/>
                <a:ea typeface="DM Sans"/>
                <a:cs typeface="DM Sans"/>
              </a:defRPr>
            </a:defPPr>
          </a:lstStyle>
          <a:p xmlns:a="http://schemas.openxmlformats.org/drawingml/2006/main">
            <a:pPr>
              <a:defRPr sz="2700" b="0">
                <a:solidFill>
                  <a:srgbClr val="F7F7F5"/>
                </a:solidFill>
                <a:latin typeface="DM Sans"/>
                <a:ea typeface="DM Sans"/>
                <a:cs typeface="DM Sans"/>
              </a:defRPr>
            </a:pPr>
            <a:r>
              <a:rPr sz="2700" b="0">
                <a:solidFill>
                  <a:srgbClr val="F7F7F5"/>
                </a:solidFill>
                <a:latin typeface="DM Sans"/>
                <a:ea typeface="DM Sans"/>
                <a:cs typeface="DM Sans"/>
              </a:rPr>
              <a:t>A graph contract, verified reader tooling</a:t>
            </a:r>
          </a:p>
          <a:p xmlns:a="http://schemas.openxmlformats.org/drawingml/2006/main">
            <a:pPr>
              <a:defRPr sz="2700" b="0">
                <a:solidFill>
                  <a:srgbClr val="F7F7F5"/>
                </a:solidFill>
                <a:latin typeface="DM Sans"/>
                <a:ea typeface="DM Sans"/>
                <a:cs typeface="DM Sans"/>
              </a:defRPr>
            </a:pPr>
            <a:r>
              <a:rPr sz="2700" b="0">
                <a:solidFill>
                  <a:srgbClr val="F7F7F5"/>
                </a:solidFill>
                <a:latin typeface="DM Sans"/>
                <a:ea typeface="DM Sans"/>
                <a:cs typeface="DM Sans"/>
              </a:rPr>
              <a:t>and reusable AI-context adapters</a:t>
            </a:r>
          </a:p>
        </p:txBody>
      </p:sp>
      <p:sp>
        <p:nvSpPr>
          <p:cNvPr id="11" name="">
            <a:extLst xmlns:a="http://schemas.openxmlformats.org/drawingml/2006/main">
              <a:ext uri="{FF2B5EF4-FFF2-40B4-BE49-F238E27FC236}">
                <a16:creationId xmlns:a16="http://schemas.microsoft.com/office/drawing/2014/main" id="{CB3B90A0-F0CB-4C2C-A699-CE05E0A11062}"/>
              </a:ext>
            </a:extLst>
          </p:cNvPr>
          <p:cNvSpPr>
            <a:spLocks xmlns:a="http://schemas.openxmlformats.org/drawingml/2006/main" noGrp="1"/>
          </p:cNvSpPr>
          <p:nvPr/>
        </p:nvSpPr>
        <p:spPr>
          <a:xfrm xmlns:a="http://schemas.openxmlformats.org/drawingml/2006/main">
            <a:off x="1047750" y="7620000"/>
            <a:ext cx="1000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E2B777"/>
                </a:solidFill>
                <a:latin typeface="DM Sans"/>
                <a:ea typeface="DM Sans"/>
                <a:cs typeface="DM Sans"/>
              </a:defRPr>
            </a:defPPr>
          </a:lstStyle>
          <a:p xmlns:a="http://schemas.openxmlformats.org/drawingml/2006/main">
            <a:pPr>
              <a:defRPr sz="3000" b="0">
                <a:solidFill>
                  <a:srgbClr val="E2B777"/>
                </a:solidFill>
                <a:latin typeface="DM Sans"/>
                <a:ea typeface="DM Sans"/>
                <a:cs typeface="DM Sans"/>
              </a:defRPr>
            </a:pPr>
            <a:r>
              <a:rPr sz="3000" b="0">
                <a:solidFill>
                  <a:srgbClr val="E2B777"/>
                </a:solidFill>
                <a:latin typeface="DM Sans"/>
                <a:ea typeface="DM Sans"/>
                <a:cs typeface="DM Sans"/>
              </a:rPr>
              <a:t>Defensibility today</a:t>
            </a:r>
          </a:p>
        </p:txBody>
      </p:sp>
      <p:sp>
        <p:nvSpPr>
          <p:cNvPr id="12" name="">
            <a:extLst xmlns:a="http://schemas.openxmlformats.org/drawingml/2006/main">
              <a:ext uri="{FF2B5EF4-FFF2-40B4-BE49-F238E27FC236}">
                <a16:creationId xmlns:a16="http://schemas.microsoft.com/office/drawing/2014/main" id="{EE138CB7-703F-427B-A18E-AA27A01D83B6}"/>
              </a:ext>
            </a:extLst>
          </p:cNvPr>
          <p:cNvSpPr>
            <a:spLocks xmlns:a="http://schemas.openxmlformats.org/drawingml/2006/main" noGrp="1"/>
          </p:cNvSpPr>
          <p:nvPr/>
        </p:nvSpPr>
        <p:spPr>
          <a:xfrm xmlns:a="http://schemas.openxmlformats.org/drawingml/2006/main">
            <a:off x="1047750" y="8334375"/>
            <a:ext cx="11144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7F7F5"/>
                </a:solidFill>
                <a:latin typeface="DM Sans"/>
                <a:ea typeface="DM Sans"/>
                <a:cs typeface="DM Sans"/>
              </a:defRPr>
            </a:defPPr>
          </a:lstStyle>
          <a:p xmlns:a="http://schemas.openxmlformats.org/drawingml/2006/main">
            <a:pPr>
              <a:defRPr sz="2325" b="0">
                <a:solidFill>
                  <a:srgbClr val="F7F7F5"/>
                </a:solidFill>
                <a:latin typeface="DM Sans"/>
                <a:ea typeface="DM Sans"/>
                <a:cs typeface="DM Sans"/>
              </a:defRPr>
            </a:pPr>
            <a:r>
              <a:rPr sz="2325" b="0">
                <a:solidFill>
                  <a:srgbClr val="F7F7F5"/>
                </a:solidFill>
                <a:latin typeface="DM Sans"/>
                <a:ea typeface="DM Sans"/>
                <a:cs typeface="DM Sans"/>
              </a:rPr>
              <a:t>Integration quality + conformance evidence</a:t>
            </a:r>
          </a:p>
        </p:txBody>
      </p:sp>
      <p:sp>
        <p:nvSpPr>
          <p:cNvPr id="13" name="">
            <a:extLst xmlns:a="http://schemas.openxmlformats.org/drawingml/2006/main">
              <a:ext uri="{FF2B5EF4-FFF2-40B4-BE49-F238E27FC236}">
                <a16:creationId xmlns:a16="http://schemas.microsoft.com/office/drawing/2014/main" id="{477AC9F6-5E93-4CFF-A113-C0F051150A07}"/>
              </a:ext>
            </a:extLst>
          </p:cNvPr>
          <p:cNvSpPr>
            <a:spLocks xmlns:a="http://schemas.openxmlformats.org/drawingml/2006/main" noGrp="1"/>
          </p:cNvSpPr>
          <p:nvPr/>
        </p:nvSpPr>
        <p:spPr>
          <a:xfrm xmlns:a="http://schemas.openxmlformats.org/drawingml/2006/main">
            <a:off x="1047750" y="9010650"/>
            <a:ext cx="1609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B7BDC7"/>
                </a:solidFill>
                <a:latin typeface="DM Sans"/>
                <a:ea typeface="DM Sans"/>
                <a:cs typeface="DM Sans"/>
              </a:defRPr>
            </a:defPPr>
          </a:lstStyle>
          <a:p xmlns:a="http://schemas.openxmlformats.org/drawingml/2006/main">
            <a:pPr>
              <a:defRPr sz="1875" b="0">
                <a:solidFill>
                  <a:srgbClr val="B7BDC7"/>
                </a:solidFill>
                <a:latin typeface="DM Sans"/>
                <a:ea typeface="DM Sans"/>
                <a:cs typeface="DM Sans"/>
              </a:defRPr>
            </a:pPr>
            <a:r>
              <a:rPr sz="1875" b="0">
                <a:solidFill>
                  <a:srgbClr val="B7BDC7"/>
                </a:solidFill>
                <a:latin typeface="DM Sans"/>
                <a:ea typeface="DM Sans"/>
                <a:cs typeface="DM Sans"/>
              </a:rPr>
              <a:t>Ecosystem moat is a hypothesis. One-operator apps can use a normal database.</a:t>
            </a:r>
          </a:p>
        </p:txBody>
      </p:sp>
    </p:spTree>
    <p:extLst>
      <p:ext uri="{BB962C8B-B14F-4D97-AF65-F5344CB8AC3E}">
        <p14:creationId xmlns:p14="http://schemas.microsoft.com/office/powerpoint/2010/main" val="440071059"/>
      </p:ext>
    </p:extLst>
  </p:cSld>
</p:sld>
</file>

<file path=ppt/slides/slide7.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E991BED-E0E3-4BF7-A783-0B64F2BFB1C3}"/>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2" name="">
            <a:extLst xmlns:a="http://schemas.openxmlformats.org/drawingml/2006/main">
              <a:ext uri="{FF2B5EF4-FFF2-40B4-BE49-F238E27FC236}">
                <a16:creationId xmlns:a16="http://schemas.microsoft.com/office/drawing/2014/main" id="{75B8C793-02BB-40A8-A6A1-2A8849B5A317}"/>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07 / 08</a:t>
            </a:r>
          </a:p>
        </p:txBody>
      </p:sp>
      <p:sp>
        <p:nvSpPr>
          <p:cNvPr id="3" name="">
            <a:extLst xmlns:a="http://schemas.openxmlformats.org/drawingml/2006/main">
              <a:ext uri="{FF2B5EF4-FFF2-40B4-BE49-F238E27FC236}">
                <a16:creationId xmlns:a16="http://schemas.microsoft.com/office/drawing/2014/main" id="{4D52C223-4142-4123-8A22-2F1ADB727CBF}"/>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4" name="">
            <a:extLst xmlns:a="http://schemas.openxmlformats.org/drawingml/2006/main">
              <a:ext uri="{FF2B5EF4-FFF2-40B4-BE49-F238E27FC236}">
                <a16:creationId xmlns:a16="http://schemas.microsoft.com/office/drawing/2014/main" id="{11D7EB46-E58F-41B8-9D35-986453894C02}"/>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5" name="">
            <a:extLst xmlns:a="http://schemas.openxmlformats.org/drawingml/2006/main">
              <a:ext uri="{FF2B5EF4-FFF2-40B4-BE49-F238E27FC236}">
                <a16:creationId xmlns:a16="http://schemas.microsoft.com/office/drawing/2014/main" id="{4162DEC0-D36D-466A-9C4E-B77FF187B106}"/>
              </a:ext>
            </a:extLst>
          </p:cNvPr>
          <p:cNvSpPr>
            <a:spLocks xmlns:a="http://schemas.openxmlformats.org/drawingml/2006/main" noGrp="1"/>
          </p:cNvSpPr>
          <p:nvPr/>
        </p:nvSpPr>
        <p:spPr>
          <a:xfrm xmlns:a="http://schemas.openxmlformats.org/drawingml/2006/main">
            <a:off x="1047750" y="1581150"/>
            <a:ext cx="16002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450" b="0">
                <a:solidFill>
                  <a:srgbClr val="F7F7F5"/>
                </a:solidFill>
                <a:latin typeface="DM Sans"/>
                <a:ea typeface="DM Sans"/>
                <a:cs typeface="DM Sans"/>
              </a:defRPr>
            </a:defPPr>
          </a:lstStyle>
          <a:p xmlns:a="http://schemas.openxmlformats.org/drawingml/2006/main">
            <a:pPr>
              <a:defRPr sz="6450" b="0">
                <a:solidFill>
                  <a:srgbClr val="F7F7F5"/>
                </a:solidFill>
                <a:latin typeface="DM Sans"/>
                <a:ea typeface="DM Sans"/>
                <a:cs typeface="DM Sans"/>
              </a:defRPr>
            </a:pPr>
            <a:r>
              <a:rPr sz="6450" b="0">
                <a:solidFill>
                  <a:srgbClr val="F7F7F5"/>
                </a:solidFill>
                <a:latin typeface="DM Sans"/>
                <a:ea typeface="DM Sans"/>
                <a:cs typeface="DM Sans"/>
              </a:rPr>
              <a:t>Evidence, with its limits</a:t>
            </a:r>
          </a:p>
        </p:txBody>
      </p:sp>
      <p:sp>
        <p:nvSpPr>
          <p:cNvPr id="6" name="">
            <a:extLst xmlns:a="http://schemas.openxmlformats.org/drawingml/2006/main">
              <a:ext uri="{FF2B5EF4-FFF2-40B4-BE49-F238E27FC236}">
                <a16:creationId xmlns:a16="http://schemas.microsoft.com/office/drawing/2014/main" id="{FAE1CD38-F605-4170-9809-454CC40DDF49}"/>
              </a:ext>
            </a:extLst>
          </p:cNvPr>
          <p:cNvSpPr>
            <a:spLocks xmlns:a="http://schemas.openxmlformats.org/drawingml/2006/main" noGrp="1"/>
          </p:cNvSpPr>
          <p:nvPr/>
        </p:nvSpPr>
        <p:spPr>
          <a:xfrm xmlns:a="http://schemas.openxmlformats.org/drawingml/2006/main">
            <a:off x="1047750" y="313372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75" b="0">
                <a:solidFill>
                  <a:srgbClr val="7FB8F4"/>
                </a:solidFill>
                <a:latin typeface="DM Sans"/>
                <a:ea typeface="DM Sans"/>
                <a:cs typeface="DM Sans"/>
              </a:defRPr>
            </a:defPPr>
          </a:lstStyle>
          <a:p xmlns:a="http://schemas.openxmlformats.org/drawingml/2006/main">
            <a:pPr>
              <a:defRPr sz="5775" b="0">
                <a:solidFill>
                  <a:srgbClr val="7FB8F4"/>
                </a:solidFill>
                <a:latin typeface="DM Sans"/>
                <a:ea typeface="DM Sans"/>
                <a:cs typeface="DM Sans"/>
              </a:defRPr>
            </a:pPr>
            <a:r>
              <a:rPr sz="5775" b="0">
                <a:solidFill>
                  <a:srgbClr val="7FB8F4"/>
                </a:solidFill>
                <a:latin typeface="DM Sans"/>
                <a:ea typeface="DM Sans"/>
                <a:cs typeface="DM Sans"/>
              </a:rPr>
              <a:t>271</a:t>
            </a:r>
          </a:p>
        </p:txBody>
      </p:sp>
      <p:sp>
        <p:nvSpPr>
          <p:cNvPr id="7" name="">
            <a:extLst xmlns:a="http://schemas.openxmlformats.org/drawingml/2006/main">
              <a:ext uri="{FF2B5EF4-FFF2-40B4-BE49-F238E27FC236}">
                <a16:creationId xmlns:a16="http://schemas.microsoft.com/office/drawing/2014/main" id="{6FC37C85-38C0-4393-B565-007AE5A48998}"/>
              </a:ext>
            </a:extLst>
          </p:cNvPr>
          <p:cNvSpPr>
            <a:spLocks xmlns:a="http://schemas.openxmlformats.org/drawingml/2006/main" noGrp="1"/>
          </p:cNvSpPr>
          <p:nvPr/>
        </p:nvSpPr>
        <p:spPr>
          <a:xfrm xmlns:a="http://schemas.openxmlformats.org/drawingml/2006/main">
            <a:off x="1095375" y="409575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B7BDC7"/>
                </a:solidFill>
                <a:latin typeface="DM Sans"/>
                <a:ea typeface="DM Sans"/>
                <a:cs typeface="DM Sans"/>
              </a:defRPr>
            </a:defPPr>
          </a:lstStyle>
          <a:p xmlns:a="http://schemas.openxmlformats.org/drawingml/2006/main">
            <a:pPr>
              <a:defRPr sz="2175" b="0">
                <a:solidFill>
                  <a:srgbClr val="B7BDC7"/>
                </a:solidFill>
                <a:latin typeface="DM Sans"/>
                <a:ea typeface="DM Sans"/>
                <a:cs typeface="DM Sans"/>
              </a:defRPr>
            </a:pPr>
            <a:r>
              <a:rPr sz="2175" b="0">
                <a:solidFill>
                  <a:srgbClr val="B7BDC7"/>
                </a:solidFill>
                <a:latin typeface="DM Sans"/>
                <a:ea typeface="DM Sans"/>
                <a:cs typeface="DM Sans"/>
              </a:rPr>
              <a:t>Local tests</a:t>
            </a:r>
          </a:p>
        </p:txBody>
      </p:sp>
      <p:sp>
        <p:nvSpPr>
          <p:cNvPr id="8" name="">
            <a:extLst xmlns:a="http://schemas.openxmlformats.org/drawingml/2006/main">
              <a:ext uri="{FF2B5EF4-FFF2-40B4-BE49-F238E27FC236}">
                <a16:creationId xmlns:a16="http://schemas.microsoft.com/office/drawing/2014/main" id="{D352405A-4D39-4577-A7BA-D480038C67E5}"/>
              </a:ext>
            </a:extLst>
          </p:cNvPr>
          <p:cNvSpPr>
            <a:spLocks xmlns:a="http://schemas.openxmlformats.org/drawingml/2006/main" noGrp="1"/>
          </p:cNvSpPr>
          <p:nvPr/>
        </p:nvSpPr>
        <p:spPr>
          <a:xfrm xmlns:a="http://schemas.openxmlformats.org/drawingml/2006/main">
            <a:off x="4686300" y="3133725"/>
            <a:ext cx="276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75" b="0">
                <a:solidFill>
                  <a:srgbClr val="7FB8F4"/>
                </a:solidFill>
                <a:latin typeface="DM Sans"/>
                <a:ea typeface="DM Sans"/>
                <a:cs typeface="DM Sans"/>
              </a:defRPr>
            </a:defPPr>
          </a:lstStyle>
          <a:p xmlns:a="http://schemas.openxmlformats.org/drawingml/2006/main">
            <a:pPr>
              <a:defRPr sz="5775" b="0">
                <a:solidFill>
                  <a:srgbClr val="7FB8F4"/>
                </a:solidFill>
                <a:latin typeface="DM Sans"/>
                <a:ea typeface="DM Sans"/>
                <a:cs typeface="DM Sans"/>
              </a:defRPr>
            </a:pPr>
            <a:r>
              <a:rPr sz="5775" b="0">
                <a:solidFill>
                  <a:srgbClr val="7FB8F4"/>
                </a:solidFill>
                <a:latin typeface="DM Sans"/>
                <a:ea typeface="DM Sans"/>
                <a:cs typeface="DM Sans"/>
              </a:rPr>
              <a:t>19</a:t>
            </a:r>
          </a:p>
        </p:txBody>
      </p:sp>
      <p:sp>
        <p:nvSpPr>
          <p:cNvPr id="9" name="">
            <a:extLst xmlns:a="http://schemas.openxmlformats.org/drawingml/2006/main">
              <a:ext uri="{FF2B5EF4-FFF2-40B4-BE49-F238E27FC236}">
                <a16:creationId xmlns:a16="http://schemas.microsoft.com/office/drawing/2014/main" id="{1D26A4B1-5DAE-4E2B-ADCA-88C2749B5AB2}"/>
              </a:ext>
            </a:extLst>
          </p:cNvPr>
          <p:cNvSpPr>
            <a:spLocks xmlns:a="http://schemas.openxmlformats.org/drawingml/2006/main" noGrp="1"/>
          </p:cNvSpPr>
          <p:nvPr/>
        </p:nvSpPr>
        <p:spPr>
          <a:xfrm xmlns:a="http://schemas.openxmlformats.org/drawingml/2006/main">
            <a:off x="4733925" y="40957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B7BDC7"/>
                </a:solidFill>
                <a:latin typeface="DM Sans"/>
                <a:ea typeface="DM Sans"/>
                <a:cs typeface="DM Sans"/>
              </a:defRPr>
            </a:defPPr>
          </a:lstStyle>
          <a:p xmlns:a="http://schemas.openxmlformats.org/drawingml/2006/main">
            <a:pPr>
              <a:defRPr sz="2175" b="0">
                <a:solidFill>
                  <a:srgbClr val="B7BDC7"/>
                </a:solidFill>
                <a:latin typeface="DM Sans"/>
                <a:ea typeface="DM Sans"/>
                <a:cs typeface="DM Sans"/>
              </a:defRPr>
            </a:pPr>
            <a:r>
              <a:rPr sz="2175" b="0">
                <a:solidFill>
                  <a:srgbClr val="B7BDC7"/>
                </a:solidFill>
                <a:latin typeface="DM Sans"/>
                <a:ea typeface="DM Sans"/>
                <a:cs typeface="DM Sans"/>
              </a:rPr>
              <a:t>Trust checks</a:t>
            </a:r>
          </a:p>
        </p:txBody>
      </p:sp>
      <p:sp>
        <p:nvSpPr>
          <p:cNvPr id="10" name="">
            <a:extLst xmlns:a="http://schemas.openxmlformats.org/drawingml/2006/main">
              <a:ext uri="{FF2B5EF4-FFF2-40B4-BE49-F238E27FC236}">
                <a16:creationId xmlns:a16="http://schemas.microsoft.com/office/drawing/2014/main" id="{091E4972-8294-4C91-9C94-BA71E7240929}"/>
              </a:ext>
            </a:extLst>
          </p:cNvPr>
          <p:cNvSpPr>
            <a:spLocks xmlns:a="http://schemas.openxmlformats.org/drawingml/2006/main" noGrp="1"/>
          </p:cNvSpPr>
          <p:nvPr/>
        </p:nvSpPr>
        <p:spPr>
          <a:xfrm xmlns:a="http://schemas.openxmlformats.org/drawingml/2006/main">
            <a:off x="10001250" y="3276600"/>
            <a:ext cx="704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F7F7F5"/>
                </a:solidFill>
                <a:latin typeface="DM Sans"/>
                <a:ea typeface="DM Sans"/>
                <a:cs typeface="DM Sans"/>
              </a:defRPr>
            </a:defPPr>
          </a:lstStyle>
          <a:p xmlns:a="http://schemas.openxmlformats.org/drawingml/2006/main">
            <a:pPr>
              <a:defRPr sz="3000" b="0">
                <a:solidFill>
                  <a:srgbClr val="F7F7F5"/>
                </a:solidFill>
                <a:latin typeface="DM Sans"/>
                <a:ea typeface="DM Sans"/>
                <a:cs typeface="DM Sans"/>
              </a:defRPr>
            </a:pPr>
            <a:r>
              <a:rPr sz="3000" b="0">
                <a:solidFill>
                  <a:srgbClr val="F7F7F5"/>
                </a:solidFill>
                <a:latin typeface="DM Sans"/>
                <a:ea typeface="DM Sans"/>
                <a:cs typeface="DM Sans"/>
              </a:rPr>
              <a:t>2 public npm releases</a:t>
            </a:r>
          </a:p>
        </p:txBody>
      </p:sp>
      <p:sp>
        <p:nvSpPr>
          <p:cNvPr id="11" name="">
            <a:extLst xmlns:a="http://schemas.openxmlformats.org/drawingml/2006/main">
              <a:ext uri="{FF2B5EF4-FFF2-40B4-BE49-F238E27FC236}">
                <a16:creationId xmlns:a16="http://schemas.microsoft.com/office/drawing/2014/main" id="{15E0EC43-3941-4CE5-9DF9-C18A599C0950}"/>
              </a:ext>
            </a:extLst>
          </p:cNvPr>
          <p:cNvSpPr>
            <a:spLocks xmlns:a="http://schemas.openxmlformats.org/drawingml/2006/main" noGrp="1"/>
          </p:cNvSpPr>
          <p:nvPr/>
        </p:nvSpPr>
        <p:spPr>
          <a:xfrm xmlns:a="http://schemas.openxmlformats.org/drawingml/2006/main">
            <a:off x="10001250" y="4171950"/>
            <a:ext cx="704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E2B777"/>
                </a:solidFill>
                <a:latin typeface="DM Sans"/>
                <a:ea typeface="DM Sans"/>
                <a:cs typeface="DM Sans"/>
              </a:defRPr>
            </a:defPPr>
          </a:lstStyle>
          <a:p xmlns:a="http://schemas.openxmlformats.org/drawingml/2006/main">
            <a:pPr>
              <a:defRPr sz="2550" b="0">
                <a:solidFill>
                  <a:srgbClr val="E2B777"/>
                </a:solidFill>
                <a:latin typeface="DM Sans"/>
                <a:ea typeface="DM Sans"/>
                <a:cs typeface="DM Sans"/>
              </a:defRPr>
            </a:pPr>
            <a:r>
              <a:rPr sz="2550" b="0">
                <a:solidFill>
                  <a:srgbClr val="E2B777"/>
                </a:solidFill>
                <a:latin typeface="DM Sans"/>
                <a:ea typeface="DM Sans"/>
                <a:cs typeface="DM Sans"/>
              </a:rPr>
              <a:t>Download counts unavailable</a:t>
            </a:r>
          </a:p>
        </p:txBody>
      </p:sp>
      <p:sp>
        <p:nvSpPr>
          <p:cNvPr id="12" name="">
            <a:extLst xmlns:a="http://schemas.openxmlformats.org/drawingml/2006/main">
              <a:ext uri="{FF2B5EF4-FFF2-40B4-BE49-F238E27FC236}">
                <a16:creationId xmlns:a16="http://schemas.microsoft.com/office/drawing/2014/main" id="{5927EEFA-6F7D-478E-ABED-3A172DCC4149}"/>
              </a:ext>
            </a:extLst>
          </p:cNvPr>
          <p:cNvSpPr>
            <a:spLocks xmlns:a="http://schemas.openxmlformats.org/drawingml/2006/main" noGrp="1"/>
          </p:cNvSpPr>
          <p:nvPr/>
        </p:nvSpPr>
        <p:spPr>
          <a:xfrm xmlns:a="http://schemas.openxmlformats.org/drawingml/2006/main">
            <a:off x="10001250" y="484822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B7BDC7"/>
                </a:solidFill>
                <a:latin typeface="DM Sans"/>
                <a:ea typeface="DM Sans"/>
                <a:cs typeface="DM Sans"/>
              </a:defRPr>
            </a:defPPr>
          </a:lstStyle>
          <a:p xmlns:a="http://schemas.openxmlformats.org/drawingml/2006/main">
            <a:pPr>
              <a:defRPr sz="2025" b="0">
                <a:solidFill>
                  <a:srgbClr val="B7BDC7"/>
                </a:solidFill>
                <a:latin typeface="DM Sans"/>
                <a:ea typeface="DM Sans"/>
                <a:cs typeface="DM Sans"/>
              </a:defRPr>
            </a:pPr>
            <a:r>
              <a:rPr sz="2025" b="0">
                <a:solidFill>
                  <a:srgbClr val="B7BDC7"/>
                </a:solidFill>
                <a:latin typeface="DM Sans"/>
                <a:ea typeface="DM Sans"/>
                <a:cs typeface="DM Sans"/>
              </a:rPr>
              <a:t>npm API: HTTP 404 · 16 Oct 2026</a:t>
            </a:r>
          </a:p>
        </p:txBody>
      </p:sp>
      <p:graphicFrame>
        <p:nvGraphicFramePr>
          <p:cNvPr id="13" name="Chart">
            <a:extLst xmlns:a="http://schemas.openxmlformats.org/drawingml/2006/main">
              <a:ext uri="{FF2B5EF4-FFF2-40B4-BE49-F238E27FC236}">
                <a16:creationId xmlns:a16="http://schemas.microsoft.com/office/drawing/2014/main" id="{1CF4BFF1-0053-42FE-AEAB-48FA3DF4EDBC}"/>
              </a:ext>
            </a:extLst>
          </p:cNvPr>
          <p:cNvGraphicFramePr/>
          <p:nvPr/>
        </p:nvGraphicFramePr>
        <p:xfrm>
          <a:off xmlns:a="http://schemas.openxmlformats.org/drawingml/2006/main" x="1000125" y="5229225"/>
          <a:ext xmlns:a="http://schemas.openxmlformats.org/drawingml/2006/main" cx="8382000" cy="3476625"/>
        </p:xfrm>
        <a:graphic xmlns:a="http://schemas.openxmlformats.org/drawingml/2006/main">
          <a:graphicData uri="http://schemas.openxmlformats.org/drawingml/2006/chart">
            <c:chart xmlns:r="http://schemas.openxmlformats.org/officeDocument/2006/relationships" xmlns:c="http://schemas.openxmlformats.org/drawingml/2006/chart" r:id="R4b0459d86b854fc9"/>
          </a:graphicData>
        </a:graphic>
      </p:graphicFrame>
      <p:sp>
        <p:nvSpPr>
          <p:cNvPr id="14" name="">
            <a:extLst xmlns:a="http://schemas.openxmlformats.org/drawingml/2006/main">
              <a:ext uri="{FF2B5EF4-FFF2-40B4-BE49-F238E27FC236}">
                <a16:creationId xmlns:a16="http://schemas.microsoft.com/office/drawing/2014/main" id="{EB5D44D1-B398-44AC-88F3-7A2EF5D4F4B1}"/>
              </a:ext>
            </a:extLst>
          </p:cNvPr>
          <p:cNvSpPr>
            <a:spLocks xmlns:a="http://schemas.openxmlformats.org/drawingml/2006/main" noGrp="1"/>
          </p:cNvSpPr>
          <p:nvPr/>
        </p:nvSpPr>
        <p:spPr>
          <a:xfrm xmlns:a="http://schemas.openxmlformats.org/drawingml/2006/main">
            <a:off x="10001250" y="6210300"/>
            <a:ext cx="70485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B7BDC7"/>
                </a:solidFill>
                <a:latin typeface="DM Sans"/>
                <a:ea typeface="DM Sans"/>
                <a:cs typeface="DM Sans"/>
              </a:defRPr>
            </a:defPPr>
          </a:lstStyle>
          <a:p xmlns:a="http://schemas.openxmlformats.org/drawingml/2006/main">
            <a:pPr>
              <a:defRPr sz="2550" b="0">
                <a:solidFill>
                  <a:srgbClr val="B7BDC7"/>
                </a:solidFill>
                <a:latin typeface="DM Sans"/>
                <a:ea typeface="DM Sans"/>
                <a:cs typeface="DM Sans"/>
              </a:defRPr>
            </a:pPr>
            <a:r>
              <a:rPr sz="2550" b="0">
                <a:solidFill>
                  <a:srgbClr val="B7BDC7"/>
                </a:solidFill>
                <a:latin typeface="DM Sans"/>
                <a:ea typeface="DM Sans"/>
                <a:cs typeface="DM Sans"/>
              </a:rPr>
              <a:t>No global runtime-read counter</a:t>
            </a:r>
          </a:p>
          <a:p xmlns:a="http://schemas.openxmlformats.org/drawingml/2006/main">
            <a:pPr>
              <a:defRPr sz="2550" b="0">
                <a:solidFill>
                  <a:srgbClr val="B7BDC7"/>
                </a:solidFill>
                <a:latin typeface="DM Sans"/>
                <a:ea typeface="DM Sans"/>
                <a:cs typeface="DM Sans"/>
              </a:defRPr>
            </a:pPr>
            <a:r>
              <a:rPr sz="2550" b="0">
                <a:solidFill>
                  <a:srgbClr val="B7BDC7"/>
                </a:solidFill>
                <a:latin typeface="DM Sans"/>
                <a:ea typeface="DM Sans"/>
                <a:cs typeface="DM Sans"/>
              </a:rPr>
              <a:t>No outside adoption claim</a:t>
            </a:r>
          </a:p>
        </p:txBody>
      </p:sp>
      <p:sp>
        <p:nvSpPr>
          <p:cNvPr id="15" name="">
            <a:extLst xmlns:a="http://schemas.openxmlformats.org/drawingml/2006/main">
              <a:ext uri="{FF2B5EF4-FFF2-40B4-BE49-F238E27FC236}">
                <a16:creationId xmlns:a16="http://schemas.microsoft.com/office/drawing/2014/main" id="{9ECF8426-12C3-49BE-9974-CFFE79CFEF2D}"/>
              </a:ext>
            </a:extLst>
          </p:cNvPr>
          <p:cNvSpPr>
            <a:spLocks xmlns:a="http://schemas.openxmlformats.org/drawingml/2006/main" noGrp="1"/>
          </p:cNvSpPr>
          <p:nvPr/>
        </p:nvSpPr>
        <p:spPr>
          <a:xfrm xmlns:a="http://schemas.openxmlformats.org/drawingml/2006/main">
            <a:off x="10001250" y="7781925"/>
            <a:ext cx="714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7FB8F4"/>
                </a:solidFill>
                <a:latin typeface="DM Sans"/>
                <a:ea typeface="DM Sans"/>
                <a:cs typeface="DM Sans"/>
              </a:defRPr>
            </a:defPPr>
          </a:lstStyle>
          <a:p xmlns:a="http://schemas.openxmlformats.org/drawingml/2006/main">
            <a:pPr>
              <a:defRPr sz="2700" b="0">
                <a:solidFill>
                  <a:srgbClr val="7FB8F4"/>
                </a:solidFill>
                <a:latin typeface="DM Sans"/>
                <a:ea typeface="DM Sans"/>
                <a:cs typeface="DM Sans"/>
              </a:defRPr>
            </a:pPr>
            <a:r>
              <a:rPr sz="2700" b="0">
                <a:solidFill>
                  <a:srgbClr val="7FB8F4"/>
                </a:solidFill>
                <a:latin typeface="DM Sans"/>
                <a:ea typeface="DM Sans"/>
                <a:cs typeface="DM Sans"/>
              </a:rPr>
              <a:t>98 / 98 / 96 are lab scores</a:t>
            </a:r>
          </a:p>
        </p:txBody>
      </p:sp>
      <p:sp>
        <p:nvSpPr>
          <p:cNvPr id="16" name="">
            <a:extLst xmlns:a="http://schemas.openxmlformats.org/drawingml/2006/main">
              <a:ext uri="{FF2B5EF4-FFF2-40B4-BE49-F238E27FC236}">
                <a16:creationId xmlns:a16="http://schemas.microsoft.com/office/drawing/2014/main" id="{87A37612-D351-4EFE-A223-881178422BEE}"/>
              </a:ext>
            </a:extLst>
          </p:cNvPr>
          <p:cNvSpPr>
            <a:spLocks xmlns:a="http://schemas.openxmlformats.org/drawingml/2006/main" noGrp="1"/>
          </p:cNvSpPr>
          <p:nvPr/>
        </p:nvSpPr>
        <p:spPr>
          <a:xfrm xmlns:a="http://schemas.openxmlformats.org/drawingml/2006/main">
            <a:off x="1047750" y="8943975"/>
            <a:ext cx="1619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B7BDC7"/>
                </a:solidFill>
                <a:latin typeface="DM Sans"/>
                <a:ea typeface="DM Sans"/>
                <a:cs typeface="DM Sans"/>
              </a:defRPr>
            </a:defPPr>
          </a:lstStyle>
          <a:p xmlns:a="http://schemas.openxmlformats.org/drawingml/2006/main">
            <a:pPr>
              <a:defRPr sz="1950" b="0">
                <a:solidFill>
                  <a:srgbClr val="B7BDC7"/>
                </a:solidFill>
                <a:latin typeface="DM Sans"/>
                <a:ea typeface="DM Sans"/>
                <a:cs typeface="DM Sans"/>
              </a:defRPr>
            </a:pPr>
            <a:r>
              <a:rPr sz="1950" b="0">
                <a:solidFill>
                  <a:srgbClr val="B7BDC7"/>
                </a:solidFill>
                <a:latin typeface="DM Sans"/>
                <a:ea typeface="DM Sans"/>
                <a:cs typeface="DM Sans"/>
              </a:rPr>
              <a:t>18 simulated mobile audits · median of 3 per route and phase · historical release</a:t>
            </a:r>
          </a:p>
        </p:txBody>
      </p:sp>
    </p:spTree>
    <p:extLst>
      <p:ext uri="{BB962C8B-B14F-4D97-AF65-F5344CB8AC3E}">
        <p14:creationId xmlns:p14="http://schemas.microsoft.com/office/powerpoint/2010/main" val="673538134"/>
      </p:ext>
    </p:extLst>
  </p:cSld>
</p:sld>
</file>

<file path=ppt/slides/slide8.xml><?xml version="1.0" encoding="utf-8"?>
<p:sld xmlns:p="http://schemas.openxmlformats.org/presentationml/2006/main">
  <p:cSld>
    <p:bg>
      <p:bgPr>
        <a:solidFill xmlns:a="http://schemas.openxmlformats.org/drawingml/2006/main">
          <a:srgbClr val="030405"/>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93813C7A-6955-41A5-9004-48872966CBC8}"/>
              </a:ext>
            </a:extLst>
          </p:cNvPr>
          <p:cNvPicPr>
            <a:picLocks xmlns:a="http://schemas.openxmlformats.org/drawingml/2006/main" noChangeAspect="1"/>
          </p:cNvPicPr>
          <p:nvPr/>
        </p:nvPicPr>
        <p:blipFill>
          <a:blip xmlns:r="http://schemas.openxmlformats.org/officeDocument/2006/relationships" xmlns:a="http://schemas.openxmlformats.org/drawingml/2006/main" r:embed="R0481dd2c47564700"/>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A2EA909-02A0-41C3-A99E-5673FE516CA3}"/>
              </a:ext>
            </a:extLst>
          </p:cNvPr>
          <p:cNvSpPr>
            <a:spLocks xmlns:a="http://schemas.openxmlformats.org/drawingml/2006/main" noGrp="1"/>
          </p:cNvSpPr>
          <p:nvPr/>
        </p:nvSpPr>
        <p:spPr>
          <a:xfrm xmlns:a="http://schemas.openxmlformats.org/drawingml/2006/main">
            <a:off x="1047750" y="72390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7F5"/>
                </a:solidFill>
                <a:latin typeface="DM Sans"/>
                <a:ea typeface="DM Sans"/>
                <a:cs typeface="DM Sans"/>
              </a:defRPr>
            </a:defPPr>
          </a:lstStyle>
          <a:p xmlns:a="http://schemas.openxmlformats.org/drawingml/2006/main">
            <a:pPr>
              <a:defRPr sz="1875" b="0">
                <a:solidFill>
                  <a:srgbClr val="F7F7F5"/>
                </a:solidFill>
                <a:latin typeface="DM Sans"/>
                <a:ea typeface="DM Sans"/>
                <a:cs typeface="DM Sans"/>
              </a:defRPr>
            </a:pPr>
            <a:r>
              <a:rPr sz="1875" b="0">
                <a:solidFill>
                  <a:srgbClr val="F7F7F5"/>
                </a:solidFill>
                <a:latin typeface="DM Sans"/>
                <a:ea typeface="DM Sans"/>
                <a:cs typeface="DM Sans"/>
              </a:rPr>
              <a:t>ARKIV GRAPH</a:t>
            </a:r>
          </a:p>
        </p:txBody>
      </p:sp>
      <p:sp>
        <p:nvSpPr>
          <p:cNvPr id="3" name="">
            <a:extLst xmlns:a="http://schemas.openxmlformats.org/drawingml/2006/main">
              <a:ext uri="{FF2B5EF4-FFF2-40B4-BE49-F238E27FC236}">
                <a16:creationId xmlns:a16="http://schemas.microsoft.com/office/drawing/2014/main" id="{816C094E-06F9-4976-9877-A57C72EC7452}"/>
              </a:ext>
            </a:extLst>
          </p:cNvPr>
          <p:cNvSpPr>
            <a:spLocks xmlns:a="http://schemas.openxmlformats.org/drawingml/2006/main" noGrp="1"/>
          </p:cNvSpPr>
          <p:nvPr/>
        </p:nvSpPr>
        <p:spPr>
          <a:xfrm xmlns:a="http://schemas.openxmlformats.org/drawingml/2006/main">
            <a:off x="16097250" y="7239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08 / 08</a:t>
            </a:r>
          </a:p>
        </p:txBody>
      </p:sp>
      <p:sp>
        <p:nvSpPr>
          <p:cNvPr id="4" name="">
            <a:extLst xmlns:a="http://schemas.openxmlformats.org/drawingml/2006/main">
              <a:ext uri="{FF2B5EF4-FFF2-40B4-BE49-F238E27FC236}">
                <a16:creationId xmlns:a16="http://schemas.microsoft.com/office/drawing/2014/main" id="{00B005E6-F05D-4463-8C44-9AAD4B690977}"/>
              </a:ext>
            </a:extLst>
          </p:cNvPr>
          <p:cNvSpPr>
            <a:spLocks xmlns:a="http://schemas.openxmlformats.org/drawingml/2006/main" noGrp="1"/>
          </p:cNvSpPr>
          <p:nvPr/>
        </p:nvSpPr>
        <p:spPr>
          <a:xfrm xmlns:a="http://schemas.openxmlformats.org/drawingml/2006/main">
            <a:off x="1047750" y="9544050"/>
            <a:ext cx="666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I built this · Ajnas NB</a:t>
            </a:r>
          </a:p>
        </p:txBody>
      </p:sp>
      <p:sp>
        <p:nvSpPr>
          <p:cNvPr id="5" name="">
            <a:extLst xmlns:a="http://schemas.openxmlformats.org/drawingml/2006/main">
              <a:ext uri="{FF2B5EF4-FFF2-40B4-BE49-F238E27FC236}">
                <a16:creationId xmlns:a16="http://schemas.microsoft.com/office/drawing/2014/main" id="{D73D1C46-BB29-44BF-9B3F-9A3B3E2FABF7}"/>
              </a:ext>
            </a:extLst>
          </p:cNvPr>
          <p:cNvSpPr>
            <a:spLocks xmlns:a="http://schemas.openxmlformats.org/drawingml/2006/main" noGrp="1"/>
          </p:cNvSpPr>
          <p:nvPr/>
        </p:nvSpPr>
        <p:spPr>
          <a:xfrm xmlns:a="http://schemas.openxmlformats.org/drawingml/2006/main">
            <a:off x="13049250" y="95440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7BDC7"/>
                </a:solidFill>
                <a:latin typeface="DM Sans"/>
                <a:ea typeface="DM Sans"/>
                <a:cs typeface="DM Sans"/>
              </a:defRPr>
            </a:defPPr>
          </a:lstStyle>
          <a:p xmlns:a="http://schemas.openxmlformats.org/drawingml/2006/main">
            <a:pPr>
              <a:defRPr sz="1800" b="0">
                <a:solidFill>
                  <a:srgbClr val="B7BDC7"/>
                </a:solidFill>
                <a:latin typeface="DM Sans"/>
                <a:ea typeface="DM Sans"/>
                <a:cs typeface="DM Sans"/>
              </a:defRPr>
            </a:pPr>
            <a:r>
              <a:rPr sz="1800" b="0">
                <a:solidFill>
                  <a:srgbClr val="B7BDC7"/>
                </a:solidFill>
                <a:latin typeface="DM Sans"/>
                <a:ea typeface="DM Sans"/>
                <a:cs typeface="DM Sans"/>
              </a:rPr>
              <a:t>arkivgraph.ajnasnb.com</a:t>
            </a:r>
          </a:p>
        </p:txBody>
      </p:sp>
      <p:sp>
        <p:nvSpPr>
          <p:cNvPr id="6" name="">
            <a:extLst xmlns:a="http://schemas.openxmlformats.org/drawingml/2006/main">
              <a:ext uri="{FF2B5EF4-FFF2-40B4-BE49-F238E27FC236}">
                <a16:creationId xmlns:a16="http://schemas.microsoft.com/office/drawing/2014/main" id="{06A4BCA2-EB17-4F75-834A-0E8E610828F8}"/>
              </a:ext>
            </a:extLst>
          </p:cNvPr>
          <p:cNvSpPr>
            <a:spLocks xmlns:a="http://schemas.openxmlformats.org/drawingml/2006/main" noGrp="1"/>
          </p:cNvSpPr>
          <p:nvPr/>
        </p:nvSpPr>
        <p:spPr>
          <a:xfrm xmlns:a="http://schemas.openxmlformats.org/drawingml/2006/main">
            <a:off x="1047750" y="1581150"/>
            <a:ext cx="16002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450" b="0">
                <a:solidFill>
                  <a:srgbClr val="F7F7F5"/>
                </a:solidFill>
                <a:latin typeface="DM Sans"/>
                <a:ea typeface="DM Sans"/>
                <a:cs typeface="DM Sans"/>
              </a:defRPr>
            </a:defPPr>
          </a:lstStyle>
          <a:p xmlns:a="http://schemas.openxmlformats.org/drawingml/2006/main">
            <a:pPr>
              <a:defRPr sz="6450" b="0">
                <a:solidFill>
                  <a:srgbClr val="F7F7F5"/>
                </a:solidFill>
                <a:latin typeface="DM Sans"/>
                <a:ea typeface="DM Sans"/>
                <a:cs typeface="DM Sans"/>
              </a:defRPr>
            </a:pPr>
            <a:r>
              <a:rPr sz="6450" b="0">
                <a:solidFill>
                  <a:srgbClr val="F7F7F5"/>
                </a:solidFill>
                <a:latin typeface="DM Sans"/>
                <a:ea typeface="DM Sans"/>
                <a:cs typeface="DM Sans"/>
              </a:rPr>
              <a:t>Build with Arkiv Graph</a:t>
            </a:r>
          </a:p>
        </p:txBody>
      </p:sp>
      <p:sp>
        <p:nvSpPr>
          <p:cNvPr id="7" name="">
            <a:extLst xmlns:a="http://schemas.openxmlformats.org/drawingml/2006/main">
              <a:ext uri="{FF2B5EF4-FFF2-40B4-BE49-F238E27FC236}">
                <a16:creationId xmlns:a16="http://schemas.microsoft.com/office/drawing/2014/main" id="{2E028F37-C112-48F8-968E-58E1321DCA03}"/>
              </a:ext>
            </a:extLst>
          </p:cNvPr>
          <p:cNvSpPr>
            <a:spLocks xmlns:a="http://schemas.openxmlformats.org/drawingml/2006/main" noGrp="1"/>
          </p:cNvSpPr>
          <p:nvPr/>
        </p:nvSpPr>
        <p:spPr>
          <a:xfrm xmlns:a="http://schemas.openxmlformats.org/drawingml/2006/main">
            <a:off x="1047750" y="3295650"/>
            <a:ext cx="114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0">
                <a:solidFill>
                  <a:srgbClr val="7FB8F4"/>
                </a:solidFill>
                <a:latin typeface="DM Sans"/>
                <a:ea typeface="DM Sans"/>
                <a:cs typeface="DM Sans"/>
              </a:defRPr>
            </a:defPPr>
          </a:lstStyle>
          <a:p xmlns:a="http://schemas.openxmlformats.org/drawingml/2006/main">
            <a:pPr>
              <a:defRPr sz="3300" b="0">
                <a:solidFill>
                  <a:srgbClr val="7FB8F4"/>
                </a:solidFill>
                <a:latin typeface="DM Sans"/>
                <a:ea typeface="DM Sans"/>
                <a:cs typeface="DM Sans"/>
              </a:defRPr>
            </a:pPr>
            <a:r>
              <a:rPr sz="3300" b="0">
                <a:solidFill>
                  <a:srgbClr val="7FB8F4"/>
                </a:solidFill>
                <a:latin typeface="DM Sans"/>
                <a:ea typeface="DM Sans"/>
                <a:cs typeface="DM Sans"/>
              </a:rPr>
              <a:t>01</a:t>
            </a:r>
          </a:p>
        </p:txBody>
      </p:sp>
      <p:sp>
        <p:nvSpPr>
          <p:cNvPr id="8" name="">
            <a:extLst xmlns:a="http://schemas.openxmlformats.org/drawingml/2006/main">
              <a:ext uri="{FF2B5EF4-FFF2-40B4-BE49-F238E27FC236}">
                <a16:creationId xmlns:a16="http://schemas.microsoft.com/office/drawing/2014/main" id="{03F049A4-1226-480B-ABFB-042CD90A7B70}"/>
              </a:ext>
            </a:extLst>
          </p:cNvPr>
          <p:cNvSpPr>
            <a:spLocks xmlns:a="http://schemas.openxmlformats.org/drawingml/2006/main" noGrp="1"/>
          </p:cNvSpPr>
          <p:nvPr/>
        </p:nvSpPr>
        <p:spPr>
          <a:xfrm xmlns:a="http://schemas.openxmlformats.org/drawingml/2006/main">
            <a:off x="2714625" y="3295650"/>
            <a:ext cx="1333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F7F7F5"/>
                </a:solidFill>
                <a:latin typeface="DM Sans"/>
                <a:ea typeface="DM Sans"/>
                <a:cs typeface="DM Sans"/>
              </a:defRPr>
            </a:defPPr>
          </a:lstStyle>
          <a:p xmlns:a="http://schemas.openxmlformats.org/drawingml/2006/main">
            <a:pPr>
              <a:defRPr sz="3225" b="0">
                <a:solidFill>
                  <a:srgbClr val="F7F7F5"/>
                </a:solidFill>
                <a:latin typeface="DM Sans"/>
                <a:ea typeface="DM Sans"/>
                <a:cs typeface="DM Sans"/>
              </a:defRPr>
            </a:pPr>
            <a:r>
              <a:rPr sz="3225" b="0">
                <a:solidFill>
                  <a:srgbClr val="F7F7F5"/>
                </a:solidFill>
                <a:latin typeface="DM Sans"/>
                <a:ea typeface="DM Sans"/>
                <a:cs typeface="DM Sans"/>
              </a:rPr>
              <a:t>Install the public SDK</a:t>
            </a:r>
          </a:p>
        </p:txBody>
      </p:sp>
      <p:sp>
        <p:nvSpPr>
          <p:cNvPr id="9" name="">
            <a:extLst xmlns:a="http://schemas.openxmlformats.org/drawingml/2006/main">
              <a:ext uri="{FF2B5EF4-FFF2-40B4-BE49-F238E27FC236}">
                <a16:creationId xmlns:a16="http://schemas.microsoft.com/office/drawing/2014/main" id="{42188859-B0F5-408A-8913-812A8796BE6A}"/>
              </a:ext>
            </a:extLst>
          </p:cNvPr>
          <p:cNvSpPr>
            <a:spLocks xmlns:a="http://schemas.openxmlformats.org/drawingml/2006/main" noGrp="1"/>
          </p:cNvSpPr>
          <p:nvPr/>
        </p:nvSpPr>
        <p:spPr>
          <a:xfrm xmlns:a="http://schemas.openxmlformats.org/drawingml/2006/main">
            <a:off x="2714625" y="4105275"/>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F7F7F5"/>
                </a:solidFill>
                <a:latin typeface="DM Sans"/>
                <a:ea typeface="DM Sans"/>
                <a:cs typeface="DM Sans"/>
              </a:defRPr>
            </a:defPPr>
          </a:lstStyle>
          <a:p xmlns:a="http://schemas.openxmlformats.org/drawingml/2006/main">
            <a:pPr>
              <a:defRPr sz="2700" b="0">
                <a:solidFill>
                  <a:srgbClr val="F7F7F5"/>
                </a:solidFill>
                <a:latin typeface="DM Sans"/>
                <a:ea typeface="DM Sans"/>
                <a:cs typeface="DM Sans"/>
              </a:defRPr>
            </a:pPr>
            <a:r>
              <a:rPr sz="2700" b="0">
                <a:solidFill>
                  <a:srgbClr val="F7F7F5"/>
                </a:solidFill>
                <a:latin typeface="DM Sans"/>
                <a:ea typeface="DM Sans"/>
                <a:cs typeface="DM Sans"/>
              </a:rPr>
              <a:t>npm install @ajnasnb/arkiv-graph@0.4.0</a:t>
            </a:r>
          </a:p>
        </p:txBody>
      </p:sp>
      <p:sp>
        <p:nvSpPr>
          <p:cNvPr id="10" name="">
            <a:extLst xmlns:a="http://schemas.openxmlformats.org/drawingml/2006/main">
              <a:ext uri="{FF2B5EF4-FFF2-40B4-BE49-F238E27FC236}">
                <a16:creationId xmlns:a16="http://schemas.microsoft.com/office/drawing/2014/main" id="{072E38ED-2CE8-49E3-951E-03E0126999D6}"/>
              </a:ext>
            </a:extLst>
          </p:cNvPr>
          <p:cNvSpPr>
            <a:spLocks xmlns:a="http://schemas.openxmlformats.org/drawingml/2006/main" noGrp="1"/>
          </p:cNvSpPr>
          <p:nvPr/>
        </p:nvSpPr>
        <p:spPr>
          <a:xfrm xmlns:a="http://schemas.openxmlformats.org/drawingml/2006/main">
            <a:off x="1047750" y="5076825"/>
            <a:ext cx="16192500" cy="19050"/>
          </a:xfrm>
          <a:prstGeom xmlns:a="http://schemas.openxmlformats.org/drawingml/2006/main" prst="rect">
            <a:avLst/>
          </a:prstGeom>
          <a:solidFill xmlns:a="http://schemas.openxmlformats.org/drawingml/2006/main">
            <a:srgbClr val="344250"/>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AE5CDE3-8BD3-4CD0-B68D-CB482A68089D}"/>
              </a:ext>
            </a:extLst>
          </p:cNvPr>
          <p:cNvSpPr>
            <a:spLocks xmlns:a="http://schemas.openxmlformats.org/drawingml/2006/main" noGrp="1"/>
          </p:cNvSpPr>
          <p:nvPr/>
        </p:nvSpPr>
        <p:spPr>
          <a:xfrm xmlns:a="http://schemas.openxmlformats.org/drawingml/2006/main">
            <a:off x="1047750" y="5429250"/>
            <a:ext cx="114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0">
                <a:solidFill>
                  <a:srgbClr val="7FB8F4"/>
                </a:solidFill>
                <a:latin typeface="DM Sans"/>
                <a:ea typeface="DM Sans"/>
                <a:cs typeface="DM Sans"/>
              </a:defRPr>
            </a:defPPr>
          </a:lstStyle>
          <a:p xmlns:a="http://schemas.openxmlformats.org/drawingml/2006/main">
            <a:pPr>
              <a:defRPr sz="3300" b="0">
                <a:solidFill>
                  <a:srgbClr val="7FB8F4"/>
                </a:solidFill>
                <a:latin typeface="DM Sans"/>
                <a:ea typeface="DM Sans"/>
                <a:cs typeface="DM Sans"/>
              </a:defRPr>
            </a:pPr>
            <a:r>
              <a:rPr sz="3300" b="0">
                <a:solidFill>
                  <a:srgbClr val="7FB8F4"/>
                </a:solidFill>
                <a:latin typeface="DM Sans"/>
                <a:ea typeface="DM Sans"/>
                <a:cs typeface="DM Sans"/>
              </a:rPr>
              <a:t>02</a:t>
            </a:r>
          </a:p>
        </p:txBody>
      </p:sp>
      <p:sp>
        <p:nvSpPr>
          <p:cNvPr id="12" name="">
            <a:extLst xmlns:a="http://schemas.openxmlformats.org/drawingml/2006/main">
              <a:ext uri="{FF2B5EF4-FFF2-40B4-BE49-F238E27FC236}">
                <a16:creationId xmlns:a16="http://schemas.microsoft.com/office/drawing/2014/main" id="{A35FA279-F485-41D2-B3A3-35A9E8445B61}"/>
              </a:ext>
            </a:extLst>
          </p:cNvPr>
          <p:cNvSpPr>
            <a:spLocks xmlns:a="http://schemas.openxmlformats.org/drawingml/2006/main" noGrp="1"/>
          </p:cNvSpPr>
          <p:nvPr/>
        </p:nvSpPr>
        <p:spPr>
          <a:xfrm xmlns:a="http://schemas.openxmlformats.org/drawingml/2006/main">
            <a:off x="2714625" y="5429250"/>
            <a:ext cx="1381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F7F7F5"/>
                </a:solidFill>
                <a:latin typeface="DM Sans"/>
                <a:ea typeface="DM Sans"/>
                <a:cs typeface="DM Sans"/>
              </a:defRPr>
            </a:defPPr>
          </a:lstStyle>
          <a:p xmlns:a="http://schemas.openxmlformats.org/drawingml/2006/main">
            <a:pPr>
              <a:defRPr sz="3225" b="0">
                <a:solidFill>
                  <a:srgbClr val="F7F7F5"/>
                </a:solidFill>
                <a:latin typeface="DM Sans"/>
                <a:ea typeface="DM Sans"/>
                <a:cs typeface="DM Sans"/>
              </a:defRPr>
            </a:pPr>
            <a:r>
              <a:rPr sz="3225" b="0">
                <a:solidFill>
                  <a:srgbClr val="F7F7F5"/>
                </a:solidFill>
                <a:latin typeface="DM Sans"/>
                <a:ea typeface="DM Sans"/>
                <a:cs typeface="DM Sans"/>
              </a:rPr>
              <a:t>Run the complete graph.mjs example</a:t>
            </a:r>
          </a:p>
        </p:txBody>
      </p:sp>
      <p:sp>
        <p:nvSpPr>
          <p:cNvPr id="13" name="">
            <a:extLst xmlns:a="http://schemas.openxmlformats.org/drawingml/2006/main">
              <a:ext uri="{FF2B5EF4-FFF2-40B4-BE49-F238E27FC236}">
                <a16:creationId xmlns:a16="http://schemas.microsoft.com/office/drawing/2014/main" id="{1AF510EE-A183-4A82-B66A-C8AF455AD43E}"/>
              </a:ext>
            </a:extLst>
          </p:cNvPr>
          <p:cNvSpPr>
            <a:spLocks xmlns:a="http://schemas.openxmlformats.org/drawingml/2006/main" noGrp="1"/>
          </p:cNvSpPr>
          <p:nvPr/>
        </p:nvSpPr>
        <p:spPr>
          <a:xfrm xmlns:a="http://schemas.openxmlformats.org/drawingml/2006/main">
            <a:off x="2714625" y="6238875"/>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B7BDC7"/>
                </a:solidFill>
                <a:latin typeface="DM Sans"/>
                <a:ea typeface="DM Sans"/>
                <a:cs typeface="DM Sans"/>
              </a:defRPr>
            </a:defPPr>
          </a:lstStyle>
          <a:p xmlns:a="http://schemas.openxmlformats.org/drawingml/2006/main">
            <a:pPr>
              <a:defRPr sz="2625" b="0">
                <a:solidFill>
                  <a:srgbClr val="B7BDC7"/>
                </a:solidFill>
                <a:latin typeface="DM Sans"/>
                <a:ea typeface="DM Sans"/>
                <a:cs typeface="DM Sans"/>
              </a:defRPr>
            </a:pPr>
            <a:r>
              <a:rPr sz="2625" b="0">
                <a:solidFill>
                  <a:srgbClr val="B7BDC7"/>
                </a:solidFill>
                <a:latin typeface="DM Sans"/>
                <a:ea typeface="DM Sans"/>
                <a:cs typeface="DM Sans"/>
              </a:rPr>
              <a:t>docs/GETTING_STARTED.md  →  node graph.mjs</a:t>
            </a:r>
          </a:p>
        </p:txBody>
      </p:sp>
      <p:sp>
        <p:nvSpPr>
          <p:cNvPr id="14" name="">
            <a:extLst xmlns:a="http://schemas.openxmlformats.org/drawingml/2006/main">
              <a:ext uri="{FF2B5EF4-FFF2-40B4-BE49-F238E27FC236}">
                <a16:creationId xmlns:a16="http://schemas.microsoft.com/office/drawing/2014/main" id="{F7348446-D93D-47FD-A4EC-55D30B4D3036}"/>
              </a:ext>
            </a:extLst>
          </p:cNvPr>
          <p:cNvSpPr>
            <a:spLocks xmlns:a="http://schemas.openxmlformats.org/drawingml/2006/main" noGrp="1"/>
          </p:cNvSpPr>
          <p:nvPr/>
        </p:nvSpPr>
        <p:spPr>
          <a:xfrm xmlns:a="http://schemas.openxmlformats.org/drawingml/2006/main">
            <a:off x="1047750" y="7210425"/>
            <a:ext cx="16192500" cy="19050"/>
          </a:xfrm>
          <a:prstGeom xmlns:a="http://schemas.openxmlformats.org/drawingml/2006/main" prst="rect">
            <a:avLst/>
          </a:prstGeom>
          <a:solidFill xmlns:a="http://schemas.openxmlformats.org/drawingml/2006/main">
            <a:srgbClr val="34425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2952F6E-DB0E-4C60-8F86-F9F279F89F9B}"/>
              </a:ext>
            </a:extLst>
          </p:cNvPr>
          <p:cNvSpPr>
            <a:spLocks xmlns:a="http://schemas.openxmlformats.org/drawingml/2006/main" noGrp="1"/>
          </p:cNvSpPr>
          <p:nvPr/>
        </p:nvSpPr>
        <p:spPr>
          <a:xfrm xmlns:a="http://schemas.openxmlformats.org/drawingml/2006/main">
            <a:off x="1047750" y="7534275"/>
            <a:ext cx="114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0">
                <a:solidFill>
                  <a:srgbClr val="E2B777"/>
                </a:solidFill>
                <a:latin typeface="DM Sans"/>
                <a:ea typeface="DM Sans"/>
                <a:cs typeface="DM Sans"/>
              </a:defRPr>
            </a:defPPr>
          </a:lstStyle>
          <a:p xmlns:a="http://schemas.openxmlformats.org/drawingml/2006/main">
            <a:pPr>
              <a:defRPr sz="3300" b="0">
                <a:solidFill>
                  <a:srgbClr val="E2B777"/>
                </a:solidFill>
                <a:latin typeface="DM Sans"/>
                <a:ea typeface="DM Sans"/>
                <a:cs typeface="DM Sans"/>
              </a:defRPr>
            </a:pPr>
            <a:r>
              <a:rPr sz="3300" b="0">
                <a:solidFill>
                  <a:srgbClr val="E2B777"/>
                </a:solidFill>
                <a:latin typeface="DM Sans"/>
                <a:ea typeface="DM Sans"/>
                <a:cs typeface="DM Sans"/>
              </a:rPr>
              <a:t>03</a:t>
            </a:r>
          </a:p>
        </p:txBody>
      </p:sp>
      <p:sp>
        <p:nvSpPr>
          <p:cNvPr id="16" name="">
            <a:extLst xmlns:a="http://schemas.openxmlformats.org/drawingml/2006/main">
              <a:ext uri="{FF2B5EF4-FFF2-40B4-BE49-F238E27FC236}">
                <a16:creationId xmlns:a16="http://schemas.microsoft.com/office/drawing/2014/main" id="{0BB65F86-A1C7-4A09-A250-9A38A68CBD0C}"/>
              </a:ext>
            </a:extLst>
          </p:cNvPr>
          <p:cNvSpPr>
            <a:spLocks xmlns:a="http://schemas.openxmlformats.org/drawingml/2006/main" noGrp="1"/>
          </p:cNvSpPr>
          <p:nvPr/>
        </p:nvSpPr>
        <p:spPr>
          <a:xfrm xmlns:a="http://schemas.openxmlformats.org/drawingml/2006/main">
            <a:off x="2714625" y="7534275"/>
            <a:ext cx="1381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F7F7F5"/>
                </a:solidFill>
                <a:latin typeface="DM Sans"/>
                <a:ea typeface="DM Sans"/>
                <a:cs typeface="DM Sans"/>
              </a:defRPr>
            </a:defPPr>
          </a:lstStyle>
          <a:p xmlns:a="http://schemas.openxmlformats.org/drawingml/2006/main">
            <a:pPr>
              <a:defRPr sz="3225" b="0">
                <a:solidFill>
                  <a:srgbClr val="F7F7F5"/>
                </a:solidFill>
                <a:latin typeface="DM Sans"/>
                <a:ea typeface="DM Sans"/>
                <a:cs typeface="DM Sans"/>
              </a:defRPr>
            </a:pPr>
            <a:r>
              <a:rPr sz="3225" b="0">
                <a:solidFill>
                  <a:srgbClr val="F7F7F5"/>
                </a:solidFill>
                <a:latin typeface="DM Sans"/>
                <a:ea typeface="DM Sans"/>
                <a:cs typeface="DM Sans"/>
              </a:rPr>
              <a:t>Review trust policy, then read Arkiv</a:t>
            </a:r>
          </a:p>
        </p:txBody>
      </p:sp>
      <p:sp>
        <p:nvSpPr>
          <p:cNvPr id="17" name="">
            <a:extLst xmlns:a="http://schemas.openxmlformats.org/drawingml/2006/main">
              <a:ext uri="{FF2B5EF4-FFF2-40B4-BE49-F238E27FC236}">
                <a16:creationId xmlns:a16="http://schemas.microsoft.com/office/drawing/2014/main" id="{EEF53106-778B-468F-8954-44B53430418B}"/>
              </a:ext>
            </a:extLst>
          </p:cNvPr>
          <p:cNvSpPr>
            <a:spLocks xmlns:a="http://schemas.openxmlformats.org/drawingml/2006/main" noGrp="1"/>
          </p:cNvSpPr>
          <p:nvPr/>
        </p:nvSpPr>
        <p:spPr>
          <a:xfrm xmlns:a="http://schemas.openxmlformats.org/drawingml/2006/main">
            <a:off x="2714625" y="8343900"/>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F7F7F5"/>
                </a:solidFill>
                <a:latin typeface="DM Sans"/>
                <a:ea typeface="DM Sans"/>
                <a:cs typeface="DM Sans"/>
              </a:defRPr>
            </a:defPPr>
          </a:lstStyle>
          <a:p xmlns:a="http://schemas.openxmlformats.org/drawingml/2006/main">
            <a:pPr>
              <a:defRPr sz="2700" b="0">
                <a:solidFill>
                  <a:srgbClr val="F7F7F5"/>
                </a:solidFill>
                <a:latin typeface="DM Sans"/>
                <a:ea typeface="DM Sans"/>
                <a:cs typeface="DM Sans"/>
              </a:defRPr>
            </a:pPr>
            <a:r>
              <a:rPr sz="2700" b="0">
                <a:solidFill>
                  <a:srgbClr val="F7F7F5"/>
                </a:solidFill>
                <a:latin typeface="DM Sans"/>
                <a:ea typeface="DM Sans"/>
                <a:cs typeface="DM Sans"/>
              </a:rPr>
              <a:t>npx arkiv-graph verify reader.json</a:t>
            </a:r>
          </a:p>
        </p:txBody>
      </p:sp>
      <p:sp>
        <p:nvSpPr>
          <p:cNvPr id="18" name="">
            <a:extLst xmlns:a="http://schemas.openxmlformats.org/drawingml/2006/main">
              <a:ext uri="{FF2B5EF4-FFF2-40B4-BE49-F238E27FC236}">
                <a16:creationId xmlns:a16="http://schemas.microsoft.com/office/drawing/2014/main" id="{97922028-08C7-4F38-8A43-4E73036B5C48}"/>
              </a:ext>
            </a:extLst>
          </p:cNvPr>
          <p:cNvSpPr>
            <a:spLocks xmlns:a="http://schemas.openxmlformats.org/drawingml/2006/main" noGrp="1"/>
          </p:cNvSpPr>
          <p:nvPr/>
        </p:nvSpPr>
        <p:spPr>
          <a:xfrm xmlns:a="http://schemas.openxmlformats.org/drawingml/2006/main">
            <a:off x="1047750" y="9077325"/>
            <a:ext cx="1619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B7BDC7"/>
                </a:solidFill>
                <a:latin typeface="DM Sans"/>
                <a:ea typeface="DM Sans"/>
                <a:cs typeface="DM Sans"/>
              </a:defRPr>
            </a:defPPr>
          </a:lstStyle>
          <a:p xmlns:a="http://schemas.openxmlformats.org/drawingml/2006/main">
            <a:pPr>
              <a:defRPr sz="1950" b="0">
                <a:solidFill>
                  <a:srgbClr val="B7BDC7"/>
                </a:solidFill>
                <a:latin typeface="DM Sans"/>
                <a:ea typeface="DM Sans"/>
                <a:cs typeface="DM Sans"/>
              </a:defRPr>
            </a:pPr>
            <a:r>
              <a:rPr sz="1950" b="0">
                <a:solidFill>
                  <a:srgbClr val="B7BDC7"/>
                </a:solidFill>
                <a:latin typeface="DM Sans"/>
                <a:ea typeface="DM Sans"/>
                <a:cs typeface="DM Sans"/>
              </a:rPr>
              <a:t>MIT · arkiv/schema.md · arkiv/friction.md · Wallet-free reads · RPC completeness is trusted</a:t>
            </a:r>
          </a:p>
        </p:txBody>
      </p:sp>
    </p:spTree>
    <p:extLst>
      <p:ext uri="{BB962C8B-B14F-4D97-AF65-F5344CB8AC3E}">
        <p14:creationId xmlns:p14="http://schemas.microsoft.com/office/powerpoint/2010/main" val="9873927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2026-10-16T07:35:14.7790000Z</dcterms:created>
  <dcterms:modified xsi:type="dcterms:W3CDTF">2026-10-16T07:35:14.7800000Z</dcterms:modified>
</coreProperties>
</file>