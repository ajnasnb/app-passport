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c552454fc37487f" /><Relationship Type="http://schemas.openxmlformats.org/officeDocument/2006/relationships/extended-properties" Target="/docProps/app.xml" Id="R0227cda51c8d406d" /><Relationship Type="http://schemas.openxmlformats.org/officeDocument/2006/relationships/officeDocument" Target="/ppt/presentation.xml" Id="Rb8e35be42d6349b2" /></Relationships>
</file>

<file path=ppt/presentation.xml><?xml version="1.0" encoding="utf-8"?>
<p:presentation xmlns:p="http://schemas.openxmlformats.org/presentationml/2006/main">
  <p:sldMasterIdLst>
    <p:sldMasterId xmlns:r="http://schemas.openxmlformats.org/officeDocument/2006/relationships" id="2147483648" r:id="R4be02db97e5a4282"/>
  </p:sldMasterIdLst>
  <p:notesMasterIdLst>
    <p:notesMasterId xmlns:r="http://schemas.openxmlformats.org/officeDocument/2006/relationships" r:id="R0c484a5c72be4548"/>
  </p:notesMasterIdLst>
  <p:sldIdLst>
    <p:sldId xmlns:r="http://schemas.openxmlformats.org/officeDocument/2006/relationships" id="256" r:id="R0903433509974533"/>
    <p:sldId xmlns:r="http://schemas.openxmlformats.org/officeDocument/2006/relationships" id="257" r:id="Rb401b1a88d984291"/>
    <p:sldId xmlns:r="http://schemas.openxmlformats.org/officeDocument/2006/relationships" id="258" r:id="R41e637b62d35480e"/>
    <p:sldId xmlns:r="http://schemas.openxmlformats.org/officeDocument/2006/relationships" id="259" r:id="R2cfd8074c14c4184"/>
    <p:sldId xmlns:r="http://schemas.openxmlformats.org/officeDocument/2006/relationships" id="260" r:id="Rf35012de840f4dc0"/>
    <p:sldId xmlns:r="http://schemas.openxmlformats.org/officeDocument/2006/relationships" id="261" r:id="R9de2d7d1520e4d6b"/>
    <p:sldId xmlns:r="http://schemas.openxmlformats.org/officeDocument/2006/relationships" id="262" r:id="R83347c9252964738"/>
    <p:sldId xmlns:r="http://schemas.openxmlformats.org/officeDocument/2006/relationships" id="263" r:id="R34ec6ca397e64b8f"/>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41a0bec0744270" /><Relationship Type="http://schemas.openxmlformats.org/officeDocument/2006/relationships/slideMaster" Target="/ppt/slideMasters/slideMaster1.xml" Id="R4be02db97e5a4282" /><Relationship Type="http://schemas.openxmlformats.org/officeDocument/2006/relationships/notesMaster" Target="/ppt/notesMasters/notesMaster1.xml" Id="R0c484a5c72be4548" /><Relationship Type="http://schemas.openxmlformats.org/officeDocument/2006/relationships/presProps" Target="/ppt/presProps.xml" Id="R4b21f8d5aa4f4e2b" /><Relationship Type="http://schemas.openxmlformats.org/officeDocument/2006/relationships/tableStyles" Target="/ppt/tableStyles.xml" Id="R3feeb7f01b7b4fd7" /><Relationship Type="http://schemas.openxmlformats.org/officeDocument/2006/relationships/slide" Target="/ppt/slides/slide1.xml" Id="R0903433509974533" /><Relationship Type="http://schemas.openxmlformats.org/officeDocument/2006/relationships/slide" Target="/ppt/slides/slide2.xml" Id="Rb401b1a88d984291" /><Relationship Type="http://schemas.openxmlformats.org/officeDocument/2006/relationships/slide" Target="/ppt/slides/slide3.xml" Id="R41e637b62d35480e" /><Relationship Type="http://schemas.openxmlformats.org/officeDocument/2006/relationships/slide" Target="/ppt/slides/slide4.xml" Id="R2cfd8074c14c4184" /><Relationship Type="http://schemas.openxmlformats.org/officeDocument/2006/relationships/slide" Target="/ppt/slides/slide5.xml" Id="Rf35012de840f4dc0" /><Relationship Type="http://schemas.openxmlformats.org/officeDocument/2006/relationships/slide" Target="/ppt/slides/slide6.xml" Id="R9de2d7d1520e4d6b" /><Relationship Type="http://schemas.openxmlformats.org/officeDocument/2006/relationships/slide" Target="/ppt/slides/slide7.xml" Id="R83347c9252964738" /><Relationship Type="http://schemas.openxmlformats.org/officeDocument/2006/relationships/slide" Target="/ppt/slides/slide8.xml" Id="R34ec6ca397e64b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faf319cf2f34c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cf53c8dbad4f7c" /><Relationship Type="http://schemas.openxmlformats.org/officeDocument/2006/relationships/notesMaster" Target="/ppt/notesMasters/notesMaster1.xml" Id="R80947f9e4d254d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f8244836224ce0" /><Relationship Type="http://schemas.openxmlformats.org/officeDocument/2006/relationships/notesMaster" Target="/ppt/notesMasters/notesMaster1.xml" Id="R54492279d70440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71127051574959" /><Relationship Type="http://schemas.openxmlformats.org/officeDocument/2006/relationships/notesMaster" Target="/ppt/notesMasters/notesMaster1.xml" Id="R5d251b6e6fbe43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e3f9b954104ffa" /><Relationship Type="http://schemas.openxmlformats.org/officeDocument/2006/relationships/notesMaster" Target="/ppt/notesMasters/notesMaster1.xml" Id="R3bb95da8cb194f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5952c6733b40cc" /><Relationship Type="http://schemas.openxmlformats.org/officeDocument/2006/relationships/notesMaster" Target="/ppt/notesMasters/notesMaster1.xml" Id="R38c1e4286d5749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7f61f6790c4e3a" /><Relationship Type="http://schemas.openxmlformats.org/officeDocument/2006/relationships/notesMaster" Target="/ppt/notesMasters/notesMaster1.xml" Id="R3bff82b799a64c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c0898110254d97" /><Relationship Type="http://schemas.openxmlformats.org/officeDocument/2006/relationships/notesMaster" Target="/ppt/notesMasters/notesMaster1.xml" Id="Ra1a12b02ce1240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b85097beb146e9" /><Relationship Type="http://schemas.openxmlformats.org/officeDocument/2006/relationships/notesMaster" Target="/ppt/notesMasters/notesMaster1.xml" Id="R94cabba417c044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built Arkiv Graph, an MIT TypeScript SDK layered on Arkiv's indexed public entities. AI Passport is the working reference application. It combines selected Qarinah context, source-byte checks and current review admission before a task. The SDK also supplies CLI and stdio MCP readers. The image is an actual capture of the owned public website, not a generated mockup. Source https://github.com/AjnasNB/arkiv-graph.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AI tool developer needs a fresh review decision before the next task. A coding client receives a reviewed context packet. If the reviewer later withdraws that review, a cached approval can be stale even when the packet's content hash is unchanged. A later client must retrieve and evaluate current evidence before starting the next task. The example is the project-operated session in https://arkivgraph.ajnasnb.com/data/two-client-session.json, not a quantified claim about customer incidents.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Arkiv stores and discovers typed indexed node, edge, manifest and root-registry records, with protocol creator metadata and finite expiry. The SDK reconstructs a complete selected revision, verifies signatures and accepted creators, then traverses locally under budgets. AI Passport adds review admission and source-byte verification. Private Qarinah memory and inference stay off-chain. Manifest membership is not a proof that the RPC exposed every newer revision. Schema https://github.com/AjnasNB/arkiv-graph/blob/main/arkiv/schema.md. Architecture https://github.com/AjnasNB/arkiv-graph/blob/main/ARCHITECTURE.md.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project-operated clients and two project-controlled signing wallets demonstrate a real Tiramisu review withdrawal. In the recorded operator lifecycle, A admitted at603794 and B at603795. Review withdrawal was at603917. B refused its next request at603919 and A at603920. The screenshots are fresh requests for the same already-withdrawn session, not a re-publication or before-state simulation. Both refuse and run no task. This deterministic flow does not use an LLM. The separate root-update experiment published two revisions and six graph records in one atomic transaction:8entities,block608212. It does not migrate the larger AI reference root. https://arkivgraph.ajnasnb.com/data/two-client-session.json ; https://arkivgraph.ajnasnb.com/data/root-update-publication.json.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Passport checks the context review before hosted inference using @cf/meta/llama-3.2-3b-instruct. The coding flow links selected Qarinah context to exact source bytes, interprets a finite guard specification and passes six boundary cases. Generated JavaScript is exported for inspection and is not executed. The screenshot is the recorded 15 October coding run, run ID 351a5039-ff2e-403d-abfc-5363e4120e98, documented in https://arkivgraph.ajnasnb.com/data/launch-capture-evidence.json. The separate eight-case report is https://arkivgraph.ajnasnb.com/data/ai-evaluation.json. India number tutor calculates deterministic exact paise/lakh/crore in English/Hindi. UPI Safety Quest uses project-authored NPCI-linked learning material, deterministic scoring and an optional AI coach. No payment or outside adoption is claimed. https://arkivgraph.ajnasnb.com/?view=handoff.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used here is shared public indexed discovery outside the originating application API. In a controlled in-process fetch fault-injection test, an isolated clean npm consumer rejects project API requests while reading both pinned graphs through Arkiv RPC, checking source bytes and refusing the withdrawn session. This is not an actual website outage, OS firewall or network sandbox. A private database can implement the same local graph and verification protocol, but another public discovery layer is needed to preserve cross-application access when the originating API is unavailable. IPFS distributes content-addressed bytes and still needs indexed review/creator discovery. Another public protocol could supply similar properties. Arkiv Graph contributes versioned schema, signed manifest, bounded readers, trust-state handling and CLI/MCP integration. These are present integration advantages. Independent adoption and an ecosystem moat remain unproven. https://arkivgraph.ajnasnb.com/data/backend-independence.json ; https://github.com/AjnasNB/arkiv-graph/blob/main/ARKIV_GRAPH.md.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counts describe project-run checks. The current full suite passes 274 local tests. These and the 19 trust safeguards have different scopes. Graph 0.4.0 and AI Passport 0.6.0 were installed anonymously outside the workspace and matched reviewed release integrity. Graph 0.4.0's exact documented local example passes with 2 nodes and 1 edge with fetch disabled. The active patch versions shown here are Graph 0.4.1 and AI Passport 0.6.1, published. Historical clean-install evidence remains attributed to its recorded version until refreshed. Download statistics for 7-day and 30-day windows returned HTTP 404 at 2026-10-16T16:20:28.697Z. Unavailable does not mean zero users. The 18 historical Lighthouse 13.5 desktop-simulated mobile audits use 3 cold runs per route and phase. Before scores are 87/88/41 and after scores are 98/98/96. These scores do not grade later website changes, physical phones, field INP or this hackathon. https://arkivgraph.ajnasnb.com/data/mobile-performance.json ; https://arkivgraph.ajnasnb.com/data/npm-usage.json ; https://arkivgraph.ajnasnb.com/data/quickstart-proof.json ; https://arkivgraph.ajnasnb.com/data/security-evaluation.json.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Node.js 24+. In a new folder run npm init -y and npm install @ajnasnb/arkiv-graph@0.4.1. Graph 0.4.1 is published. Copy the complete graph.mjs from https://github.com/AjnasNB/arkiv-graph/blob/main/docs/GETTING_STARTED.md before node graph.mjs. That local example validates schema and traversal only. For online reads, independently review issuer/root/chain/profile policy before npx arkiv-graph verify reader.json or npx arkiv-graph mcp reader.json. Readers need no wallet. Publishing requires a funded dedicated Tiramisu testnet wallet and deliberate broadcast. No custom contract deployment is needed. Limits: one live RPC still supplies unseen history/completeness, clearing history loses retained observations, small separate root demo with manual authority/policy rotation, no scale or outside-adoption evidence. Friction https://github.com/AjnasNB/arkiv-graph/blob/main/arkiv/friction.md and schema https://github.com/AjnasNB/arkiv-graph/blob/main/arkiv/schema.md.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cfabda9d3945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04044805f7401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43ac7a1dc77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253b8d8a6d74d1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97988a514f4f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3143e1c62543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172018-7738-4A31-9468-33FEE3D2F93D}"/>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3EC97AE-ACB4-42A0-8CA7-7E29B5FDEEEF}"/>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4A58D9F-253C-483B-BE55-D0B90F4A7AD7}"/>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CAF89D-07B9-4C5F-A918-04C43B564A07}"/>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8FAB2D-F3A7-48A7-9570-32A47B4FFB6C}"/>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4A5C065-FBCA-48BE-B48F-246E5D9884AE}"/>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3164F2-242F-4D8B-9D84-C47B5CC5A0CB}"/>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6A3B6EA-BA30-4ACC-97B0-C3F43148DEDE}"/>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7C8AC1-57BB-4C60-B210-C37686D4C404}"/>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915635-6291-42BE-A0BF-539A92DC57F3}"/>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b09b671e1b447b" /><Relationship Type="http://schemas.openxmlformats.org/officeDocument/2006/relationships/slideLayout" Target="/ppt/slideLayouts/slideLayout1.xml" Id="R62d0f7ef0bee4ea9" /><Relationship Type="http://schemas.openxmlformats.org/officeDocument/2006/relationships/slideLayout" Target="/ppt/slideLayouts/slideLayout2.xml" Id="R498334d1a2af40c9" /><Relationship Type="http://schemas.openxmlformats.org/officeDocument/2006/relationships/slideLayout" Target="/ppt/slideLayouts/slideLayout3.xml" Id="Rafe44591c0e94e7a" /><Relationship Type="http://schemas.openxmlformats.org/officeDocument/2006/relationships/slideLayout" Target="/ppt/slideLayouts/slideLayout4.xml" Id="R1eba727621ac40fd" /><Relationship Type="http://schemas.openxmlformats.org/officeDocument/2006/relationships/slideLayout" Target="/ppt/slideLayouts/slideLayout5.xml" Id="R6b199df99d2045d1" /><Relationship Type="http://schemas.openxmlformats.org/officeDocument/2006/relationships/slideLayout" Target="/ppt/slideLayouts/slideLayout6.xml" Id="Raf805a8f8bdd481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d0f7ef0bee4ea9"/>
    <p:sldLayoutId xmlns:r="http://schemas.openxmlformats.org/officeDocument/2006/relationships" id="2147483650" r:id="R498334d1a2af40c9"/>
    <p:sldLayoutId xmlns:r="http://schemas.openxmlformats.org/officeDocument/2006/relationships" id="2147483651" r:id="Rafe44591c0e94e7a"/>
    <p:sldLayoutId xmlns:r="http://schemas.openxmlformats.org/officeDocument/2006/relationships" id="2147483652" r:id="R1eba727621ac40fd"/>
    <p:sldLayoutId xmlns:r="http://schemas.openxmlformats.org/officeDocument/2006/relationships" id="2147483653" r:id="R6b199df99d2045d1"/>
    <p:sldLayoutId xmlns:r="http://schemas.openxmlformats.org/officeDocument/2006/relationships" id="2147483654" r:id="Raf805a8f8bdd481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ae7a3a749374513" /><Relationship Type="http://schemas.openxmlformats.org/officeDocument/2006/relationships/image" Target="/ppt/media/image.png" Id="Ra8a4e1dde4b74876" /><Relationship Type="http://schemas.openxmlformats.org/officeDocument/2006/relationships/notesSlide" Target="/ppt/notesSlides/notesSlide1.xml" Id="Rce4cd438ba3a41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e1781b04e4d4274" /><Relationship Type="http://schemas.openxmlformats.org/officeDocument/2006/relationships/notesSlide" Target="/ppt/notesSlides/notesSlide2.xml" Id="R981c8d07c0e941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78dbb96ffa4800" /><Relationship Type="http://schemas.openxmlformats.org/officeDocument/2006/relationships/notesSlide" Target="/ppt/notesSlides/notesSlide3.xml" Id="R7f19c2266b644a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27b514574f34741" /><Relationship Type="http://schemas.openxmlformats.org/officeDocument/2006/relationships/image" Target="/ppt/media/image2.png" Id="R6803e51d3ed14737" /><Relationship Type="http://schemas.openxmlformats.org/officeDocument/2006/relationships/image" Target="/ppt/media/image3.png" Id="Re70a9c4dd7dc43db" /><Relationship Type="http://schemas.openxmlformats.org/officeDocument/2006/relationships/notesSlide" Target="/ppt/notesSlides/notesSlide4.xml" Id="R25638febd8074a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9cf25086793406d" /><Relationship Type="http://schemas.openxmlformats.org/officeDocument/2006/relationships/image" Target="/ppt/media/image4.png" Id="Rf0c9e443919d4d66" /><Relationship Type="http://schemas.openxmlformats.org/officeDocument/2006/relationships/notesSlide" Target="/ppt/notesSlides/notesSlide5.xml" Id="R7ea853f0c70844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475f6e19ad45fc" /><Relationship Type="http://schemas.openxmlformats.org/officeDocument/2006/relationships/notesSlide" Target="/ppt/notesSlides/notesSlide6.xml" Id="R7c20734ec8534f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756760179604cd2" /><Relationship Type="http://schemas.openxmlformats.org/officeDocument/2006/relationships/chart" Target="/ppt/slides/charts/chart1.xml" Id="Rc4c86db34e744e65" /><Relationship Type="http://schemas.openxmlformats.org/officeDocument/2006/relationships/notesSlide" Target="/ppt/notesSlides/notesSlide7.xml" Id="R0d4215f9d15149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abae43cc11e4417" /><Relationship Type="http://schemas.openxmlformats.org/officeDocument/2006/relationships/notesSlide" Target="/ppt/notesSlides/notesSlide8.xml" Id="Rf601e87c693d439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c:v>
          </c:tx>
          <c:spPr>
            <a:solidFill xmlns:a="http://schemas.openxmlformats.org/drawingml/2006/main">
              <a:srgbClr val="ACB5AB"/>
            </a:solidFill>
          </c:spPr>
          <c:invertIfNegative val="0"/>
          <c:cat>
            <c:strRef>
              <c:f>'Chart Data'!$A$2:$A$4</c:f>
              <c:strCache>
                <c:ptCount val="3"/>
                <c:pt idx="0">
                  <c:v>Overview</c:v>
                </c:pt>
                <c:pt idx="1">
                  <c:v>Context</c:v>
                </c:pt>
                <c:pt idx="2">
                  <c:v>Two-client</c:v>
                </c:pt>
              </c:strCache>
            </c:strRef>
          </c:cat>
          <c:val>
            <c:numRef>
              <c:f>'Chart Data'!$B$2:$B$4</c:f>
              <c:numCache>
                <c:formatCode>General</c:formatCode>
                <c:ptCount val="3"/>
                <c:pt idx="0">
                  <c:v>87</c:v>
                </c:pt>
                <c:pt idx="1">
                  <c:v>88</c:v>
                </c:pt>
                <c:pt idx="2">
                  <c:v>41</c:v>
                </c:pt>
              </c:numCache>
            </c:numRef>
          </c:val>
        </c:ser>
        <c:ser>
          <c:idx val="1"/>
          <c:order val="1"/>
          <c:tx>
            <c:v>After</c:v>
          </c:tx>
          <c:spPr>
            <a:solidFill xmlns:a="http://schemas.openxmlformats.org/drawingml/2006/main">
              <a:srgbClr val="225B4B"/>
            </a:solidFill>
          </c:spPr>
          <c:invertIfNegative val="0"/>
          <c:cat>
            <c:strRef>
              <c:f>'Chart Data'!$C$2:$C$4</c:f>
              <c:strCache>
                <c:ptCount val="3"/>
                <c:pt idx="0">
                  <c:v>Overview</c:v>
                </c:pt>
                <c:pt idx="1">
                  <c:v>Context</c:v>
                </c:pt>
                <c:pt idx="2">
                  <c:v>Two-client</c:v>
                </c:pt>
              </c:strCache>
            </c:strRef>
          </c:cat>
          <c:val>
            <c:numRef>
              <c:f>'Chart Data'!$D$2:$D$4</c:f>
              <c:numCache>
                <c:formatCode>General</c:formatCode>
                <c:ptCount val="3"/>
                <c:pt idx="0">
                  <c:v>98</c:v>
                </c:pt>
                <c:pt idx="1">
                  <c:v>98</c:v>
                </c:pt>
                <c:pt idx="2">
                  <c:v>96</c:v>
                </c:pt>
              </c:numCache>
            </c:numRef>
          </c:val>
        </c:ser>
        <c:dLbls>
          <c:txPr>
            <a:bodyPr xmlns:a="http://schemas.openxmlformats.org/drawingml/2006/main" anchorCtr="1"/>
            <a:lstStyle xmlns:a="http://schemas.openxmlformats.org/drawingml/2006/main"/>
            <a:p xmlns:a="http://schemas.openxmlformats.org/drawingml/2006/main">
              <a:pPr>
                <a:defRPr sz="2175">
                  <a:solidFill>
                    <a:srgbClr val="17372E"/>
                  </a:solidFill>
                  <a:latin typeface="Arial"/>
                  <a:ea typeface="Arial"/>
                  <a:cs typeface="Arial"/>
                </a:defRPr>
              </a:pPr>
            </a:p>
          </c:txPr>
          <c:dLblPos val="outEnd"/>
          <c:showLegendKey val="0"/>
          <c:showVal val="1"/>
          <c:showCatName val="0"/>
          <c:showSerName val="0"/>
          <c:showPercent val="0"/>
          <c:showBubbleSize val="0"/>
          <c:showLeaderLines val="0"/>
        </c:dLbls>
        <c:gapWidth val="10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372E"/>
                </a:solidFill>
                <a:latin typeface="Arial"/>
                <a:ea typeface="Arial"/>
                <a:cs typeface="Arial"/>
              </a:defRPr>
            </a:pPr>
          </a:p>
        </c:txPr>
        <c:crossAx val="48672768"/>
      </c:catAx>
      <c:valAx>
        <c:axId val="48672768"/>
        <c:scaling>
          <c:orientation val="minMax"/>
          <c:max val="110"/>
          <c:min val="0"/>
        </c:scaling>
        <c:delete val="0"/>
        <c:axPos val="l"/>
        <c:majorGridlines>
          <c:spPr>
            <a:ln xmlns:a="http://schemas.openxmlformats.org/drawingml/2006/main" w="9525">
              <a:solidFill>
                <a:srgbClr val="C6CCC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3716B"/>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63716B"/>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A6A26D2-DD4E-4871-B86A-33D6E5A9ECA0}"/>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ARKIV GRAPH / OCTOBER 2026</a:t>
            </a:r>
          </a:p>
        </p:txBody>
      </p:sp>
      <p:sp>
        <p:nvSpPr>
          <p:cNvPr id="2" name="">
            <a:extLst xmlns:a="http://schemas.openxmlformats.org/drawingml/2006/main">
              <a:ext uri="{FF2B5EF4-FFF2-40B4-BE49-F238E27FC236}">
                <a16:creationId xmlns:a16="http://schemas.microsoft.com/office/drawing/2014/main" id="{D66E2E23-E2AF-4044-9060-8178A71CF789}"/>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0507DB1-AA17-401C-8D0F-21FC31868D9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AB199E-FA5A-41CF-8E76-A1140BA77E3A}"/>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334C0271-DC9E-4EF4-BF83-1254818C45DA}"/>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C667A47F-955B-4AA1-AABD-7F5A97895671}"/>
              </a:ext>
            </a:extLst>
          </p:cNvPr>
          <p:cNvSpPr>
            <a:spLocks xmlns:a="http://schemas.openxmlformats.org/drawingml/2006/main" noGrp="1"/>
          </p:cNvSpPr>
          <p:nvPr/>
        </p:nvSpPr>
        <p:spPr>
          <a:xfrm xmlns:a="http://schemas.openxmlformats.org/drawingml/2006/main">
            <a:off x="952500" y="1771650"/>
            <a:ext cx="16192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600" b="0">
                <a:solidFill>
                  <a:srgbClr val="F9F8F3"/>
                </a:solidFill>
                <a:latin typeface="Georgia"/>
                <a:ea typeface="Georgia"/>
                <a:cs typeface="Georgia"/>
              </a:defRPr>
            </a:defPPr>
          </a:lstStyle>
          <a:p xmlns:a="http://schemas.openxmlformats.org/drawingml/2006/main">
            <a:pPr>
              <a:defRPr sz="9600" b="0">
                <a:solidFill>
                  <a:srgbClr val="F9F8F3"/>
                </a:solidFill>
                <a:latin typeface="Georgia"/>
                <a:ea typeface="Georgia"/>
                <a:cs typeface="Georgia"/>
              </a:defRPr>
            </a:pPr>
            <a:r>
              <a:rPr sz="9600" b="0">
                <a:solidFill>
                  <a:srgbClr val="F9F8F3"/>
                </a:solidFill>
                <a:latin typeface="Georgia"/>
                <a:ea typeface="Georgia"/>
                <a:cs typeface="Georgia"/>
              </a:rPr>
              <a:t>Arkiv Graph</a:t>
            </a:r>
          </a:p>
        </p:txBody>
      </p:sp>
      <p:sp>
        <p:nvSpPr>
          <p:cNvPr id="7" name="">
            <a:extLst xmlns:a="http://schemas.openxmlformats.org/drawingml/2006/main">
              <a:ext uri="{FF2B5EF4-FFF2-40B4-BE49-F238E27FC236}">
                <a16:creationId xmlns:a16="http://schemas.microsoft.com/office/drawing/2014/main" id="{B99D729B-810F-47AD-AEB8-0A0888144B3A}"/>
              </a:ext>
            </a:extLst>
          </p:cNvPr>
          <p:cNvSpPr>
            <a:spLocks xmlns:a="http://schemas.openxmlformats.org/drawingml/2006/main" noGrp="1"/>
          </p:cNvSpPr>
          <p:nvPr/>
        </p:nvSpPr>
        <p:spPr>
          <a:xfrm xmlns:a="http://schemas.openxmlformats.org/drawingml/2006/main">
            <a:off x="952500" y="4181475"/>
            <a:ext cx="6238875"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500" b="0">
                <a:solidFill>
                  <a:srgbClr val="F9F8F3"/>
                </a:solidFill>
                <a:latin typeface="Arial"/>
                <a:ea typeface="Arial"/>
                <a:cs typeface="Arial"/>
              </a:defRPr>
            </a:defPPr>
          </a:lstStyle>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Evidence graphs</a:t>
            </a:r>
          </a:p>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for AI tools</a:t>
            </a:r>
          </a:p>
        </p:txBody>
      </p:sp>
      <p:sp>
        <p:nvSpPr>
          <p:cNvPr id="8" name="">
            <a:extLst xmlns:a="http://schemas.openxmlformats.org/drawingml/2006/main">
              <a:ext uri="{FF2B5EF4-FFF2-40B4-BE49-F238E27FC236}">
                <a16:creationId xmlns:a16="http://schemas.microsoft.com/office/drawing/2014/main" id="{BAC982E9-68BA-4765-9E41-4D479C992989}"/>
              </a:ext>
            </a:extLst>
          </p:cNvPr>
          <p:cNvSpPr>
            <a:spLocks xmlns:a="http://schemas.openxmlformats.org/drawingml/2006/main" noGrp="1"/>
          </p:cNvSpPr>
          <p:nvPr/>
        </p:nvSpPr>
        <p:spPr>
          <a:xfrm xmlns:a="http://schemas.openxmlformats.org/drawingml/2006/main">
            <a:off x="990600" y="6324600"/>
            <a:ext cx="6096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C4D8CD"/>
                </a:solidFill>
                <a:latin typeface="Arial"/>
                <a:ea typeface="Arial"/>
                <a:cs typeface="Arial"/>
              </a:defRPr>
            </a:defPPr>
          </a:lstStyle>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 reusable SDK on Arkiv.</a:t>
            </a:r>
          </a:p>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AI Passport is the reference app.</a:t>
            </a:r>
          </a:p>
        </p:txBody>
      </p:sp>
      <p:sp>
        <p:nvSpPr>
          <p:cNvPr id="9" name="">
            <a:extLst xmlns:a="http://schemas.openxmlformats.org/drawingml/2006/main">
              <a:ext uri="{FF2B5EF4-FFF2-40B4-BE49-F238E27FC236}">
                <a16:creationId xmlns:a16="http://schemas.microsoft.com/office/drawing/2014/main" id="{3880B861-00BB-495B-A8AD-7130EF4ACA13}"/>
              </a:ext>
            </a:extLst>
          </p:cNvPr>
          <p:cNvSpPr>
            <a:spLocks xmlns:a="http://schemas.openxmlformats.org/drawingml/2006/main" noGrp="1"/>
          </p:cNvSpPr>
          <p:nvPr/>
        </p:nvSpPr>
        <p:spPr>
          <a:xfrm xmlns:a="http://schemas.openxmlformats.org/drawingml/2006/main">
            <a:off x="990600" y="8115300"/>
            <a:ext cx="6000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C4D8CD"/>
                </a:solidFill>
                <a:latin typeface="Arial"/>
                <a:ea typeface="Arial"/>
                <a:cs typeface="Arial"/>
              </a:defRPr>
            </a:defPPr>
          </a:lstStyle>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MIT TypeScript SDK</a:t>
            </a:r>
          </a:p>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CLI and MCP readers</a:t>
            </a:r>
          </a:p>
        </p:txBody>
      </p:sp>
      <p:pic>
        <p:nvPicPr>
          <p:cNvPr id="10" name="">
            <a:extLst xmlns:a="http://schemas.openxmlformats.org/drawingml/2006/main">
              <a:ext uri="{FF2B5EF4-FFF2-40B4-BE49-F238E27FC236}">
                <a16:creationId xmlns:a16="http://schemas.microsoft.com/office/drawing/2014/main" id="{5EEB7328-9747-41FD-8A6E-1CC7A0DDBC3C}"/>
              </a:ext>
            </a:extLst>
          </p:cNvPr>
          <p:cNvPicPr>
            <a:picLocks xmlns:a="http://schemas.openxmlformats.org/drawingml/2006/main" noChangeAspect="1"/>
          </p:cNvPicPr>
          <p:nvPr/>
        </p:nvPicPr>
        <p:blipFill>
          <a:blip xmlns:r="http://schemas.openxmlformats.org/officeDocument/2006/relationships" xmlns:a="http://schemas.openxmlformats.org/drawingml/2006/main" r:embed="Ra8a4e1dde4b74876"/>
          <a:stretch xmlns:a="http://schemas.openxmlformats.org/drawingml/2006/main"/>
        </p:blipFill>
        <p:spPr>
          <a:xfrm xmlns:a="http://schemas.openxmlformats.org/drawingml/2006/main">
            <a:off x="7657562" y="4019550"/>
            <a:ext cx="9545126" cy="4381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FD6FF77-97BB-4B33-94EB-5BC8F3C80295}"/>
              </a:ext>
            </a:extLst>
          </p:cNvPr>
          <p:cNvSpPr>
            <a:spLocks xmlns:a="http://schemas.openxmlformats.org/drawingml/2006/main" noGrp="1"/>
          </p:cNvSpPr>
          <p:nvPr/>
        </p:nvSpPr>
        <p:spPr>
          <a:xfrm xmlns:a="http://schemas.openxmlformats.org/drawingml/2006/main">
            <a:off x="7524750" y="864870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F9F8F3"/>
                </a:solidFill>
                <a:latin typeface="Arial"/>
                <a:ea typeface="Arial"/>
                <a:cs typeface="Arial"/>
              </a:defRPr>
            </a:defPPr>
          </a:lstStyle>
          <a:p xmlns:a="http://schemas.openxmlformats.org/drawingml/2006/main">
            <a:pPr>
              <a:defRPr sz="2175" b="0">
                <a:solidFill>
                  <a:srgbClr val="F9F8F3"/>
                </a:solidFill>
                <a:latin typeface="Arial"/>
                <a:ea typeface="Arial"/>
                <a:cs typeface="Arial"/>
              </a:defRPr>
            </a:pPr>
            <a:r>
              <a:rPr sz="2175" b="0">
                <a:solidFill>
                  <a:srgbClr val="F9F8F3"/>
                </a:solidFill>
                <a:latin typeface="Arial"/>
                <a:ea typeface="Arial"/>
                <a:cs typeface="Arial"/>
              </a:rPr>
              <a:t>Live product: arkivgraph.ajnasnb.com</a:t>
            </a:r>
          </a:p>
        </p:txBody>
      </p:sp>
    </p:spTree>
    <p:extLst>
      <p:ext uri="{BB962C8B-B14F-4D97-AF65-F5344CB8AC3E}">
        <p14:creationId xmlns:p14="http://schemas.microsoft.com/office/powerpoint/2010/main" val="642558421"/>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4DD1D04-6610-4E21-ABF1-CCDF7FF698B4}"/>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E4A4E097-F73D-44EA-B9E5-6818AD16F7C0}"/>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967CC1EA-3DC8-4E1A-BB6E-D4C9E59A4B9B}"/>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2D1634-750E-49EB-8C7D-3070832A1F1B}"/>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91FC4439-0AF5-4A42-B020-C0ED9A97D31F}"/>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856343D1-86DB-4E3A-B274-CF96226A5911}"/>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file is unchanged.</a:t>
            </a:r>
          </a:p>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review has been withdrawn.</a:t>
            </a:r>
          </a:p>
        </p:txBody>
      </p:sp>
      <p:sp>
        <p:nvSpPr>
          <p:cNvPr id="7" name="">
            <a:extLst xmlns:a="http://schemas.openxmlformats.org/drawingml/2006/main">
              <a:ext uri="{FF2B5EF4-FFF2-40B4-BE49-F238E27FC236}">
                <a16:creationId xmlns:a16="http://schemas.microsoft.com/office/drawing/2014/main" id="{FA8E0C72-6640-49D8-82B5-554F390B04BC}"/>
              </a:ext>
            </a:extLst>
          </p:cNvPr>
          <p:cNvSpPr>
            <a:spLocks xmlns:a="http://schemas.openxmlformats.org/drawingml/2006/main" noGrp="1"/>
          </p:cNvSpPr>
          <p:nvPr/>
        </p:nvSpPr>
        <p:spPr>
          <a:xfrm xmlns:a="http://schemas.openxmlformats.org/drawingml/2006/main">
            <a:off x="1000125" y="323850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63716B"/>
                </a:solidFill>
                <a:latin typeface="Arial"/>
                <a:ea typeface="Arial"/>
                <a:cs typeface="Arial"/>
              </a:defRPr>
            </a:defPPr>
          </a:lstStyle>
          <a:p xmlns:a="http://schemas.openxmlformats.org/drawingml/2006/main">
            <a:pPr>
              <a:defRPr sz="3000" b="0">
                <a:solidFill>
                  <a:srgbClr val="63716B"/>
                </a:solidFill>
                <a:latin typeface="Arial"/>
                <a:ea typeface="Arial"/>
                <a:cs typeface="Arial"/>
              </a:defRPr>
            </a:pPr>
            <a:r>
              <a:rPr sz="3000" b="0">
                <a:solidFill>
                  <a:srgbClr val="63716B"/>
                </a:solidFill>
                <a:latin typeface="Arial"/>
                <a:ea typeface="Arial"/>
                <a:cs typeface="Arial"/>
              </a:rPr>
              <a:t>AI tool developers need a fresh review decision before the next task.</a:t>
            </a:r>
          </a:p>
        </p:txBody>
      </p:sp>
      <p:sp>
        <p:nvSpPr>
          <p:cNvPr id="8" name="">
            <a:extLst xmlns:a="http://schemas.openxmlformats.org/drawingml/2006/main">
              <a:ext uri="{FF2B5EF4-FFF2-40B4-BE49-F238E27FC236}">
                <a16:creationId xmlns:a16="http://schemas.microsoft.com/office/drawing/2014/main" id="{4CBFC348-FC77-46D8-A45B-B95A31F7E345}"/>
              </a:ext>
            </a:extLst>
          </p:cNvPr>
          <p:cNvSpPr>
            <a:spLocks xmlns:a="http://schemas.openxmlformats.org/drawingml/2006/main" noGrp="1"/>
          </p:cNvSpPr>
          <p:nvPr/>
        </p:nvSpPr>
        <p:spPr>
          <a:xfrm xmlns:a="http://schemas.openxmlformats.org/drawingml/2006/main">
            <a:off x="1000125" y="4591050"/>
            <a:ext cx="676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225B4B"/>
                </a:solidFill>
                <a:latin typeface="Georgia"/>
                <a:ea typeface="Georgia"/>
                <a:cs typeface="Georgia"/>
              </a:defRPr>
            </a:defPPr>
          </a:lstStyle>
          <a:p xmlns:a="http://schemas.openxmlformats.org/drawingml/2006/main">
            <a:pPr>
              <a:defRPr sz="6600" b="0">
                <a:solidFill>
                  <a:srgbClr val="225B4B"/>
                </a:solidFill>
                <a:latin typeface="Georgia"/>
                <a:ea typeface="Georgia"/>
                <a:cs typeface="Georgia"/>
              </a:defRPr>
            </a:pPr>
            <a:r>
              <a:rPr sz="6600" b="0">
                <a:solidFill>
                  <a:srgbClr val="225B4B"/>
                </a:solidFill>
                <a:latin typeface="Georgia"/>
                <a:ea typeface="Georgia"/>
                <a:cs typeface="Georgia"/>
              </a:rPr>
              <a:t>Approved</a:t>
            </a:r>
          </a:p>
        </p:txBody>
      </p:sp>
      <p:sp>
        <p:nvSpPr>
          <p:cNvPr id="9" name="">
            <a:extLst xmlns:a="http://schemas.openxmlformats.org/drawingml/2006/main">
              <a:ext uri="{FF2B5EF4-FFF2-40B4-BE49-F238E27FC236}">
                <a16:creationId xmlns:a16="http://schemas.microsoft.com/office/drawing/2014/main" id="{1D2D980B-4010-45AD-9BE2-798C409F5E58}"/>
              </a:ext>
            </a:extLst>
          </p:cNvPr>
          <p:cNvSpPr>
            <a:spLocks xmlns:a="http://schemas.openxmlformats.org/drawingml/2006/main" noGrp="1"/>
          </p:cNvSpPr>
          <p:nvPr/>
        </p:nvSpPr>
        <p:spPr>
          <a:xfrm xmlns:a="http://schemas.openxmlformats.org/drawingml/2006/main">
            <a:off x="9715500" y="4591050"/>
            <a:ext cx="752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C25535"/>
                </a:solidFill>
                <a:latin typeface="Georgia"/>
                <a:ea typeface="Georgia"/>
                <a:cs typeface="Georgia"/>
              </a:defRPr>
            </a:defPPr>
          </a:lstStyle>
          <a:p xmlns:a="http://schemas.openxmlformats.org/drawingml/2006/main">
            <a:pPr>
              <a:defRPr sz="6600" b="0">
                <a:solidFill>
                  <a:srgbClr val="C25535"/>
                </a:solidFill>
                <a:latin typeface="Georgia"/>
                <a:ea typeface="Georgia"/>
                <a:cs typeface="Georgia"/>
              </a:defRPr>
            </a:pPr>
            <a:r>
              <a:rPr sz="6600" b="0">
                <a:solidFill>
                  <a:srgbClr val="C25535"/>
                </a:solidFill>
                <a:latin typeface="Georgia"/>
                <a:ea typeface="Georgia"/>
                <a:cs typeface="Georgia"/>
              </a:rPr>
              <a:t>Withdrawn</a:t>
            </a:r>
          </a:p>
        </p:txBody>
      </p:sp>
      <p:sp>
        <p:nvSpPr>
          <p:cNvPr id="10" name="">
            <a:extLst xmlns:a="http://schemas.openxmlformats.org/drawingml/2006/main">
              <a:ext uri="{FF2B5EF4-FFF2-40B4-BE49-F238E27FC236}">
                <a16:creationId xmlns:a16="http://schemas.microsoft.com/office/drawing/2014/main" id="{4C9F3D91-8E5E-4729-919A-FB4F60062C28}"/>
              </a:ext>
            </a:extLst>
          </p:cNvPr>
          <p:cNvSpPr>
            <a:spLocks xmlns:a="http://schemas.openxmlformats.org/drawingml/2006/main" noGrp="1"/>
          </p:cNvSpPr>
          <p:nvPr/>
        </p:nvSpPr>
        <p:spPr>
          <a:xfrm xmlns:a="http://schemas.openxmlformats.org/drawingml/2006/main">
            <a:off x="1000125" y="62579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13EC8B-01C9-45B7-AAF4-EDE75AA81B51}"/>
              </a:ext>
            </a:extLst>
          </p:cNvPr>
          <p:cNvSpPr>
            <a:spLocks xmlns:a="http://schemas.openxmlformats.org/drawingml/2006/main" noGrp="1"/>
          </p:cNvSpPr>
          <p:nvPr/>
        </p:nvSpPr>
        <p:spPr>
          <a:xfrm xmlns:a="http://schemas.openxmlformats.org/drawingml/2006/main">
            <a:off x="1000125"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handoff</a:t>
            </a:r>
          </a:p>
        </p:txBody>
      </p:sp>
      <p:sp>
        <p:nvSpPr>
          <p:cNvPr id="12" name="">
            <a:extLst xmlns:a="http://schemas.openxmlformats.org/drawingml/2006/main">
              <a:ext uri="{FF2B5EF4-FFF2-40B4-BE49-F238E27FC236}">
                <a16:creationId xmlns:a16="http://schemas.microsoft.com/office/drawing/2014/main" id="{4BDEE575-2174-4CC9-9F81-998E23766262}"/>
              </a:ext>
            </a:extLst>
          </p:cNvPr>
          <p:cNvSpPr>
            <a:spLocks xmlns:a="http://schemas.openxmlformats.org/drawingml/2006/main" noGrp="1"/>
          </p:cNvSpPr>
          <p:nvPr/>
        </p:nvSpPr>
        <p:spPr>
          <a:xfrm xmlns:a="http://schemas.openxmlformats.org/drawingml/2006/main">
            <a:off x="1000125"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reviewed packet is copied</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into another coding tool.</a:t>
            </a:r>
          </a:p>
        </p:txBody>
      </p:sp>
      <p:sp>
        <p:nvSpPr>
          <p:cNvPr id="13" name="">
            <a:extLst xmlns:a="http://schemas.openxmlformats.org/drawingml/2006/main">
              <a:ext uri="{FF2B5EF4-FFF2-40B4-BE49-F238E27FC236}">
                <a16:creationId xmlns:a16="http://schemas.microsoft.com/office/drawing/2014/main" id="{EF5E4158-AF33-44FF-B679-6D4CD7B35E9A}"/>
              </a:ext>
            </a:extLst>
          </p:cNvPr>
          <p:cNvSpPr>
            <a:spLocks xmlns:a="http://schemas.openxmlformats.org/drawingml/2006/main" noGrp="1"/>
          </p:cNvSpPr>
          <p:nvPr/>
        </p:nvSpPr>
        <p:spPr>
          <a:xfrm xmlns:a="http://schemas.openxmlformats.org/drawingml/2006/main">
            <a:off x="6667500"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change</a:t>
            </a:r>
          </a:p>
        </p:txBody>
      </p:sp>
      <p:sp>
        <p:nvSpPr>
          <p:cNvPr id="14" name="">
            <a:extLst xmlns:a="http://schemas.openxmlformats.org/drawingml/2006/main">
              <a:ext uri="{FF2B5EF4-FFF2-40B4-BE49-F238E27FC236}">
                <a16:creationId xmlns:a16="http://schemas.microsoft.com/office/drawing/2014/main" id="{33EF0DBD-1E31-4A02-BAC7-77CEA7F52180}"/>
              </a:ext>
            </a:extLst>
          </p:cNvPr>
          <p:cNvSpPr>
            <a:spLocks xmlns:a="http://schemas.openxmlformats.org/drawingml/2006/main" noGrp="1"/>
          </p:cNvSpPr>
          <p:nvPr/>
        </p:nvSpPr>
        <p:spPr>
          <a:xfrm xmlns:a="http://schemas.openxmlformats.org/drawingml/2006/main">
            <a:off x="6667500"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reviewer withdraws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that exact review.</a:t>
            </a:r>
          </a:p>
        </p:txBody>
      </p:sp>
      <p:sp>
        <p:nvSpPr>
          <p:cNvPr id="15" name="">
            <a:extLst xmlns:a="http://schemas.openxmlformats.org/drawingml/2006/main">
              <a:ext uri="{FF2B5EF4-FFF2-40B4-BE49-F238E27FC236}">
                <a16:creationId xmlns:a16="http://schemas.microsoft.com/office/drawing/2014/main" id="{B7D68905-3CB2-42DE-B089-425E59621B54}"/>
              </a:ext>
            </a:extLst>
          </p:cNvPr>
          <p:cNvSpPr>
            <a:spLocks xmlns:a="http://schemas.openxmlformats.org/drawingml/2006/main" noGrp="1"/>
          </p:cNvSpPr>
          <p:nvPr/>
        </p:nvSpPr>
        <p:spPr>
          <a:xfrm xmlns:a="http://schemas.openxmlformats.org/drawingml/2006/main">
            <a:off x="12334875" y="67437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decision</a:t>
            </a:r>
          </a:p>
        </p:txBody>
      </p:sp>
      <p:sp>
        <p:nvSpPr>
          <p:cNvPr id="16" name="">
            <a:extLst xmlns:a="http://schemas.openxmlformats.org/drawingml/2006/main">
              <a:ext uri="{FF2B5EF4-FFF2-40B4-BE49-F238E27FC236}">
                <a16:creationId xmlns:a16="http://schemas.microsoft.com/office/drawing/2014/main" id="{E7B20D8F-7F66-424F-A4E9-4F4FC271D49B}"/>
              </a:ext>
            </a:extLst>
          </p:cNvPr>
          <p:cNvSpPr>
            <a:spLocks xmlns:a="http://schemas.openxmlformats.org/drawingml/2006/main" noGrp="1"/>
          </p:cNvSpPr>
          <p:nvPr/>
        </p:nvSpPr>
        <p:spPr>
          <a:xfrm xmlns:a="http://schemas.openxmlformats.org/drawingml/2006/main">
            <a:off x="12334875" y="752475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next request checks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current evidence again.</a:t>
            </a:r>
          </a:p>
        </p:txBody>
      </p:sp>
    </p:spTree>
    <p:extLst>
      <p:ext uri="{BB962C8B-B14F-4D97-AF65-F5344CB8AC3E}">
        <p14:creationId xmlns:p14="http://schemas.microsoft.com/office/powerpoint/2010/main" val="453027141"/>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5800D60-DEFE-4029-9FCA-3FC48DE19A1E}"/>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INFRASTRUCTURE</a:t>
            </a:r>
          </a:p>
        </p:txBody>
      </p:sp>
      <p:sp>
        <p:nvSpPr>
          <p:cNvPr id="2" name="">
            <a:extLst xmlns:a="http://schemas.openxmlformats.org/drawingml/2006/main">
              <a:ext uri="{FF2B5EF4-FFF2-40B4-BE49-F238E27FC236}">
                <a16:creationId xmlns:a16="http://schemas.microsoft.com/office/drawing/2014/main" id="{BBE8B874-D22C-4E1E-A5CD-B0293B72482C}"/>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8A3B376E-4456-4C8C-9BDC-103A87711EAC}"/>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BA8172-3D54-4979-B63F-EECB307A43B0}"/>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EAD0571B-C49C-430C-B1BB-770F02D4A3EE}"/>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BE15A6D2-249A-4FC9-86FB-A4308C3DF2C4}"/>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Arkiv storage. Local graph readers.</a:t>
            </a:r>
          </a:p>
        </p:txBody>
      </p:sp>
      <p:sp>
        <p:nvSpPr>
          <p:cNvPr id="7" name="">
            <a:extLst xmlns:a="http://schemas.openxmlformats.org/drawingml/2006/main">
              <a:ext uri="{FF2B5EF4-FFF2-40B4-BE49-F238E27FC236}">
                <a16:creationId xmlns:a16="http://schemas.microsoft.com/office/drawing/2014/main" id="{5F7F21F1-3C12-45BB-9FF8-E92408289576}"/>
              </a:ext>
            </a:extLst>
          </p:cNvPr>
          <p:cNvSpPr>
            <a:spLocks xmlns:a="http://schemas.openxmlformats.org/drawingml/2006/main" noGrp="1"/>
          </p:cNvSpPr>
          <p:nvPr/>
        </p:nvSpPr>
        <p:spPr>
          <a:xfrm xmlns:a="http://schemas.openxmlformats.org/drawingml/2006/main">
            <a:off x="1000125"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Shared public records</a:t>
            </a:r>
          </a:p>
        </p:txBody>
      </p:sp>
      <p:sp>
        <p:nvSpPr>
          <p:cNvPr id="8" name="">
            <a:extLst xmlns:a="http://schemas.openxmlformats.org/drawingml/2006/main">
              <a:ext uri="{FF2B5EF4-FFF2-40B4-BE49-F238E27FC236}">
                <a16:creationId xmlns:a16="http://schemas.microsoft.com/office/drawing/2014/main" id="{1A321CE2-12D2-49AD-AD93-749EA505BE5F}"/>
              </a:ext>
            </a:extLst>
          </p:cNvPr>
          <p:cNvSpPr>
            <a:spLocks xmlns:a="http://schemas.openxmlformats.org/drawingml/2006/main" noGrp="1"/>
          </p:cNvSpPr>
          <p:nvPr/>
        </p:nvSpPr>
        <p:spPr>
          <a:xfrm xmlns:a="http://schemas.openxmlformats.org/drawingml/2006/main">
            <a:off x="6762750"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Arkiv Graph SDK</a:t>
            </a:r>
          </a:p>
        </p:txBody>
      </p:sp>
      <p:sp>
        <p:nvSpPr>
          <p:cNvPr id="9" name="">
            <a:extLst xmlns:a="http://schemas.openxmlformats.org/drawingml/2006/main">
              <a:ext uri="{FF2B5EF4-FFF2-40B4-BE49-F238E27FC236}">
                <a16:creationId xmlns:a16="http://schemas.microsoft.com/office/drawing/2014/main" id="{A7D8ED95-F71D-4872-B3BE-3B3A0E0DA3C2}"/>
              </a:ext>
            </a:extLst>
          </p:cNvPr>
          <p:cNvSpPr>
            <a:spLocks xmlns:a="http://schemas.openxmlformats.org/drawingml/2006/main" noGrp="1"/>
          </p:cNvSpPr>
          <p:nvPr/>
        </p:nvSpPr>
        <p:spPr>
          <a:xfrm xmlns:a="http://schemas.openxmlformats.org/drawingml/2006/main">
            <a:off x="12525375" y="3238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AI Passport</a:t>
            </a:r>
          </a:p>
        </p:txBody>
      </p:sp>
      <p:sp>
        <p:nvSpPr>
          <p:cNvPr id="10" name="">
            <a:extLst xmlns:a="http://schemas.openxmlformats.org/drawingml/2006/main">
              <a:ext uri="{FF2B5EF4-FFF2-40B4-BE49-F238E27FC236}">
                <a16:creationId xmlns:a16="http://schemas.microsoft.com/office/drawing/2014/main" id="{65FEF1A3-8D0A-438A-BA9D-2DDA965EA1AD}"/>
              </a:ext>
            </a:extLst>
          </p:cNvPr>
          <p:cNvSpPr>
            <a:spLocks xmlns:a="http://schemas.openxmlformats.org/drawingml/2006/main" noGrp="1"/>
          </p:cNvSpPr>
          <p:nvPr/>
        </p:nvSpPr>
        <p:spPr>
          <a:xfrm xmlns:a="http://schemas.openxmlformats.org/drawingml/2006/main">
            <a:off x="100012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1" name="">
            <a:extLst xmlns:a="http://schemas.openxmlformats.org/drawingml/2006/main">
              <a:ext uri="{FF2B5EF4-FFF2-40B4-BE49-F238E27FC236}">
                <a16:creationId xmlns:a16="http://schemas.microsoft.com/office/drawing/2014/main" id="{8945636B-BC3B-416E-9003-0A76B2219E99}"/>
              </a:ext>
            </a:extLst>
          </p:cNvPr>
          <p:cNvSpPr>
            <a:spLocks xmlns:a="http://schemas.openxmlformats.org/drawingml/2006/main" noGrp="1"/>
          </p:cNvSpPr>
          <p:nvPr/>
        </p:nvSpPr>
        <p:spPr>
          <a:xfrm xmlns:a="http://schemas.openxmlformats.org/drawingml/2006/main">
            <a:off x="1314450" y="4552950"/>
            <a:ext cx="409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17372E"/>
                </a:solidFill>
                <a:latin typeface="Arial"/>
                <a:ea typeface="Arial"/>
                <a:cs typeface="Arial"/>
              </a:defRPr>
            </a:defPPr>
          </a:lstStyle>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Node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Edge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Signed manifest</a:t>
            </a:r>
          </a:p>
        </p:txBody>
      </p:sp>
      <p:sp>
        <p:nvSpPr>
          <p:cNvPr id="12" name="">
            <a:extLst xmlns:a="http://schemas.openxmlformats.org/drawingml/2006/main">
              <a:ext uri="{FF2B5EF4-FFF2-40B4-BE49-F238E27FC236}">
                <a16:creationId xmlns:a16="http://schemas.microsoft.com/office/drawing/2014/main" id="{5A6CBFAF-806A-4244-8D87-CF74389A973A}"/>
              </a:ext>
            </a:extLst>
          </p:cNvPr>
          <p:cNvSpPr>
            <a:spLocks xmlns:a="http://schemas.openxmlformats.org/drawingml/2006/main" noGrp="1"/>
          </p:cNvSpPr>
          <p:nvPr/>
        </p:nvSpPr>
        <p:spPr>
          <a:xfrm xmlns:a="http://schemas.openxmlformats.org/drawingml/2006/main">
            <a:off x="1000125" y="7267575"/>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Indexed by graph_hash and kind</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Filtered by on-chain creator</a:t>
            </a:r>
          </a:p>
        </p:txBody>
      </p:sp>
      <p:sp>
        <p:nvSpPr>
          <p:cNvPr id="13" name="">
            <a:extLst xmlns:a="http://schemas.openxmlformats.org/drawingml/2006/main">
              <a:ext uri="{FF2B5EF4-FFF2-40B4-BE49-F238E27FC236}">
                <a16:creationId xmlns:a16="http://schemas.microsoft.com/office/drawing/2014/main" id="{E898C7D9-DFB7-430A-9339-A4EF2AF77027}"/>
              </a:ext>
            </a:extLst>
          </p:cNvPr>
          <p:cNvSpPr>
            <a:spLocks xmlns:a="http://schemas.openxmlformats.org/drawingml/2006/main" noGrp="1"/>
          </p:cNvSpPr>
          <p:nvPr/>
        </p:nvSpPr>
        <p:spPr>
          <a:xfrm xmlns:a="http://schemas.openxmlformats.org/drawingml/2006/main">
            <a:off x="592455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796DA97F-885C-46A3-A192-1768B0B6CEA1}"/>
              </a:ext>
            </a:extLst>
          </p:cNvPr>
          <p:cNvSpPr>
            <a:spLocks xmlns:a="http://schemas.openxmlformats.org/drawingml/2006/main" noGrp="1"/>
          </p:cNvSpPr>
          <p:nvPr/>
        </p:nvSpPr>
        <p:spPr>
          <a:xfrm xmlns:a="http://schemas.openxmlformats.org/drawingml/2006/main">
            <a:off x="6762750" y="4257675"/>
            <a:ext cx="4714875" cy="2686050"/>
          </a:xfrm>
          <a:prstGeom xmlns:a="http://schemas.openxmlformats.org/drawingml/2006/main" prst="rect">
            <a:avLst/>
          </a:prstGeom>
          <a:solidFill xmlns:a="http://schemas.openxmlformats.org/drawingml/2006/main">
            <a:srgbClr val="17372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FFA309-B0C8-4F53-AAFB-C7B867ACCC43}"/>
              </a:ext>
            </a:extLst>
          </p:cNvPr>
          <p:cNvSpPr>
            <a:spLocks xmlns:a="http://schemas.openxmlformats.org/drawingml/2006/main" noGrp="1"/>
          </p:cNvSpPr>
          <p:nvPr/>
        </p:nvSpPr>
        <p:spPr>
          <a:xfrm xmlns:a="http://schemas.openxmlformats.org/drawingml/2006/main">
            <a:off x="7058025"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9F8F3"/>
                </a:solidFill>
                <a:latin typeface="Arial"/>
                <a:ea typeface="Arial"/>
                <a:cs typeface="Arial"/>
              </a:defRPr>
            </a:defPPr>
          </a:lstStyle>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Verify authorship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Reconstruct membership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Traverse under a budget</a:t>
            </a:r>
          </a:p>
        </p:txBody>
      </p:sp>
      <p:sp>
        <p:nvSpPr>
          <p:cNvPr id="16" name="">
            <a:extLst xmlns:a="http://schemas.openxmlformats.org/drawingml/2006/main">
              <a:ext uri="{FF2B5EF4-FFF2-40B4-BE49-F238E27FC236}">
                <a16:creationId xmlns:a16="http://schemas.microsoft.com/office/drawing/2014/main" id="{69D70D6E-DD37-4C9C-BC77-80F9760DDE6D}"/>
              </a:ext>
            </a:extLst>
          </p:cNvPr>
          <p:cNvSpPr>
            <a:spLocks xmlns:a="http://schemas.openxmlformats.org/drawingml/2006/main" noGrp="1"/>
          </p:cNvSpPr>
          <p:nvPr/>
        </p:nvSpPr>
        <p:spPr>
          <a:xfrm xmlns:a="http://schemas.openxmlformats.org/drawingml/2006/main">
            <a:off x="6762750" y="726757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Optional root registry verifies</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linked updates and checkpoints</a:t>
            </a:r>
          </a:p>
        </p:txBody>
      </p:sp>
      <p:sp>
        <p:nvSpPr>
          <p:cNvPr id="17" name="">
            <a:extLst xmlns:a="http://schemas.openxmlformats.org/drawingml/2006/main">
              <a:ext uri="{FF2B5EF4-FFF2-40B4-BE49-F238E27FC236}">
                <a16:creationId xmlns:a16="http://schemas.microsoft.com/office/drawing/2014/main" id="{40B86D99-1545-4AE5-9DAC-B657260BD696}"/>
              </a:ext>
            </a:extLst>
          </p:cNvPr>
          <p:cNvSpPr>
            <a:spLocks xmlns:a="http://schemas.openxmlformats.org/drawingml/2006/main" noGrp="1"/>
          </p:cNvSpPr>
          <p:nvPr/>
        </p:nvSpPr>
        <p:spPr>
          <a:xfrm xmlns:a="http://schemas.openxmlformats.org/drawingml/2006/main">
            <a:off x="1169670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C9734AD2-8ECE-4BDA-ACAA-820175D8BA22}"/>
              </a:ext>
            </a:extLst>
          </p:cNvPr>
          <p:cNvSpPr>
            <a:spLocks xmlns:a="http://schemas.openxmlformats.org/drawingml/2006/main" noGrp="1"/>
          </p:cNvSpPr>
          <p:nvPr/>
        </p:nvSpPr>
        <p:spPr>
          <a:xfrm xmlns:a="http://schemas.openxmlformats.org/drawingml/2006/main">
            <a:off x="1252537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9" name="">
            <a:extLst xmlns:a="http://schemas.openxmlformats.org/drawingml/2006/main">
              <a:ext uri="{FF2B5EF4-FFF2-40B4-BE49-F238E27FC236}">
                <a16:creationId xmlns:a16="http://schemas.microsoft.com/office/drawing/2014/main" id="{A476CEEB-DE1E-4F2E-8B28-D7AF98382E8F}"/>
              </a:ext>
            </a:extLst>
          </p:cNvPr>
          <p:cNvSpPr>
            <a:spLocks xmlns:a="http://schemas.openxmlformats.org/drawingml/2006/main" noGrp="1"/>
          </p:cNvSpPr>
          <p:nvPr/>
        </p:nvSpPr>
        <p:spPr>
          <a:xfrm xmlns:a="http://schemas.openxmlformats.org/drawingml/2006/main">
            <a:off x="12820650"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7372E"/>
                </a:solidFill>
                <a:latin typeface="Arial"/>
                <a:ea typeface="Arial"/>
                <a:cs typeface="Arial"/>
              </a:defRPr>
            </a:defPPr>
          </a:lstStyle>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Check current review</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Match source bytes</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Use selected AI context</a:t>
            </a:r>
          </a:p>
        </p:txBody>
      </p:sp>
      <p:sp>
        <p:nvSpPr>
          <p:cNvPr id="20" name="">
            <a:extLst xmlns:a="http://schemas.openxmlformats.org/drawingml/2006/main">
              <a:ext uri="{FF2B5EF4-FFF2-40B4-BE49-F238E27FC236}">
                <a16:creationId xmlns:a16="http://schemas.microsoft.com/office/drawing/2014/main" id="{C1959DB8-128B-43CD-8AFA-40F2B605D9EA}"/>
              </a:ext>
            </a:extLst>
          </p:cNvPr>
          <p:cNvSpPr>
            <a:spLocks xmlns:a="http://schemas.openxmlformats.org/drawingml/2006/main" noGrp="1"/>
          </p:cNvSpPr>
          <p:nvPr/>
        </p:nvSpPr>
        <p:spPr>
          <a:xfrm xmlns:a="http://schemas.openxmlformats.org/drawingml/2006/main">
            <a:off x="12525375" y="7267575"/>
            <a:ext cx="4762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Private memory and inference</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stay off-chain</a:t>
            </a:r>
          </a:p>
        </p:txBody>
      </p:sp>
      <p:sp>
        <p:nvSpPr>
          <p:cNvPr id="21" name="">
            <a:extLst xmlns:a="http://schemas.openxmlformats.org/drawingml/2006/main">
              <a:ext uri="{FF2B5EF4-FFF2-40B4-BE49-F238E27FC236}">
                <a16:creationId xmlns:a16="http://schemas.microsoft.com/office/drawing/2014/main" id="{79A0A406-EEF0-48CA-A9DC-1093EA4DB124}"/>
              </a:ext>
            </a:extLst>
          </p:cNvPr>
          <p:cNvSpPr>
            <a:spLocks xmlns:a="http://schemas.openxmlformats.org/drawingml/2006/main" noGrp="1"/>
          </p:cNvSpPr>
          <p:nvPr/>
        </p:nvSpPr>
        <p:spPr>
          <a:xfrm xmlns:a="http://schemas.openxmlformats.org/drawingml/2006/main">
            <a:off x="1000125" y="848677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654DB11-1A8D-4A81-B024-3A3B390CB74B}"/>
              </a:ext>
            </a:extLst>
          </p:cNvPr>
          <p:cNvSpPr>
            <a:spLocks xmlns:a="http://schemas.openxmlformats.org/drawingml/2006/main" noGrp="1"/>
          </p:cNvSpPr>
          <p:nvPr/>
        </p:nvSpPr>
        <p:spPr>
          <a:xfrm xmlns:a="http://schemas.openxmlformats.org/drawingml/2006/main">
            <a:off x="1000125" y="8724900"/>
            <a:ext cx="1619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72E"/>
                </a:solidFill>
                <a:latin typeface="Consolas"/>
                <a:ea typeface="Consolas"/>
                <a:cs typeface="Consolas"/>
              </a:defRPr>
            </a:defPPr>
          </a:lstStyle>
          <a:p xmlns:a="http://schemas.openxmlformats.org/drawingml/2006/main">
            <a:pPr>
              <a:defRPr sz="2100" b="0">
                <a:solidFill>
                  <a:srgbClr val="17372E"/>
                </a:solidFill>
                <a:latin typeface="Consolas"/>
                <a:ea typeface="Consolas"/>
                <a:cs typeface="Consolas"/>
              </a:defRPr>
            </a:pPr>
            <a:r>
              <a:rPr sz="2100" b="0">
                <a:solidFill>
                  <a:srgbClr val="17372E"/>
                </a:solidFill>
                <a:latin typeface="Consolas"/>
                <a:ea typeface="Consolas"/>
                <a:cs typeface="Consolas"/>
              </a:rPr>
              <a:t>Node: id, type, digest     Edge: from, to, relation     Manifest: complete member digests</a:t>
            </a:r>
          </a:p>
        </p:txBody>
      </p:sp>
    </p:spTree>
    <p:extLst>
      <p:ext uri="{BB962C8B-B14F-4D97-AF65-F5344CB8AC3E}">
        <p14:creationId xmlns:p14="http://schemas.microsoft.com/office/powerpoint/2010/main" val="846705950"/>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C35576-D86D-4077-AB96-110DE02D4E47}"/>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WORKING DEMONSTRATION</a:t>
            </a:r>
          </a:p>
        </p:txBody>
      </p:sp>
      <p:sp>
        <p:nvSpPr>
          <p:cNvPr id="2" name="">
            <a:extLst xmlns:a="http://schemas.openxmlformats.org/drawingml/2006/main">
              <a:ext uri="{FF2B5EF4-FFF2-40B4-BE49-F238E27FC236}">
                <a16:creationId xmlns:a16="http://schemas.microsoft.com/office/drawing/2014/main" id="{E98A9D17-C72A-4F6C-881B-8D483E657F67}"/>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E127F9B0-1C66-4CDA-B721-E124B863E732}"/>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E543E6-3BE1-426A-B93C-D8942E1C133D}"/>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FF13C53A-A855-48FC-A16E-F8D015E9A5BC}"/>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4E14E52A-5F95-43BF-800D-040069D53CE3}"/>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Two clients reject a withdrawn review</a:t>
            </a:r>
          </a:p>
        </p:txBody>
      </p:sp>
      <p:sp>
        <p:nvSpPr>
          <p:cNvPr id="7" name="">
            <a:extLst xmlns:a="http://schemas.openxmlformats.org/drawingml/2006/main">
              <a:ext uri="{FF2B5EF4-FFF2-40B4-BE49-F238E27FC236}">
                <a16:creationId xmlns:a16="http://schemas.microsoft.com/office/drawing/2014/main" id="{03855383-883B-434E-BCC0-A5E9C94C9D10}"/>
              </a:ext>
            </a:extLst>
          </p:cNvPr>
          <p:cNvSpPr>
            <a:spLocks xmlns:a="http://schemas.openxmlformats.org/drawingml/2006/main" noGrp="1"/>
          </p:cNvSpPr>
          <p:nvPr/>
        </p:nvSpPr>
        <p:spPr>
          <a:xfrm xmlns:a="http://schemas.openxmlformats.org/drawingml/2006/main">
            <a:off x="1000125" y="30765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25B4B"/>
                </a:solidFill>
                <a:latin typeface="Arial"/>
                <a:ea typeface="Arial"/>
                <a:cs typeface="Arial"/>
              </a:defRPr>
            </a:defPPr>
          </a:lstStyle>
          <a:p xmlns:a="http://schemas.openxmlformats.org/drawingml/2006/main">
            <a:pPr>
              <a:defRPr sz="2250" b="1">
                <a:solidFill>
                  <a:srgbClr val="225B4B"/>
                </a:solidFill>
                <a:latin typeface="Arial"/>
                <a:ea typeface="Arial"/>
                <a:cs typeface="Arial"/>
              </a:defRPr>
            </a:pPr>
            <a:r>
              <a:rPr sz="2250" b="1">
                <a:solidFill>
                  <a:srgbClr val="225B4B"/>
                </a:solidFill>
                <a:latin typeface="Arial"/>
                <a:ea typeface="Arial"/>
                <a:cs typeface="Arial"/>
              </a:rPr>
              <a:t>Recorded lifecycle</a:t>
            </a:r>
          </a:p>
        </p:txBody>
      </p:sp>
      <p:sp>
        <p:nvSpPr>
          <p:cNvPr id="8" name="">
            <a:extLst xmlns:a="http://schemas.openxmlformats.org/drawingml/2006/main">
              <a:ext uri="{FF2B5EF4-FFF2-40B4-BE49-F238E27FC236}">
                <a16:creationId xmlns:a16="http://schemas.microsoft.com/office/drawing/2014/main" id="{07873491-F47D-4926-9712-7C17671589C0}"/>
              </a:ext>
            </a:extLst>
          </p:cNvPr>
          <p:cNvSpPr>
            <a:spLocks xmlns:a="http://schemas.openxmlformats.org/drawingml/2006/main" noGrp="1"/>
          </p:cNvSpPr>
          <p:nvPr/>
        </p:nvSpPr>
        <p:spPr>
          <a:xfrm xmlns:a="http://schemas.openxmlformats.org/drawingml/2006/main">
            <a:off x="1000125" y="3810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accepted 603794</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accepted 603795</a:t>
            </a:r>
          </a:p>
        </p:txBody>
      </p:sp>
      <p:sp>
        <p:nvSpPr>
          <p:cNvPr id="9" name="">
            <a:extLst xmlns:a="http://schemas.openxmlformats.org/drawingml/2006/main">
              <a:ext uri="{FF2B5EF4-FFF2-40B4-BE49-F238E27FC236}">
                <a16:creationId xmlns:a16="http://schemas.microsoft.com/office/drawing/2014/main" id="{5164745A-AA12-48D6-B0C2-4869B61ABD47}"/>
              </a:ext>
            </a:extLst>
          </p:cNvPr>
          <p:cNvSpPr>
            <a:spLocks xmlns:a="http://schemas.openxmlformats.org/drawingml/2006/main" noGrp="1"/>
          </p:cNvSpPr>
          <p:nvPr/>
        </p:nvSpPr>
        <p:spPr>
          <a:xfrm xmlns:a="http://schemas.openxmlformats.org/drawingml/2006/main">
            <a:off x="6715125" y="3810000"/>
            <a:ext cx="5048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C25535"/>
                </a:solidFill>
                <a:latin typeface="Arial"/>
                <a:ea typeface="Arial"/>
                <a:cs typeface="Arial"/>
              </a:defRPr>
            </a:defPPr>
          </a:lstStyle>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Review withdrawn</a:t>
            </a:r>
          </a:p>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at block 603917</a:t>
            </a:r>
          </a:p>
        </p:txBody>
      </p:sp>
      <p:sp>
        <p:nvSpPr>
          <p:cNvPr id="10" name="">
            <a:extLst xmlns:a="http://schemas.openxmlformats.org/drawingml/2006/main">
              <a:ext uri="{FF2B5EF4-FFF2-40B4-BE49-F238E27FC236}">
                <a16:creationId xmlns:a16="http://schemas.microsoft.com/office/drawing/2014/main" id="{3F24984F-FEA9-4A06-8DA7-109B247C0321}"/>
              </a:ext>
            </a:extLst>
          </p:cNvPr>
          <p:cNvSpPr>
            <a:spLocks xmlns:a="http://schemas.openxmlformats.org/drawingml/2006/main" noGrp="1"/>
          </p:cNvSpPr>
          <p:nvPr/>
        </p:nvSpPr>
        <p:spPr>
          <a:xfrm xmlns:a="http://schemas.openxmlformats.org/drawingml/2006/main">
            <a:off x="12430125" y="3810000"/>
            <a:ext cx="4857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refused 603920</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refused 603919</a:t>
            </a:r>
          </a:p>
        </p:txBody>
      </p:sp>
      <p:sp>
        <p:nvSpPr>
          <p:cNvPr id="11" name="">
            <a:extLst xmlns:a="http://schemas.openxmlformats.org/drawingml/2006/main">
              <a:ext uri="{FF2B5EF4-FFF2-40B4-BE49-F238E27FC236}">
                <a16:creationId xmlns:a16="http://schemas.microsoft.com/office/drawing/2014/main" id="{D7F5551C-A45A-4A39-A373-5188A6EAF2D9}"/>
              </a:ext>
            </a:extLst>
          </p:cNvPr>
          <p:cNvSpPr>
            <a:spLocks xmlns:a="http://schemas.openxmlformats.org/drawingml/2006/main" noGrp="1"/>
          </p:cNvSpPr>
          <p:nvPr/>
        </p:nvSpPr>
        <p:spPr>
          <a:xfrm xmlns:a="http://schemas.openxmlformats.org/drawingml/2006/main">
            <a:off x="1000125" y="52673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731EF9CF-8E42-4163-BD23-79FBF5C49A87}"/>
              </a:ext>
            </a:extLst>
          </p:cNvPr>
          <p:cNvPicPr>
            <a:picLocks xmlns:a="http://schemas.openxmlformats.org/drawingml/2006/main" noChangeAspect="1"/>
          </p:cNvPicPr>
          <p:nvPr/>
        </p:nvPicPr>
        <p:blipFill>
          <a:blip xmlns:r="http://schemas.openxmlformats.org/officeDocument/2006/relationships" xmlns:a="http://schemas.openxmlformats.org/drawingml/2006/main" r:embed="R6803e51d3ed14737"/>
          <a:stretch xmlns:a="http://schemas.openxmlformats.org/drawingml/2006/main"/>
        </p:blipFill>
        <p:spPr>
          <a:xfrm xmlns:a="http://schemas.openxmlformats.org/drawingml/2006/main">
            <a:off x="1000125" y="5643222"/>
            <a:ext cx="7762875" cy="277245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17D20E9E-E6EA-47AC-9C69-00A6B5929B55}"/>
              </a:ext>
            </a:extLst>
          </p:cNvPr>
          <p:cNvPicPr>
            <a:picLocks xmlns:a="http://schemas.openxmlformats.org/drawingml/2006/main" noChangeAspect="1"/>
          </p:cNvPicPr>
          <p:nvPr/>
        </p:nvPicPr>
        <p:blipFill>
          <a:blip xmlns:r="http://schemas.openxmlformats.org/officeDocument/2006/relationships" xmlns:a="http://schemas.openxmlformats.org/drawingml/2006/main" r:embed="Re70a9c4dd7dc43db"/>
          <a:stretch xmlns:a="http://schemas.openxmlformats.org/drawingml/2006/main"/>
        </p:blipFill>
        <p:spPr>
          <a:xfrm xmlns:a="http://schemas.openxmlformats.org/drawingml/2006/main">
            <a:off x="9525000" y="5643222"/>
            <a:ext cx="7762875" cy="27724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25C5DF18-5899-4AE0-AE2F-2969A3829E3A}"/>
              </a:ext>
            </a:extLst>
          </p:cNvPr>
          <p:cNvSpPr>
            <a:spLocks xmlns:a="http://schemas.openxmlformats.org/drawingml/2006/main" noGrp="1"/>
          </p:cNvSpPr>
          <p:nvPr/>
        </p:nvSpPr>
        <p:spPr>
          <a:xfrm xmlns:a="http://schemas.openxmlformats.org/drawingml/2006/main">
            <a:off x="1000125" y="8610600"/>
            <a:ext cx="1628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3716B"/>
                </a:solidFill>
                <a:latin typeface="Arial"/>
                <a:ea typeface="Arial"/>
                <a:cs typeface="Arial"/>
              </a:defRPr>
            </a:defPPr>
          </a:lstStyle>
          <a:p xmlns:a="http://schemas.openxmlformats.org/drawingml/2006/main">
            <a:pPr>
              <a:defRPr sz="2025" b="0">
                <a:solidFill>
                  <a:srgbClr val="63716B"/>
                </a:solidFill>
                <a:latin typeface="Arial"/>
                <a:ea typeface="Arial"/>
                <a:cs typeface="Arial"/>
              </a:defRPr>
            </a:pPr>
            <a:r>
              <a:rPr sz="2025" b="0">
                <a:solidFill>
                  <a:srgbClr val="63716B"/>
                </a:solidFill>
                <a:latin typeface="Arial"/>
                <a:ea typeface="Arial"/>
                <a:cs typeface="Arial"/>
              </a:rPr>
              <a:t>Fresh reads of the completed session. Both clients and wallets are project-operated.</a:t>
            </a:r>
          </a:p>
        </p:txBody>
      </p:sp>
      <p:sp>
        <p:nvSpPr>
          <p:cNvPr id="15" name="">
            <a:extLst xmlns:a="http://schemas.openxmlformats.org/drawingml/2006/main">
              <a:ext uri="{FF2B5EF4-FFF2-40B4-BE49-F238E27FC236}">
                <a16:creationId xmlns:a16="http://schemas.microsoft.com/office/drawing/2014/main" id="{EDCAC2F4-76EC-4A29-B3C1-0FFB865643E4}"/>
              </a:ext>
            </a:extLst>
          </p:cNvPr>
          <p:cNvSpPr>
            <a:spLocks xmlns:a="http://schemas.openxmlformats.org/drawingml/2006/main" noGrp="1"/>
          </p:cNvSpPr>
          <p:nvPr/>
        </p:nvSpPr>
        <p:spPr>
          <a:xfrm xmlns:a="http://schemas.openxmlformats.org/drawingml/2006/main">
            <a:off x="1000125" y="9029700"/>
            <a:ext cx="1628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Separate root-update test: 2 signed revisions, 8 entities, 1 transaction.</a:t>
            </a:r>
          </a:p>
        </p:txBody>
      </p:sp>
    </p:spTree>
    <p:extLst>
      <p:ext uri="{BB962C8B-B14F-4D97-AF65-F5344CB8AC3E}">
        <p14:creationId xmlns:p14="http://schemas.microsoft.com/office/powerpoint/2010/main" val="1072904236"/>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B634C7-AF18-40CF-8BC5-798ACCFA871B}"/>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REFERENCE APPLICATION</a:t>
            </a:r>
          </a:p>
        </p:txBody>
      </p:sp>
      <p:sp>
        <p:nvSpPr>
          <p:cNvPr id="2" name="">
            <a:extLst xmlns:a="http://schemas.openxmlformats.org/drawingml/2006/main">
              <a:ext uri="{FF2B5EF4-FFF2-40B4-BE49-F238E27FC236}">
                <a16:creationId xmlns:a16="http://schemas.microsoft.com/office/drawing/2014/main" id="{804C5A97-DCF9-4E2C-A805-4A9F05B0C3DB}"/>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8A803BB9-3075-4766-9432-D5546834607D}"/>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BDA135-DDF0-407F-A883-0BEBBC788549}"/>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CD358B3-526A-442E-8ACA-EBC9DA409200}"/>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85C0A6CE-99BA-401F-9D66-492C9460581D}"/>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AI Passport checks context before inference</a:t>
            </a:r>
          </a:p>
        </p:txBody>
      </p:sp>
      <p:sp>
        <p:nvSpPr>
          <p:cNvPr id="7" name="">
            <a:extLst xmlns:a="http://schemas.openxmlformats.org/drawingml/2006/main">
              <a:ext uri="{FF2B5EF4-FFF2-40B4-BE49-F238E27FC236}">
                <a16:creationId xmlns:a16="http://schemas.microsoft.com/office/drawing/2014/main" id="{B24FBA1F-8832-4E24-AA9B-A178A81BDE83}"/>
              </a:ext>
            </a:extLst>
          </p:cNvPr>
          <p:cNvSpPr>
            <a:spLocks xmlns:a="http://schemas.openxmlformats.org/drawingml/2006/main" noGrp="1"/>
          </p:cNvSpPr>
          <p:nvPr/>
        </p:nvSpPr>
        <p:spPr>
          <a:xfrm xmlns:a="http://schemas.openxmlformats.org/drawingml/2006/main">
            <a:off x="1000125" y="3152775"/>
            <a:ext cx="571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225B4B"/>
                </a:solidFill>
                <a:latin typeface="Arial"/>
                <a:ea typeface="Arial"/>
                <a:cs typeface="Arial"/>
              </a:defRPr>
            </a:defPPr>
          </a:lstStyle>
          <a:p xmlns:a="http://schemas.openxmlformats.org/drawingml/2006/main">
            <a:pPr>
              <a:defRPr sz="3225" b="1">
                <a:solidFill>
                  <a:srgbClr val="225B4B"/>
                </a:solidFill>
                <a:latin typeface="Arial"/>
                <a:ea typeface="Arial"/>
                <a:cs typeface="Arial"/>
              </a:defRPr>
            </a:pPr>
            <a:r>
              <a:rPr sz="3225" b="1">
                <a:solidFill>
                  <a:srgbClr val="225B4B"/>
                </a:solidFill>
                <a:latin typeface="Arial"/>
                <a:ea typeface="Arial"/>
                <a:cs typeface="Arial"/>
              </a:rPr>
              <a:t>A coding handoff</a:t>
            </a:r>
          </a:p>
        </p:txBody>
      </p:sp>
      <p:sp>
        <p:nvSpPr>
          <p:cNvPr id="8" name="">
            <a:extLst xmlns:a="http://schemas.openxmlformats.org/drawingml/2006/main">
              <a:ext uri="{FF2B5EF4-FFF2-40B4-BE49-F238E27FC236}">
                <a16:creationId xmlns:a16="http://schemas.microsoft.com/office/drawing/2014/main" id="{153B9007-E1A2-4E5F-8244-5254A0E9DB2C}"/>
              </a:ext>
            </a:extLst>
          </p:cNvPr>
          <p:cNvSpPr>
            <a:spLocks xmlns:a="http://schemas.openxmlformats.org/drawingml/2006/main" noGrp="1"/>
          </p:cNvSpPr>
          <p:nvPr/>
        </p:nvSpPr>
        <p:spPr>
          <a:xfrm xmlns:a="http://schemas.openxmlformats.org/drawingml/2006/main">
            <a:off x="1000125" y="4105275"/>
            <a:ext cx="5810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Qarinah context links to</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exact source version.</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current review admits the task.</a:t>
            </a:r>
          </a:p>
        </p:txBody>
      </p:sp>
      <p:sp>
        <p:nvSpPr>
          <p:cNvPr id="9" name="">
            <a:extLst xmlns:a="http://schemas.openxmlformats.org/drawingml/2006/main">
              <a:ext uri="{FF2B5EF4-FFF2-40B4-BE49-F238E27FC236}">
                <a16:creationId xmlns:a16="http://schemas.microsoft.com/office/drawing/2014/main" id="{DEEE2F4B-D072-4CEB-85CD-32E2E22E0F1C}"/>
              </a:ext>
            </a:extLst>
          </p:cNvPr>
          <p:cNvSpPr>
            <a:spLocks xmlns:a="http://schemas.openxmlformats.org/drawingml/2006/main" noGrp="1"/>
          </p:cNvSpPr>
          <p:nvPr/>
        </p:nvSpPr>
        <p:spPr>
          <a:xfrm xmlns:a="http://schemas.openxmlformats.org/drawingml/2006/main">
            <a:off x="1000125" y="6438900"/>
            <a:ext cx="600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225B4B"/>
                </a:solidFill>
                <a:latin typeface="Georgia"/>
                <a:ea typeface="Georgia"/>
                <a:cs typeface="Georgia"/>
              </a:defRPr>
            </a:defPPr>
          </a:lstStyle>
          <a:p xmlns:a="http://schemas.openxmlformats.org/drawingml/2006/main">
            <a:pPr>
              <a:defRPr sz="3225" b="0">
                <a:solidFill>
                  <a:srgbClr val="225B4B"/>
                </a:solidFill>
                <a:latin typeface="Georgia"/>
                <a:ea typeface="Georgia"/>
                <a:cs typeface="Georgia"/>
              </a:defRPr>
            </a:pPr>
            <a:r>
              <a:rPr sz="3225" b="0">
                <a:solidFill>
                  <a:srgbClr val="225B4B"/>
                </a:solidFill>
                <a:latin typeface="Georgia"/>
                <a:ea typeface="Georgia"/>
                <a:cs typeface="Georgia"/>
              </a:rPr>
              <a:t>Six guard cases passed</a:t>
            </a:r>
          </a:p>
        </p:txBody>
      </p:sp>
      <p:sp>
        <p:nvSpPr>
          <p:cNvPr id="10" name="">
            <a:extLst xmlns:a="http://schemas.openxmlformats.org/drawingml/2006/main">
              <a:ext uri="{FF2B5EF4-FFF2-40B4-BE49-F238E27FC236}">
                <a16:creationId xmlns:a16="http://schemas.microsoft.com/office/drawing/2014/main" id="{29EC7BE4-5BAA-44C7-BEB2-0A46FDB270EA}"/>
              </a:ext>
            </a:extLst>
          </p:cNvPr>
          <p:cNvSpPr>
            <a:spLocks xmlns:a="http://schemas.openxmlformats.org/drawingml/2006/main" noGrp="1"/>
          </p:cNvSpPr>
          <p:nvPr/>
        </p:nvSpPr>
        <p:spPr>
          <a:xfrm xmlns:a="http://schemas.openxmlformats.org/drawingml/2006/main">
            <a:off x="1000125" y="7391400"/>
            <a:ext cx="5810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63716B"/>
                </a:solidFill>
                <a:latin typeface="Arial"/>
                <a:ea typeface="Arial"/>
                <a:cs typeface="Arial"/>
              </a:defRPr>
            </a:defPPr>
          </a:lstStyle>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India tools teach exact paise,</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lakh/crore and UPI safety</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 English and Hindi.</a:t>
            </a:r>
          </a:p>
        </p:txBody>
      </p:sp>
      <p:pic>
        <p:nvPicPr>
          <p:cNvPr id="11" name="">
            <a:extLst xmlns:a="http://schemas.openxmlformats.org/drawingml/2006/main">
              <a:ext uri="{FF2B5EF4-FFF2-40B4-BE49-F238E27FC236}">
                <a16:creationId xmlns:a16="http://schemas.microsoft.com/office/drawing/2014/main" id="{EE0A22D3-1EA6-43DF-A861-D8115D71AF80}"/>
              </a:ext>
            </a:extLst>
          </p:cNvPr>
          <p:cNvPicPr>
            <a:picLocks xmlns:a="http://schemas.openxmlformats.org/drawingml/2006/main" noChangeAspect="1"/>
          </p:cNvPicPr>
          <p:nvPr/>
        </p:nvPicPr>
        <p:blipFill>
          <a:blip xmlns:r="http://schemas.openxmlformats.org/officeDocument/2006/relationships" xmlns:a="http://schemas.openxmlformats.org/drawingml/2006/main" r:embed="Rf0c9e443919d4d66"/>
          <a:srcRect xmlns:a="http://schemas.openxmlformats.org/drawingml/2006/main" l="48000" t="0" r="0" b="10500"/>
          <a:stretch xmlns:a="http://schemas.openxmlformats.org/drawingml/2006/main"/>
        </p:blipFill>
        <p:spPr>
          <a:xfrm xmlns:a="http://schemas.openxmlformats.org/drawingml/2006/main">
            <a:off x="8858250" y="3095625"/>
            <a:ext cx="7905750" cy="5676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E56B914-C9D4-4058-B800-A205E50C788B}"/>
              </a:ext>
            </a:extLst>
          </p:cNvPr>
          <p:cNvSpPr>
            <a:spLocks xmlns:a="http://schemas.openxmlformats.org/drawingml/2006/main" noGrp="1"/>
          </p:cNvSpPr>
          <p:nvPr/>
        </p:nvSpPr>
        <p:spPr>
          <a:xfrm xmlns:a="http://schemas.openxmlformats.org/drawingml/2006/main">
            <a:off x="8858250" y="901065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Recorded AI result, 15 Oct 2026</a:t>
            </a:r>
          </a:p>
        </p:txBody>
      </p:sp>
    </p:spTree>
    <p:extLst>
      <p:ext uri="{BB962C8B-B14F-4D97-AF65-F5344CB8AC3E}">
        <p14:creationId xmlns:p14="http://schemas.microsoft.com/office/powerpoint/2010/main" val="1596385444"/>
      </p:ext>
    </p:extLst>
  </p:cSld>
</p:sld>
</file>

<file path=ppt/slides/slide6.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104FAE-6770-416D-ABE6-B16C82813830}"/>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WHY ARKIV / WHAT I ADD</a:t>
            </a:r>
          </a:p>
        </p:txBody>
      </p:sp>
      <p:sp>
        <p:nvSpPr>
          <p:cNvPr id="2" name="">
            <a:extLst xmlns:a="http://schemas.openxmlformats.org/drawingml/2006/main">
              <a:ext uri="{FF2B5EF4-FFF2-40B4-BE49-F238E27FC236}">
                <a16:creationId xmlns:a16="http://schemas.microsoft.com/office/drawing/2014/main" id="{8A23B7A8-77D4-46FE-B4B6-52C9116FCE16}"/>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D79A7A5-ACDF-4FB0-B1AD-4FFD3203CFD1}"/>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8B94BD-AEF7-418B-AC98-2912ACEA7FFB}"/>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88D2D3A-5C68-42E5-B62D-F0671257D022}"/>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D5B83B41-2B3A-48E1-86A0-6F236E4261A6}"/>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Readers can work without my API</a:t>
            </a:r>
          </a:p>
        </p:txBody>
      </p:sp>
      <p:graphicFrame>
        <p:nvGraphicFramePr>
          <p:cNvPr id="7" name="">
            <a:extLst xmlns:a="http://schemas.openxmlformats.org/drawingml/2006/main">
              <a:ext uri="{FF2B5EF4-FFF2-40B4-BE49-F238E27FC236}">
                <a16:creationId xmlns:a16="http://schemas.microsoft.com/office/drawing/2014/main" id="{D995C5CE-9052-4D5F-B738-60164F1CBC9D}"/>
              </a:ext>
            </a:extLst>
          </p:cNvPr>
          <p:cNvGraphicFramePr/>
          <p:nvPr/>
        </p:nvGraphicFramePr>
        <p:xfrm>
          <a:off xmlns:a="http://schemas.openxmlformats.org/drawingml/2006/main" x="1000125" y="3143250"/>
          <a:ext xmlns:a="http://schemas.openxmlformats.org/drawingml/2006/main" cx="16192500" cy="3429000"/>
        </p:xfrm>
        <a:graphic xmlns:a="http://schemas.openxmlformats.org/drawingml/2006/main">
          <a:graphicData uri="http://schemas.openxmlformats.org/drawingml/2006/table">
            <a:tbl>
              <a:tblPr/>
              <a:tblGrid>
                <a:gridCol w="4572000"/>
                <a:gridCol w="5715000"/>
                <a:gridCol w="5905500"/>
              </a:tblGrid>
              <a:tr h="685800">
                <a:tc>
                  <a:txBody>
                    <a:bodyPr/>
                    <a:lstStyle/>
                    <a:p>
                      <a:r>
                        <a:rPr sz="2175" b="1">
                          <a:solidFill>
                            <a:srgbClr val="F9F8F3"/>
                          </a:solidFill>
                          <a:latin typeface="Arial"/>
                          <a:ea typeface="Arial"/>
                          <a:cs typeface="Arial"/>
                        </a:rPr>
                        <a:t>Need</a:t>
                      </a:r>
                    </a:p>
                  </a:txBody>
                  <a:tcPr marL="91440" marR="91440" marT="45720" marB="45720">
                    <a:lnL w="9525">
                      <a:solidFill>
                        <a:srgbClr val="C6CCC5"/>
                      </a:solidFill>
                      <a:prstDash val="solid"/>
                    </a:lnL>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175" b="1">
                          <a:solidFill>
                            <a:srgbClr val="F9F8F3"/>
                          </a:solidFill>
                          <a:latin typeface="Arial"/>
                          <a:ea typeface="Arial"/>
                          <a:cs typeface="Arial"/>
                        </a:rPr>
                        <a:t>Only my application API</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175" b="1">
                          <a:solidFill>
                            <a:srgbClr val="F9F8F3"/>
                          </a:solidFill>
                          <a:latin typeface="Arial"/>
                          <a:ea typeface="Arial"/>
                          <a:cs typeface="Arial"/>
                        </a:rPr>
                        <a:t>Arkiv + Graph SDK</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r>
              <a:tr h="914400">
                <a:tc>
                  <a:txBody>
                    <a:bodyPr/>
                    <a:lstStyle/>
                    <a:p>
                      <a:r>
                        <a:rPr sz="2250" b="0">
                          <a:solidFill>
                            <a:srgbClr val="17372E"/>
                          </a:solidFill>
                          <a:latin typeface="Arial"/>
                          <a:ea typeface="Arial"/>
                          <a:cs typeface="Arial"/>
                        </a:rPr>
                        <a:t>Read when my API is offline</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Requires another backend</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Read through configured</a:t>
                      </a:r>
                    </a:p>
                    <a:p>
                      <a:r>
                        <a:rPr sz="2250" b="0">
                          <a:solidFill>
                            <a:srgbClr val="17372E"/>
                          </a:solidFill>
                          <a:latin typeface="Arial"/>
                          <a:ea typeface="Arial"/>
                          <a:cs typeface="Arial"/>
                        </a:rPr>
                        <a:t>Arkiv RPC</a:t>
                      </a:r>
                    </a:p>
                  </a:txBody>
                  <a:tcPr marL="91440" marR="91440" marT="45720" marB="45720">
                    <a:lnR w="9525">
                      <a:solidFill>
                        <a:srgbClr val="C6CCC5"/>
                      </a:solidFill>
                      <a:prstDash val="solid"/>
                    </a:lnR>
                    <a:lnB w="9525">
                      <a:solidFill>
                        <a:srgbClr val="C6CCC5"/>
                      </a:solidFill>
                      <a:prstDash val="solid"/>
                    </a:lnB>
                    <a:solidFill>
                      <a:srgbClr val="E5EBE3"/>
                    </a:solidFill>
                  </a:tcPr>
                </a:tc>
              </a:tr>
              <a:tr h="914400">
                <a:tc>
                  <a:txBody>
                    <a:bodyPr/>
                    <a:lstStyle/>
                    <a:p>
                      <a:r>
                        <a:rPr sz="2250" b="0">
                          <a:solidFill>
                            <a:srgbClr val="17372E"/>
                          </a:solidFill>
                          <a:latin typeface="Arial"/>
                          <a:ea typeface="Arial"/>
                          <a:cs typeface="Arial"/>
                        </a:rPr>
                        <a:t>Find records and reviewers</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Operator-specific discovery</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Typed queries and</a:t>
                      </a:r>
                    </a:p>
                    <a:p>
                      <a:r>
                        <a:rPr sz="2250" b="0">
                          <a:solidFill>
                            <a:srgbClr val="17372E"/>
                          </a:solidFill>
                          <a:latin typeface="Arial"/>
                          <a:ea typeface="Arial"/>
                          <a:cs typeface="Arial"/>
                        </a:rPr>
                        <a:t>creator predicates</a:t>
                      </a:r>
                    </a:p>
                  </a:txBody>
                  <a:tcPr marL="91440" marR="91440" marT="45720" marB="45720">
                    <a:lnR w="9525">
                      <a:solidFill>
                        <a:srgbClr val="C6CCC5"/>
                      </a:solidFill>
                      <a:prstDash val="solid"/>
                    </a:lnR>
                    <a:lnB w="9525">
                      <a:solidFill>
                        <a:srgbClr val="C6CCC5"/>
                      </a:solidFill>
                      <a:prstDash val="solid"/>
                    </a:lnB>
                    <a:solidFill>
                      <a:srgbClr val="E5EBE3"/>
                    </a:solidFill>
                  </a:tcPr>
                </a:tc>
              </a:tr>
              <a:tr h="914400">
                <a:tc>
                  <a:txBody>
                    <a:bodyPr/>
                    <a:lstStyle/>
                    <a:p>
                      <a:r>
                        <a:rPr sz="2250" b="0">
                          <a:solidFill>
                            <a:srgbClr val="17372E"/>
                          </a:solidFill>
                          <a:latin typeface="Arial"/>
                          <a:ea typeface="Arial"/>
                          <a:cs typeface="Arial"/>
                        </a:rPr>
                        <a:t>Check the selected revision</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Implement a reader protocol</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250" b="0">
                          <a:solidFill>
                            <a:srgbClr val="17372E"/>
                          </a:solidFill>
                          <a:latin typeface="Arial"/>
                          <a:ea typeface="Arial"/>
                          <a:cs typeface="Arial"/>
                        </a:rPr>
                        <a:t>Verify complete signed</a:t>
                      </a:r>
                    </a:p>
                    <a:p>
                      <a:r>
                        <a:rPr sz="2250" b="0">
                          <a:solidFill>
                            <a:srgbClr val="17372E"/>
                          </a:solidFill>
                          <a:latin typeface="Arial"/>
                          <a:ea typeface="Arial"/>
                          <a:cs typeface="Arial"/>
                        </a:rPr>
                        <a:t>manifest locally</a:t>
                      </a:r>
                    </a:p>
                  </a:txBody>
                  <a:tcPr marL="91440" marR="91440" marT="45720" marB="45720">
                    <a:lnR w="9525">
                      <a:solidFill>
                        <a:srgbClr val="C6CCC5"/>
                      </a:solidFill>
                      <a:prstDash val="solid"/>
                    </a:lnR>
                    <a:lnB w="9525">
                      <a:solidFill>
                        <a:srgbClr val="C6CCC5"/>
                      </a:solidFill>
                      <a:prstDash val="solid"/>
                    </a:lnB>
                    <a:solidFill>
                      <a:srgbClr val="E5EBE3"/>
                    </a:solidFill>
                  </a:tcPr>
                </a:tc>
              </a:tr>
            </a:tbl>
          </a:graphicData>
        </a:graphic>
      </p:graphicFrame>
      <p:sp>
        <p:nvSpPr>
          <p:cNvPr id="8" name="">
            <a:extLst xmlns:a="http://schemas.openxmlformats.org/drawingml/2006/main">
              <a:ext uri="{FF2B5EF4-FFF2-40B4-BE49-F238E27FC236}">
                <a16:creationId xmlns:a16="http://schemas.microsoft.com/office/drawing/2014/main" id="{356BA9C2-18F1-43F0-9CB0-4E2BF1970BF3}"/>
              </a:ext>
            </a:extLst>
          </p:cNvPr>
          <p:cNvSpPr>
            <a:spLocks xmlns:a="http://schemas.openxmlformats.org/drawingml/2006/main" noGrp="1"/>
          </p:cNvSpPr>
          <p:nvPr/>
        </p:nvSpPr>
        <p:spPr>
          <a:xfrm xmlns:a="http://schemas.openxmlformats.org/drawingml/2006/main">
            <a:off x="1000125" y="6848475"/>
            <a:ext cx="542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25B4B"/>
                </a:solidFill>
                <a:latin typeface="Arial"/>
                <a:ea typeface="Arial"/>
                <a:cs typeface="Arial"/>
              </a:defRPr>
            </a:defPPr>
          </a:lstStyle>
          <a:p xmlns:a="http://schemas.openxmlformats.org/drawingml/2006/main">
            <a:pPr>
              <a:defRPr sz="2325" b="1">
                <a:solidFill>
                  <a:srgbClr val="225B4B"/>
                </a:solidFill>
                <a:latin typeface="Arial"/>
                <a:ea typeface="Arial"/>
                <a:cs typeface="Arial"/>
              </a:defRPr>
            </a:pPr>
            <a:r>
              <a:rPr sz="2325" b="1">
                <a:solidFill>
                  <a:srgbClr val="225B4B"/>
                </a:solidFill>
                <a:latin typeface="Arial"/>
                <a:ea typeface="Arial"/>
                <a:cs typeface="Arial"/>
              </a:rPr>
              <a:t>Controlled fetch test</a:t>
            </a:r>
          </a:p>
        </p:txBody>
      </p:sp>
      <p:sp>
        <p:nvSpPr>
          <p:cNvPr id="9" name="">
            <a:extLst xmlns:a="http://schemas.openxmlformats.org/drawingml/2006/main">
              <a:ext uri="{FF2B5EF4-FFF2-40B4-BE49-F238E27FC236}">
                <a16:creationId xmlns:a16="http://schemas.microsoft.com/office/drawing/2014/main" id="{621E3294-C521-48CE-9FCD-0DCD17BD1E81}"/>
              </a:ext>
            </a:extLst>
          </p:cNvPr>
          <p:cNvSpPr>
            <a:spLocks xmlns:a="http://schemas.openxmlformats.org/drawingml/2006/main" noGrp="1"/>
          </p:cNvSpPr>
          <p:nvPr/>
        </p:nvSpPr>
        <p:spPr>
          <a:xfrm xmlns:a="http://schemas.openxmlformats.org/drawingml/2006/main">
            <a:off x="6762750" y="68484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7372E"/>
                </a:solidFill>
                <a:latin typeface="Arial"/>
                <a:ea typeface="Arial"/>
                <a:cs typeface="Arial"/>
              </a:defRPr>
            </a:defPPr>
          </a:lstStyle>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A clean npm consumer verified both graphs through Arkiv RPC.</a:t>
            </a:r>
          </a:p>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In-process fetch blocking rejected project API requests.</a:t>
            </a:r>
          </a:p>
        </p:txBody>
      </p:sp>
      <p:sp>
        <p:nvSpPr>
          <p:cNvPr id="10" name="">
            <a:extLst xmlns:a="http://schemas.openxmlformats.org/drawingml/2006/main">
              <a:ext uri="{FF2B5EF4-FFF2-40B4-BE49-F238E27FC236}">
                <a16:creationId xmlns:a16="http://schemas.microsoft.com/office/drawing/2014/main" id="{D8AA8487-C5B6-49AF-9623-D139755DA742}"/>
              </a:ext>
            </a:extLst>
          </p:cNvPr>
          <p:cNvSpPr>
            <a:spLocks xmlns:a="http://schemas.openxmlformats.org/drawingml/2006/main" noGrp="1"/>
          </p:cNvSpPr>
          <p:nvPr/>
        </p:nvSpPr>
        <p:spPr>
          <a:xfrm xmlns:a="http://schemas.openxmlformats.org/drawingml/2006/main">
            <a:off x="1000125" y="8020050"/>
            <a:ext cx="571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25B4B"/>
                </a:solidFill>
                <a:latin typeface="Arial"/>
                <a:ea typeface="Arial"/>
                <a:cs typeface="Arial"/>
              </a:defRPr>
            </a:defPPr>
          </a:lstStyle>
          <a:p xmlns:a="http://schemas.openxmlformats.org/drawingml/2006/main">
            <a:pPr>
              <a:defRPr sz="2550" b="1">
                <a:solidFill>
                  <a:srgbClr val="225B4B"/>
                </a:solidFill>
                <a:latin typeface="Arial"/>
                <a:ea typeface="Arial"/>
                <a:cs typeface="Arial"/>
              </a:defRPr>
            </a:pPr>
            <a:r>
              <a:rPr sz="2550" b="1">
                <a:solidFill>
                  <a:srgbClr val="225B4B"/>
                </a:solidFill>
                <a:latin typeface="Arial"/>
                <a:ea typeface="Arial"/>
                <a:cs typeface="Arial"/>
              </a:rPr>
              <a:t>What I add to Arkiv</a:t>
            </a:r>
          </a:p>
        </p:txBody>
      </p:sp>
      <p:sp>
        <p:nvSpPr>
          <p:cNvPr id="11" name="">
            <a:extLst xmlns:a="http://schemas.openxmlformats.org/drawingml/2006/main">
              <a:ext uri="{FF2B5EF4-FFF2-40B4-BE49-F238E27FC236}">
                <a16:creationId xmlns:a16="http://schemas.microsoft.com/office/drawing/2014/main" id="{7B382292-DC26-4B00-8D2C-F8E9FA699027}"/>
              </a:ext>
            </a:extLst>
          </p:cNvPr>
          <p:cNvSpPr>
            <a:spLocks xmlns:a="http://schemas.openxmlformats.org/drawingml/2006/main" noGrp="1"/>
          </p:cNvSpPr>
          <p:nvPr/>
        </p:nvSpPr>
        <p:spPr>
          <a:xfrm xmlns:a="http://schemas.openxmlformats.org/drawingml/2006/main">
            <a:off x="6762750" y="80295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7372E"/>
                </a:solidFill>
                <a:latin typeface="Arial"/>
                <a:ea typeface="Arial"/>
                <a:cs typeface="Arial"/>
              </a:defRPr>
            </a:defPPr>
          </a:lstStyle>
          <a:p xmlns:a="http://schemas.openxmlformats.org/drawingml/2006/main">
            <a:pPr>
              <a:defRPr sz="2325" b="0">
                <a:solidFill>
                  <a:srgbClr val="17372E"/>
                </a:solidFill>
                <a:latin typeface="Arial"/>
                <a:ea typeface="Arial"/>
                <a:cs typeface="Arial"/>
              </a:defRPr>
            </a:pPr>
            <a:r>
              <a:rPr sz="2325" b="0">
                <a:solidFill>
                  <a:srgbClr val="17372E"/>
                </a:solidFill>
                <a:latin typeface="Arial"/>
                <a:ea typeface="Arial"/>
                <a:cs typeface="Arial"/>
              </a:rPr>
              <a:t>A common graph contract, conformance checks and reusable SDK, CLI and MCP readers.</a:t>
            </a:r>
          </a:p>
        </p:txBody>
      </p:sp>
      <p:sp>
        <p:nvSpPr>
          <p:cNvPr id="12" name="">
            <a:extLst xmlns:a="http://schemas.openxmlformats.org/drawingml/2006/main">
              <a:ext uri="{FF2B5EF4-FFF2-40B4-BE49-F238E27FC236}">
                <a16:creationId xmlns:a16="http://schemas.microsoft.com/office/drawing/2014/main" id="{B816DE86-B505-4B9D-9BAF-633E62196363}"/>
              </a:ext>
            </a:extLst>
          </p:cNvPr>
          <p:cNvSpPr>
            <a:spLocks xmlns:a="http://schemas.openxmlformats.org/drawingml/2006/main" noGrp="1"/>
          </p:cNvSpPr>
          <p:nvPr/>
        </p:nvSpPr>
        <p:spPr>
          <a:xfrm xmlns:a="http://schemas.openxmlformats.org/drawingml/2006/main">
            <a:off x="1000125" y="8991600"/>
            <a:ext cx="1619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Current differentiation comes from integration quality. Independent adoption is still to earn.</a:t>
            </a:r>
          </a:p>
        </p:txBody>
      </p:sp>
    </p:spTree>
    <p:extLst>
      <p:ext uri="{BB962C8B-B14F-4D97-AF65-F5344CB8AC3E}">
        <p14:creationId xmlns:p14="http://schemas.microsoft.com/office/powerpoint/2010/main" val="1939341093"/>
      </p:ext>
    </p:extLst>
  </p:cSld>
</p:sld>
</file>

<file path=ppt/slides/slide7.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926EA9A-5570-4818-898B-687ABBEB9A91}"/>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PACKAGES / REPRODUCIBLE EVIDENCE</a:t>
            </a:r>
          </a:p>
        </p:txBody>
      </p:sp>
      <p:sp>
        <p:nvSpPr>
          <p:cNvPr id="2" name="">
            <a:extLst xmlns:a="http://schemas.openxmlformats.org/drawingml/2006/main">
              <a:ext uri="{FF2B5EF4-FFF2-40B4-BE49-F238E27FC236}">
                <a16:creationId xmlns:a16="http://schemas.microsoft.com/office/drawing/2014/main" id="{2A42438D-7C31-46CC-A8F3-45C57A46F563}"/>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EEC0E259-8A97-4441-9622-ED959B477BBB}"/>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2950DF8-38A4-48D9-8199-D7C684CBED94}"/>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94694185-8EC8-4E45-BED5-C4EA177C7841}"/>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98D0B19A-7CCF-4A16-88E6-02198D746DDA}"/>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Packages and reproducible checks</a:t>
            </a:r>
          </a:p>
        </p:txBody>
      </p:sp>
      <p:sp>
        <p:nvSpPr>
          <p:cNvPr id="7" name="">
            <a:extLst xmlns:a="http://schemas.openxmlformats.org/drawingml/2006/main">
              <a:ext uri="{FF2B5EF4-FFF2-40B4-BE49-F238E27FC236}">
                <a16:creationId xmlns:a16="http://schemas.microsoft.com/office/drawing/2014/main" id="{5D04D9C2-2AFD-42AA-8EE3-40D24788E5F8}"/>
              </a:ext>
            </a:extLst>
          </p:cNvPr>
          <p:cNvSpPr>
            <a:spLocks xmlns:a="http://schemas.openxmlformats.org/drawingml/2006/main" noGrp="1"/>
          </p:cNvSpPr>
          <p:nvPr/>
        </p:nvSpPr>
        <p:spPr>
          <a:xfrm xmlns:a="http://schemas.openxmlformats.org/drawingml/2006/main">
            <a:off x="1000125" y="3228975"/>
            <a:ext cx="914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225B4B"/>
                </a:solidFill>
                <a:latin typeface="Arial"/>
                <a:ea typeface="Arial"/>
                <a:cs typeface="Arial"/>
              </a:defRPr>
            </a:defPPr>
          </a:lstStyle>
          <a:p xmlns:a="http://schemas.openxmlformats.org/drawingml/2006/main">
            <a:pPr>
              <a:defRPr sz="2625" b="1">
                <a:solidFill>
                  <a:srgbClr val="225B4B"/>
                </a:solidFill>
                <a:latin typeface="Arial"/>
                <a:ea typeface="Arial"/>
                <a:cs typeface="Arial"/>
              </a:defRPr>
            </a:pPr>
            <a:r>
              <a:rPr sz="2625" b="1">
                <a:solidFill>
                  <a:srgbClr val="225B4B"/>
                </a:solidFill>
                <a:latin typeface="Arial"/>
                <a:ea typeface="Arial"/>
                <a:cs typeface="Arial"/>
              </a:rPr>
              <a:t>Historical Lighthouse performance</a:t>
            </a:r>
          </a:p>
        </p:txBody>
      </p:sp>
      <p:graphicFrame>
        <p:nvGraphicFramePr>
          <p:cNvPr id="8" name="Chart">
            <a:extLst xmlns:a="http://schemas.openxmlformats.org/drawingml/2006/main">
              <a:ext uri="{FF2B5EF4-FFF2-40B4-BE49-F238E27FC236}">
                <a16:creationId xmlns:a16="http://schemas.microsoft.com/office/drawing/2014/main" id="{E801544E-C197-40EE-9C32-6A8E13453B2F}"/>
              </a:ext>
            </a:extLst>
          </p:cNvPr>
          <p:cNvGraphicFramePr/>
          <p:nvPr/>
        </p:nvGraphicFramePr>
        <p:xfrm>
          <a:off xmlns:a="http://schemas.openxmlformats.org/drawingml/2006/main" x="857250" y="4038600"/>
          <a:ext xmlns:a="http://schemas.openxmlformats.org/drawingml/2006/main" cx="8953500" cy="4048125"/>
        </p:xfrm>
        <a:graphic xmlns:a="http://schemas.openxmlformats.org/drawingml/2006/main">
          <a:graphicData uri="http://schemas.openxmlformats.org/drawingml/2006/chart">
            <c:chart xmlns:r="http://schemas.openxmlformats.org/officeDocument/2006/relationships" xmlns:c="http://schemas.openxmlformats.org/drawingml/2006/chart" r:id="Rc4c86db34e744e65"/>
          </a:graphicData>
        </a:graphic>
      </p:graphicFrame>
      <p:sp>
        <p:nvSpPr>
          <p:cNvPr id="9" name="">
            <a:extLst xmlns:a="http://schemas.openxmlformats.org/drawingml/2006/main">
              <a:ext uri="{FF2B5EF4-FFF2-40B4-BE49-F238E27FC236}">
                <a16:creationId xmlns:a16="http://schemas.microsoft.com/office/drawing/2014/main" id="{43738BA7-5E26-41EE-A6F8-A9670FA72EA0}"/>
              </a:ext>
            </a:extLst>
          </p:cNvPr>
          <p:cNvSpPr>
            <a:spLocks xmlns:a="http://schemas.openxmlformats.org/drawingml/2006/main" noGrp="1"/>
          </p:cNvSpPr>
          <p:nvPr/>
        </p:nvSpPr>
        <p:spPr>
          <a:xfrm xmlns:a="http://schemas.openxmlformats.org/drawingml/2006/main">
            <a:off x="1000125" y="8362950"/>
            <a:ext cx="9144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Lighthouse performance score / 100</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18 simulated audits. Median of 3 per route and phase.</a:t>
            </a:r>
          </a:p>
        </p:txBody>
      </p:sp>
      <p:sp>
        <p:nvSpPr>
          <p:cNvPr id="10" name="">
            <a:extLst xmlns:a="http://schemas.openxmlformats.org/drawingml/2006/main">
              <a:ext uri="{FF2B5EF4-FFF2-40B4-BE49-F238E27FC236}">
                <a16:creationId xmlns:a16="http://schemas.microsoft.com/office/drawing/2014/main" id="{5287F990-C53B-4EE0-B36C-4B3DF8BE30FA}"/>
              </a:ext>
            </a:extLst>
          </p:cNvPr>
          <p:cNvSpPr>
            <a:spLocks xmlns:a="http://schemas.openxmlformats.org/drawingml/2006/main" noGrp="1"/>
          </p:cNvSpPr>
          <p:nvPr/>
        </p:nvSpPr>
        <p:spPr>
          <a:xfrm xmlns:a="http://schemas.openxmlformats.org/drawingml/2006/main">
            <a:off x="10763250" y="3333750"/>
            <a:ext cx="647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17372E"/>
                </a:solidFill>
                <a:latin typeface="Georgia"/>
                <a:ea typeface="Georgia"/>
                <a:cs typeface="Georgia"/>
              </a:defRPr>
            </a:defPPr>
          </a:lstStyle>
          <a:p xmlns:a="http://schemas.openxmlformats.org/drawingml/2006/main">
            <a:pPr>
              <a:defRPr sz="3600" b="0">
                <a:solidFill>
                  <a:srgbClr val="17372E"/>
                </a:solidFill>
                <a:latin typeface="Georgia"/>
                <a:ea typeface="Georgia"/>
                <a:cs typeface="Georgia"/>
              </a:defRPr>
            </a:pPr>
            <a:r>
              <a:rPr sz="3600" b="0">
                <a:solidFill>
                  <a:srgbClr val="17372E"/>
                </a:solidFill>
                <a:latin typeface="Georgia"/>
                <a:ea typeface="Georgia"/>
                <a:cs typeface="Georgia"/>
              </a:rPr>
              <a:t>274 local tests</a:t>
            </a:r>
          </a:p>
        </p:txBody>
      </p:sp>
      <p:sp>
        <p:nvSpPr>
          <p:cNvPr id="11" name="">
            <a:extLst xmlns:a="http://schemas.openxmlformats.org/drawingml/2006/main">
              <a:ext uri="{FF2B5EF4-FFF2-40B4-BE49-F238E27FC236}">
                <a16:creationId xmlns:a16="http://schemas.microsoft.com/office/drawing/2014/main" id="{A94DF03A-06AB-4A7F-9C23-EBE9A79EFDB2}"/>
              </a:ext>
            </a:extLst>
          </p:cNvPr>
          <p:cNvSpPr>
            <a:spLocks xmlns:a="http://schemas.openxmlformats.org/drawingml/2006/main" noGrp="1"/>
          </p:cNvSpPr>
          <p:nvPr/>
        </p:nvSpPr>
        <p:spPr>
          <a:xfrm xmlns:a="http://schemas.openxmlformats.org/drawingml/2006/main">
            <a:off x="10763250" y="4219575"/>
            <a:ext cx="647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17372E"/>
                </a:solidFill>
                <a:latin typeface="Arial"/>
                <a:ea typeface="Arial"/>
                <a:cs typeface="Arial"/>
              </a:defRPr>
            </a:defPPr>
          </a:lstStyle>
          <a:p xmlns:a="http://schemas.openxmlformats.org/drawingml/2006/main">
            <a:pPr>
              <a:defRPr sz="2925" b="0">
                <a:solidFill>
                  <a:srgbClr val="17372E"/>
                </a:solidFill>
                <a:latin typeface="Arial"/>
                <a:ea typeface="Arial"/>
                <a:cs typeface="Arial"/>
              </a:defRPr>
            </a:pPr>
            <a:r>
              <a:rPr sz="2925" b="0">
                <a:solidFill>
                  <a:srgbClr val="17372E"/>
                </a:solidFill>
                <a:latin typeface="Arial"/>
                <a:ea typeface="Arial"/>
                <a:cs typeface="Arial"/>
              </a:rPr>
              <a:t>19 trust safeguard cases</a:t>
            </a:r>
          </a:p>
        </p:txBody>
      </p:sp>
      <p:sp>
        <p:nvSpPr>
          <p:cNvPr id="12" name="">
            <a:extLst xmlns:a="http://schemas.openxmlformats.org/drawingml/2006/main">
              <a:ext uri="{FF2B5EF4-FFF2-40B4-BE49-F238E27FC236}">
                <a16:creationId xmlns:a16="http://schemas.microsoft.com/office/drawing/2014/main" id="{D0288833-88A4-4D23-9AC7-5015A010F936}"/>
              </a:ext>
            </a:extLst>
          </p:cNvPr>
          <p:cNvSpPr>
            <a:spLocks xmlns:a="http://schemas.openxmlformats.org/drawingml/2006/main" noGrp="1"/>
          </p:cNvSpPr>
          <p:nvPr/>
        </p:nvSpPr>
        <p:spPr>
          <a:xfrm xmlns:a="http://schemas.openxmlformats.org/drawingml/2006/main">
            <a:off x="10763250" y="5229225"/>
            <a:ext cx="6477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219C17-4713-43F8-A622-652ACDC4FD41}"/>
              </a:ext>
            </a:extLst>
          </p:cNvPr>
          <p:cNvSpPr>
            <a:spLocks xmlns:a="http://schemas.openxmlformats.org/drawingml/2006/main" noGrp="1"/>
          </p:cNvSpPr>
          <p:nvPr/>
        </p:nvSpPr>
        <p:spPr>
          <a:xfrm xmlns:a="http://schemas.openxmlformats.org/drawingml/2006/main">
            <a:off x="10763250" y="5629275"/>
            <a:ext cx="647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225B4B"/>
                </a:solidFill>
                <a:latin typeface="Arial"/>
                <a:ea typeface="Arial"/>
                <a:cs typeface="Arial"/>
              </a:defRPr>
            </a:defPPr>
          </a:lstStyle>
          <a:p xmlns:a="http://schemas.openxmlformats.org/drawingml/2006/main">
            <a:pPr>
              <a:defRPr sz="2475" b="1">
                <a:solidFill>
                  <a:srgbClr val="225B4B"/>
                </a:solidFill>
                <a:latin typeface="Arial"/>
                <a:ea typeface="Arial"/>
                <a:cs typeface="Arial"/>
              </a:defRPr>
            </a:pPr>
            <a:r>
              <a:rPr sz="2475" b="1">
                <a:solidFill>
                  <a:srgbClr val="225B4B"/>
                </a:solidFill>
                <a:latin typeface="Arial"/>
                <a:ea typeface="Arial"/>
                <a:cs typeface="Arial"/>
              </a:rPr>
              <a:t>Public npm releases</a:t>
            </a:r>
          </a:p>
        </p:txBody>
      </p:sp>
      <p:sp>
        <p:nvSpPr>
          <p:cNvPr id="14" name="">
            <a:extLst xmlns:a="http://schemas.openxmlformats.org/drawingml/2006/main">
              <a:ext uri="{FF2B5EF4-FFF2-40B4-BE49-F238E27FC236}">
                <a16:creationId xmlns:a16="http://schemas.microsoft.com/office/drawing/2014/main" id="{4025F731-717F-47AF-829D-53AD9524950A}"/>
              </a:ext>
            </a:extLst>
          </p:cNvPr>
          <p:cNvSpPr>
            <a:spLocks xmlns:a="http://schemas.openxmlformats.org/drawingml/2006/main" noGrp="1"/>
          </p:cNvSpPr>
          <p:nvPr/>
        </p:nvSpPr>
        <p:spPr>
          <a:xfrm xmlns:a="http://schemas.openxmlformats.org/drawingml/2006/main">
            <a:off x="10763250" y="6419850"/>
            <a:ext cx="647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Consolas"/>
                <a:ea typeface="Consolas"/>
                <a:cs typeface="Consolas"/>
              </a:defRPr>
            </a:defPPr>
          </a:lstStyle>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arkiv-graph  0.4.1</a:t>
            </a:r>
          </a:p>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ai-passport  0.6.1</a:t>
            </a:r>
          </a:p>
        </p:txBody>
      </p:sp>
      <p:sp>
        <p:nvSpPr>
          <p:cNvPr id="15" name="">
            <a:extLst xmlns:a="http://schemas.openxmlformats.org/drawingml/2006/main">
              <a:ext uri="{FF2B5EF4-FFF2-40B4-BE49-F238E27FC236}">
                <a16:creationId xmlns:a16="http://schemas.microsoft.com/office/drawing/2014/main" id="{6868AF58-BBD7-4444-97A9-DFB9707220DD}"/>
              </a:ext>
            </a:extLst>
          </p:cNvPr>
          <p:cNvSpPr>
            <a:spLocks xmlns:a="http://schemas.openxmlformats.org/drawingml/2006/main" noGrp="1"/>
          </p:cNvSpPr>
          <p:nvPr/>
        </p:nvSpPr>
        <p:spPr>
          <a:xfrm xmlns:a="http://schemas.openxmlformats.org/drawingml/2006/main">
            <a:off x="10763250" y="7839075"/>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Download statistics unavailable</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Official npm API returned HTTP 404</a:t>
            </a:r>
          </a:p>
        </p:txBody>
      </p:sp>
      <p:sp>
        <p:nvSpPr>
          <p:cNvPr id="16" name="">
            <a:extLst xmlns:a="http://schemas.openxmlformats.org/drawingml/2006/main">
              <a:ext uri="{FF2B5EF4-FFF2-40B4-BE49-F238E27FC236}">
                <a16:creationId xmlns:a16="http://schemas.microsoft.com/office/drawing/2014/main" id="{83DD98C6-9410-47A1-B43E-73A1F9EBD264}"/>
              </a:ext>
            </a:extLst>
          </p:cNvPr>
          <p:cNvSpPr>
            <a:spLocks xmlns:a="http://schemas.openxmlformats.org/drawingml/2006/main" noGrp="1"/>
          </p:cNvSpPr>
          <p:nvPr/>
        </p:nvSpPr>
        <p:spPr>
          <a:xfrm xmlns:a="http://schemas.openxmlformats.org/drawingml/2006/main">
            <a:off x="10763250" y="8915400"/>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No outside user count is established.</a:t>
            </a:r>
          </a:p>
        </p:txBody>
      </p:sp>
    </p:spTree>
    <p:extLst>
      <p:ext uri="{BB962C8B-B14F-4D97-AF65-F5344CB8AC3E}">
        <p14:creationId xmlns:p14="http://schemas.microsoft.com/office/powerpoint/2010/main" val="227464002"/>
      </p:ext>
    </p:extLst>
  </p:cSld>
</p:sld>
</file>

<file path=ppt/slides/slide8.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3BC7154-5B82-4053-BD63-2568AAB5D0D5}"/>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DEVELOPER ACCESS</a:t>
            </a:r>
          </a:p>
        </p:txBody>
      </p:sp>
      <p:sp>
        <p:nvSpPr>
          <p:cNvPr id="2" name="">
            <a:extLst xmlns:a="http://schemas.openxmlformats.org/drawingml/2006/main">
              <a:ext uri="{FF2B5EF4-FFF2-40B4-BE49-F238E27FC236}">
                <a16:creationId xmlns:a16="http://schemas.microsoft.com/office/drawing/2014/main" id="{148036F8-EC29-490C-80CC-B9C8AA7AEFC9}"/>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DDAFCB36-0484-4F74-8BF8-D593D917DEEE}"/>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2B14A6-6FF5-4B58-8097-21CFAE02BECD}"/>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5BC97B7-C645-413C-A977-A56295688082}"/>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1B953FFA-04C6-4FA7-9FF7-F92F6B7A8F43}"/>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F9F8F3"/>
                </a:solidFill>
                <a:latin typeface="Georgia"/>
                <a:ea typeface="Georgia"/>
                <a:cs typeface="Georgia"/>
              </a:defRPr>
            </a:defPPr>
          </a:lstStyle>
          <a:p xmlns:a="http://schemas.openxmlformats.org/drawingml/2006/main">
            <a:pPr>
              <a:defRPr sz="5475" b="0">
                <a:solidFill>
                  <a:srgbClr val="F9F8F3"/>
                </a:solidFill>
                <a:latin typeface="Georgia"/>
                <a:ea typeface="Georgia"/>
                <a:cs typeface="Georgia"/>
              </a:defRPr>
            </a:pPr>
            <a:r>
              <a:rPr sz="5475" b="0">
                <a:solidFill>
                  <a:srgbClr val="F9F8F3"/>
                </a:solidFill>
                <a:latin typeface="Georgia"/>
                <a:ea typeface="Georgia"/>
                <a:cs typeface="Georgia"/>
              </a:rPr>
              <a:t>Developer setup</a:t>
            </a:r>
          </a:p>
        </p:txBody>
      </p:sp>
      <p:sp>
        <p:nvSpPr>
          <p:cNvPr id="7" name="">
            <a:extLst xmlns:a="http://schemas.openxmlformats.org/drawingml/2006/main">
              <a:ext uri="{FF2B5EF4-FFF2-40B4-BE49-F238E27FC236}">
                <a16:creationId xmlns:a16="http://schemas.microsoft.com/office/drawing/2014/main" id="{DD35C85A-E59C-4B90-8EEB-C3212E8E29B5}"/>
              </a:ext>
            </a:extLst>
          </p:cNvPr>
          <p:cNvSpPr>
            <a:spLocks xmlns:a="http://schemas.openxmlformats.org/drawingml/2006/main" noGrp="1"/>
          </p:cNvSpPr>
          <p:nvPr/>
        </p:nvSpPr>
        <p:spPr>
          <a:xfrm xmlns:a="http://schemas.openxmlformats.org/drawingml/2006/main">
            <a:off x="1000125" y="3295650"/>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F9F8F3"/>
                </a:solidFill>
                <a:latin typeface="Arial"/>
                <a:ea typeface="Arial"/>
                <a:cs typeface="Arial"/>
              </a:defRPr>
            </a:defPPr>
          </a:lstStyle>
          <a:p xmlns:a="http://schemas.openxmlformats.org/drawingml/2006/main">
            <a:pPr>
              <a:defRPr sz="3150" b="0">
                <a:solidFill>
                  <a:srgbClr val="F9F8F3"/>
                </a:solidFill>
                <a:latin typeface="Arial"/>
                <a:ea typeface="Arial"/>
                <a:cs typeface="Arial"/>
              </a:defRPr>
            </a:pPr>
            <a:r>
              <a:rPr sz="3150" b="0">
                <a:solidFill>
                  <a:srgbClr val="F9F8F3"/>
                </a:solidFill>
                <a:latin typeface="Arial"/>
                <a:ea typeface="Arial"/>
                <a:cs typeface="Arial"/>
              </a:rPr>
              <a:t>Local graph example (Node.js 24+)</a:t>
            </a:r>
          </a:p>
        </p:txBody>
      </p:sp>
      <p:sp>
        <p:nvSpPr>
          <p:cNvPr id="8" name="">
            <a:extLst xmlns:a="http://schemas.openxmlformats.org/drawingml/2006/main">
              <a:ext uri="{FF2B5EF4-FFF2-40B4-BE49-F238E27FC236}">
                <a16:creationId xmlns:a16="http://schemas.microsoft.com/office/drawing/2014/main" id="{37EC6430-4E04-43BE-A30D-D1E9AFE1C71E}"/>
              </a:ext>
            </a:extLst>
          </p:cNvPr>
          <p:cNvSpPr>
            <a:spLocks xmlns:a="http://schemas.openxmlformats.org/drawingml/2006/main" noGrp="1"/>
          </p:cNvSpPr>
          <p:nvPr/>
        </p:nvSpPr>
        <p:spPr>
          <a:xfrm xmlns:a="http://schemas.openxmlformats.org/drawingml/2006/main">
            <a:off x="1000125" y="4229100"/>
            <a:ext cx="9810750" cy="1943100"/>
          </a:xfrm>
          <a:prstGeom xmlns:a="http://schemas.openxmlformats.org/drawingml/2006/main" prst="rect">
            <a:avLst/>
          </a:prstGeom>
          <a:solidFill xmlns:a="http://schemas.openxmlformats.org/drawingml/2006/main">
            <a:srgbClr val="0C24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EC80DE2-8C9D-430B-B478-EDCCD91691C8}"/>
              </a:ext>
            </a:extLst>
          </p:cNvPr>
          <p:cNvSpPr>
            <a:spLocks xmlns:a="http://schemas.openxmlformats.org/drawingml/2006/main" noGrp="1"/>
          </p:cNvSpPr>
          <p:nvPr/>
        </p:nvSpPr>
        <p:spPr>
          <a:xfrm xmlns:a="http://schemas.openxmlformats.org/drawingml/2006/main">
            <a:off x="1276350" y="4495800"/>
            <a:ext cx="92773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Consolas"/>
                <a:ea typeface="Consolas"/>
                <a:cs typeface="Consolas"/>
              </a:defRPr>
            </a:defPPr>
          </a:lstStyle>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init -y</a:t>
            </a:r>
          </a:p>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install @ajnasnb/arkiv-graph@0.4.1</a:t>
            </a:r>
          </a:p>
        </p:txBody>
      </p:sp>
      <p:sp>
        <p:nvSpPr>
          <p:cNvPr id="10" name="">
            <a:extLst xmlns:a="http://schemas.openxmlformats.org/drawingml/2006/main">
              <a:ext uri="{FF2B5EF4-FFF2-40B4-BE49-F238E27FC236}">
                <a16:creationId xmlns:a16="http://schemas.microsoft.com/office/drawing/2014/main" id="{11C89E40-3AB9-467A-A4D5-CDCF76DA1C4C}"/>
              </a:ext>
            </a:extLst>
          </p:cNvPr>
          <p:cNvSpPr>
            <a:spLocks xmlns:a="http://schemas.openxmlformats.org/drawingml/2006/main" noGrp="1"/>
          </p:cNvSpPr>
          <p:nvPr/>
        </p:nvSpPr>
        <p:spPr>
          <a:xfrm xmlns:a="http://schemas.openxmlformats.org/drawingml/2006/main">
            <a:off x="1000125" y="6591300"/>
            <a:ext cx="9763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Copy the guide’s complete graph.mjs, then run:</a:t>
            </a:r>
          </a:p>
        </p:txBody>
      </p:sp>
      <p:sp>
        <p:nvSpPr>
          <p:cNvPr id="11" name="">
            <a:extLst xmlns:a="http://schemas.openxmlformats.org/drawingml/2006/main">
              <a:ext uri="{FF2B5EF4-FFF2-40B4-BE49-F238E27FC236}">
                <a16:creationId xmlns:a16="http://schemas.microsoft.com/office/drawing/2014/main" id="{99FF3867-5A52-433A-BB32-004713CD5211}"/>
              </a:ext>
            </a:extLst>
          </p:cNvPr>
          <p:cNvSpPr>
            <a:spLocks xmlns:a="http://schemas.openxmlformats.org/drawingml/2006/main" noGrp="1"/>
          </p:cNvSpPr>
          <p:nvPr/>
        </p:nvSpPr>
        <p:spPr>
          <a:xfrm xmlns:a="http://schemas.openxmlformats.org/drawingml/2006/main">
            <a:off x="1000125" y="73723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F9F8F3"/>
                </a:solidFill>
                <a:latin typeface="Consolas"/>
                <a:ea typeface="Consolas"/>
                <a:cs typeface="Consolas"/>
              </a:defRPr>
            </a:defPPr>
          </a:lstStyle>
          <a:p xmlns:a="http://schemas.openxmlformats.org/drawingml/2006/main">
            <a:pPr>
              <a:defRPr sz="3000" b="0">
                <a:solidFill>
                  <a:srgbClr val="F9F8F3"/>
                </a:solidFill>
                <a:latin typeface="Consolas"/>
                <a:ea typeface="Consolas"/>
                <a:cs typeface="Consolas"/>
              </a:defRPr>
            </a:pPr>
            <a:r>
              <a:rPr sz="3000" b="0">
                <a:solidFill>
                  <a:srgbClr val="F9F8F3"/>
                </a:solidFill>
                <a:latin typeface="Consolas"/>
                <a:ea typeface="Consolas"/>
                <a:cs typeface="Consolas"/>
              </a:rPr>
              <a:t>node graph.mjs</a:t>
            </a:r>
          </a:p>
        </p:txBody>
      </p:sp>
      <p:sp>
        <p:nvSpPr>
          <p:cNvPr id="12" name="">
            <a:extLst xmlns:a="http://schemas.openxmlformats.org/drawingml/2006/main">
              <a:ext uri="{FF2B5EF4-FFF2-40B4-BE49-F238E27FC236}">
                <a16:creationId xmlns:a16="http://schemas.microsoft.com/office/drawing/2014/main" id="{15F7415C-C8B3-4864-B04C-2A667123C40F}"/>
              </a:ext>
            </a:extLst>
          </p:cNvPr>
          <p:cNvSpPr>
            <a:spLocks xmlns:a="http://schemas.openxmlformats.org/drawingml/2006/main" noGrp="1"/>
          </p:cNvSpPr>
          <p:nvPr/>
        </p:nvSpPr>
        <p:spPr>
          <a:xfrm xmlns:a="http://schemas.openxmlformats.org/drawingml/2006/main">
            <a:off x="1000125" y="8124825"/>
            <a:ext cx="952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C4D8CD"/>
                </a:solidFill>
                <a:latin typeface="Arial"/>
                <a:ea typeface="Arial"/>
                <a:cs typeface="Arial"/>
              </a:defRPr>
            </a:defPPr>
          </a:lstStyle>
          <a:p xmlns:a="http://schemas.openxmlformats.org/drawingml/2006/main">
            <a:pPr>
              <a:defRPr sz="1950" b="0">
                <a:solidFill>
                  <a:srgbClr val="C4D8CD"/>
                </a:solidFill>
                <a:latin typeface="Arial"/>
                <a:ea typeface="Arial"/>
                <a:cs typeface="Arial"/>
              </a:defRPr>
            </a:pPr>
            <a:r>
              <a:rPr sz="1950" b="0">
                <a:solidFill>
                  <a:srgbClr val="C4D8CD"/>
                </a:solidFill>
                <a:latin typeface="Arial"/>
                <a:ea typeface="Arial"/>
                <a:cs typeface="Arial"/>
              </a:rPr>
              <a:t>No account, wallet or model is needed for this local example.</a:t>
            </a:r>
          </a:p>
        </p:txBody>
      </p:sp>
      <p:sp>
        <p:nvSpPr>
          <p:cNvPr id="13" name="">
            <a:extLst xmlns:a="http://schemas.openxmlformats.org/drawingml/2006/main">
              <a:ext uri="{FF2B5EF4-FFF2-40B4-BE49-F238E27FC236}">
                <a16:creationId xmlns:a16="http://schemas.microsoft.com/office/drawing/2014/main" id="{99211EB2-A6AF-41F5-B772-074F461F69B4}"/>
              </a:ext>
            </a:extLst>
          </p:cNvPr>
          <p:cNvSpPr>
            <a:spLocks xmlns:a="http://schemas.openxmlformats.org/drawingml/2006/main" noGrp="1"/>
          </p:cNvSpPr>
          <p:nvPr/>
        </p:nvSpPr>
        <p:spPr>
          <a:xfrm xmlns:a="http://schemas.openxmlformats.org/drawingml/2006/main">
            <a:off x="1000125" y="88106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Arial"/>
                <a:ea typeface="Arial"/>
                <a:cs typeface="Arial"/>
              </a:defRPr>
            </a:defPPr>
          </a:lstStyle>
          <a:p xmlns:a="http://schemas.openxmlformats.org/drawingml/2006/main">
            <a:pPr>
              <a:defRPr sz="2250" b="0">
                <a:solidFill>
                  <a:srgbClr val="F9F8F3"/>
                </a:solidFill>
                <a:latin typeface="Arial"/>
                <a:ea typeface="Arial"/>
                <a:cs typeface="Arial"/>
              </a:defRPr>
            </a:pPr>
            <a:r>
              <a:rPr sz="2250" b="0">
                <a:solidFill>
                  <a:srgbClr val="F9F8F3"/>
                </a:solidFill>
                <a:latin typeface="Arial"/>
                <a:ea typeface="Arial"/>
                <a:cs typeface="Arial"/>
              </a:rPr>
              <a:t>arkivgraph.ajnasnb.com/?view=sdk</a:t>
            </a:r>
          </a:p>
        </p:txBody>
      </p:sp>
      <p:sp>
        <p:nvSpPr>
          <p:cNvPr id="14" name="">
            <a:extLst xmlns:a="http://schemas.openxmlformats.org/drawingml/2006/main">
              <a:ext uri="{FF2B5EF4-FFF2-40B4-BE49-F238E27FC236}">
                <a16:creationId xmlns:a16="http://schemas.microsoft.com/office/drawing/2014/main" id="{98F3BD72-F8A8-46E0-A794-674494B1FBB9}"/>
              </a:ext>
            </a:extLst>
          </p:cNvPr>
          <p:cNvSpPr>
            <a:spLocks xmlns:a="http://schemas.openxmlformats.org/drawingml/2006/main" noGrp="1"/>
          </p:cNvSpPr>
          <p:nvPr/>
        </p:nvSpPr>
        <p:spPr>
          <a:xfrm xmlns:a="http://schemas.openxmlformats.org/drawingml/2006/main">
            <a:off x="11763375" y="3295650"/>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F9F8F3"/>
                </a:solidFill>
                <a:latin typeface="Georgia"/>
                <a:ea typeface="Georgia"/>
                <a:cs typeface="Georgia"/>
              </a:defRPr>
            </a:defPPr>
          </a:lstStyle>
          <a:p xmlns:a="http://schemas.openxmlformats.org/drawingml/2006/main">
            <a:pPr>
              <a:defRPr sz="3075" b="0">
                <a:solidFill>
                  <a:srgbClr val="F9F8F3"/>
                </a:solidFill>
                <a:latin typeface="Georgia"/>
                <a:ea typeface="Georgia"/>
                <a:cs typeface="Georgia"/>
              </a:defRPr>
            </a:pPr>
            <a:r>
              <a:rPr sz="3075" b="0">
                <a:solidFill>
                  <a:srgbClr val="F9F8F3"/>
                </a:solidFill>
                <a:latin typeface="Georgia"/>
                <a:ea typeface="Georgia"/>
                <a:cs typeface="Georgia"/>
              </a:rPr>
              <a:t>What I would validate next</a:t>
            </a:r>
          </a:p>
        </p:txBody>
      </p:sp>
      <p:sp>
        <p:nvSpPr>
          <p:cNvPr id="15" name="">
            <a:extLst xmlns:a="http://schemas.openxmlformats.org/drawingml/2006/main">
              <a:ext uri="{FF2B5EF4-FFF2-40B4-BE49-F238E27FC236}">
                <a16:creationId xmlns:a16="http://schemas.microsoft.com/office/drawing/2014/main" id="{26E0DFC2-CE36-4860-BD4E-E9490F839E72}"/>
              </a:ext>
            </a:extLst>
          </p:cNvPr>
          <p:cNvSpPr>
            <a:spLocks xmlns:a="http://schemas.openxmlformats.org/drawingml/2006/main" noGrp="1"/>
          </p:cNvSpPr>
          <p:nvPr/>
        </p:nvSpPr>
        <p:spPr>
          <a:xfrm xmlns:a="http://schemas.openxmlformats.org/drawingml/2006/main">
            <a:off x="11763375" y="4791075"/>
            <a:ext cx="5524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An unaided outside integration</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 second-provider strategy</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Larger graphs and real phones</a:t>
            </a:r>
          </a:p>
        </p:txBody>
      </p:sp>
      <p:sp>
        <p:nvSpPr>
          <p:cNvPr id="16" name="">
            <a:extLst xmlns:a="http://schemas.openxmlformats.org/drawingml/2006/main">
              <a:ext uri="{FF2B5EF4-FFF2-40B4-BE49-F238E27FC236}">
                <a16:creationId xmlns:a16="http://schemas.microsoft.com/office/drawing/2014/main" id="{CC5B82AE-035F-4E97-996A-7795C1DA886B}"/>
              </a:ext>
            </a:extLst>
          </p:cNvPr>
          <p:cNvSpPr>
            <a:spLocks xmlns:a="http://schemas.openxmlformats.org/drawingml/2006/main" noGrp="1"/>
          </p:cNvSpPr>
          <p:nvPr/>
        </p:nvSpPr>
        <p:spPr>
          <a:xfrm xmlns:a="http://schemas.openxmlformats.org/drawingml/2006/main">
            <a:off x="11763375" y="7267575"/>
            <a:ext cx="5524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9F8F3"/>
                </a:solidFill>
                <a:latin typeface="Arial"/>
                <a:ea typeface="Arial"/>
                <a:cs typeface="Arial"/>
              </a:defRPr>
            </a:defPPr>
          </a:lstStyle>
          <a:p xmlns:a="http://schemas.openxmlformats.org/drawingml/2006/main">
            <a:pPr>
              <a:defRPr sz="2250" b="1">
                <a:solidFill>
                  <a:srgbClr val="F9F8F3"/>
                </a:solidFill>
                <a:latin typeface="Arial"/>
                <a:ea typeface="Arial"/>
                <a:cs typeface="Arial"/>
              </a:defRPr>
            </a:pPr>
            <a:r>
              <a:rPr sz="2250" b="1">
                <a:solidFill>
                  <a:srgbClr val="F9F8F3"/>
                </a:solidFill>
                <a:latin typeface="Arial"/>
                <a:ea typeface="Arial"/>
                <a:cs typeface="Arial"/>
              </a:rPr>
              <a:t>Current trust boundary</a:t>
            </a:r>
          </a:p>
        </p:txBody>
      </p:sp>
      <p:sp>
        <p:nvSpPr>
          <p:cNvPr id="17" name="">
            <a:extLst xmlns:a="http://schemas.openxmlformats.org/drawingml/2006/main">
              <a:ext uri="{FF2B5EF4-FFF2-40B4-BE49-F238E27FC236}">
                <a16:creationId xmlns:a16="http://schemas.microsoft.com/office/drawing/2014/main" id="{CB8684B4-4E53-4B16-A927-97AD1141AFC6}"/>
              </a:ext>
            </a:extLst>
          </p:cNvPr>
          <p:cNvSpPr>
            <a:spLocks xmlns:a="http://schemas.openxmlformats.org/drawingml/2006/main" noGrp="1"/>
          </p:cNvSpPr>
          <p:nvPr/>
        </p:nvSpPr>
        <p:spPr>
          <a:xfrm xmlns:a="http://schemas.openxmlformats.org/drawingml/2006/main">
            <a:off x="11763375" y="7905750"/>
            <a:ext cx="5524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Fresh readers still rely on RPC</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metadata and unseen-history</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completeness.</a:t>
            </a:r>
          </a:p>
        </p:txBody>
      </p:sp>
    </p:spTree>
    <p:extLst>
      <p:ext uri="{BB962C8B-B14F-4D97-AF65-F5344CB8AC3E}">
        <p14:creationId xmlns:p14="http://schemas.microsoft.com/office/powerpoint/2010/main" val="9154638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2026-10-16T16:21:26.8470000Z</dcterms:created>
  <dcterms:modified xsi:type="dcterms:W3CDTF">2026-10-16T16:21:26.8480000Z</dcterms:modified>
</coreProperties>
</file>